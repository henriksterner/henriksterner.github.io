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302" r:id="rId3"/>
    <p:sldId id="304" r:id="rId4"/>
    <p:sldId id="257" r:id="rId5"/>
    <p:sldId id="295" r:id="rId6"/>
    <p:sldId id="303" r:id="rId7"/>
    <p:sldId id="296" r:id="rId8"/>
    <p:sldId id="262" r:id="rId9"/>
    <p:sldId id="261" r:id="rId10"/>
    <p:sldId id="267" r:id="rId11"/>
    <p:sldId id="264" r:id="rId12"/>
    <p:sldId id="265" r:id="rId13"/>
    <p:sldId id="266" r:id="rId14"/>
    <p:sldId id="269" r:id="rId15"/>
    <p:sldId id="311" r:id="rId16"/>
    <p:sldId id="271" r:id="rId17"/>
    <p:sldId id="272" r:id="rId18"/>
    <p:sldId id="268" r:id="rId19"/>
    <p:sldId id="258" r:id="rId20"/>
    <p:sldId id="273" r:id="rId21"/>
    <p:sldId id="274" r:id="rId22"/>
    <p:sldId id="275" r:id="rId23"/>
    <p:sldId id="286" r:id="rId24"/>
    <p:sldId id="276" r:id="rId25"/>
    <p:sldId id="281" r:id="rId26"/>
    <p:sldId id="277" r:id="rId27"/>
    <p:sldId id="282" r:id="rId28"/>
    <p:sldId id="278" r:id="rId29"/>
    <p:sldId id="283" r:id="rId30"/>
    <p:sldId id="279" r:id="rId31"/>
    <p:sldId id="284" r:id="rId32"/>
    <p:sldId id="280" r:id="rId33"/>
    <p:sldId id="285" r:id="rId34"/>
    <p:sldId id="294" r:id="rId35"/>
    <p:sldId id="312" r:id="rId36"/>
    <p:sldId id="288" r:id="rId37"/>
    <p:sldId id="289" r:id="rId38"/>
    <p:sldId id="291" r:id="rId39"/>
    <p:sldId id="290" r:id="rId40"/>
    <p:sldId id="292" r:id="rId41"/>
    <p:sldId id="293" r:id="rId42"/>
    <p:sldId id="308" r:id="rId43"/>
    <p:sldId id="309" r:id="rId44"/>
    <p:sldId id="310" r:id="rId45"/>
    <p:sldId id="297" r:id="rId46"/>
    <p:sldId id="298" r:id="rId47"/>
    <p:sldId id="299" r:id="rId48"/>
    <p:sldId id="305" r:id="rId49"/>
    <p:sldId id="306" r:id="rId50"/>
    <p:sldId id="307" r:id="rId51"/>
    <p:sldId id="300" r:id="rId52"/>
    <p:sldId id="314" r:id="rId53"/>
    <p:sldId id="315" r:id="rId5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llemlayout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yst layout 2 - Markerin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yst layout 1 - Markerin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yst layout 3 - Markering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32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FBA0CA-9B9B-4487-AD15-191469C8D1F2}" type="doc">
      <dgm:prSet loTypeId="urn:microsoft.com/office/officeart/2008/layout/LinedList" loCatId="list" qsTypeId="urn:microsoft.com/office/officeart/2005/8/quickstyle/simple2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9B097CDB-1795-4E27-8AD1-F0A3EDDF6E9A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da-DK" sz="1600" b="0" dirty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Skabe tydelige læringsmarkører </a:t>
          </a:r>
          <a:endParaRPr lang="en-US" sz="1600" b="0" dirty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DFEBC7DB-DB06-487B-A7B9-522EA1D35CB1}" type="parTrans" cxnId="{EDCB7858-AB59-462D-93A8-216DEBE0E35F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1E46C148-2C65-4110-B34E-77411AEA5016}" type="sibTrans" cxnId="{EDCB7858-AB59-462D-93A8-216DEBE0E35F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685F746C-FE3A-423B-B54C-8A68A122B902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da-DK" sz="1600" b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Italesætte, dokumentere og reflektere over brugen af AI  – ikke toleres passivt </a:t>
          </a:r>
          <a:endParaRPr lang="en-US" sz="1600" b="0" dirty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C9D0B944-0A82-4B7A-A3D1-D25B96F23B64}" type="parTrans" cxnId="{0BB3A78B-7E06-4FAF-8DFA-0D86AB527B1D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FD51ED13-FFA4-4115-B195-90B72CE73FFF}" type="sibTrans" cxnId="{0BB3A78B-7E06-4FAF-8DFA-0D86AB527B1D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FB5E9944-E309-4DE0-80C7-2508A827454E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da-DK" sz="1600" b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Opgaver skal redesignes og gentænkes (eks. Prompt først – Præcision bagefter) 	</a:t>
          </a:r>
          <a:endParaRPr lang="en-US" sz="1600" b="0" dirty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C3064D68-DD9E-425E-9F25-5ACE46EEE1C1}" type="parTrans" cxnId="{94DB76AB-4FD0-4050-98B5-E9662E4D409E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AA566918-0C0F-43A6-9A7B-33AB7F551314}" type="sibTrans" cxnId="{94DB76AB-4FD0-4050-98B5-E9662E4D409E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02A4A0AA-2EAC-4F2D-ADE0-CDD31B9F16E3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da-DK" sz="1600" b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Flyt fokus fra </a:t>
          </a:r>
          <a:r>
            <a:rPr lang="da-DK" sz="1600" b="0" i="1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hvad der er produceret</a:t>
          </a:r>
          <a:r>
            <a:rPr lang="da-DK" sz="1600" b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 til </a:t>
          </a:r>
          <a:r>
            <a:rPr lang="da-DK" sz="1600" b="0" i="1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hvad eleven kan forklare</a:t>
          </a:r>
          <a:r>
            <a:rPr lang="da-DK" sz="1600" b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.</a:t>
          </a: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48B1B0FE-0565-4214-988F-3FC547690F29}" type="parTrans" cxnId="{2F0EC975-16D3-4FC6-B028-BA5B20CE51CD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C9C1895E-9EA6-4A25-9814-C2EB96E99932}" type="sibTrans" cxnId="{2F0EC975-16D3-4FC6-B028-BA5B20CE51CD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6F28B647-058E-4095-8D15-0005165A2499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da-DK" sz="1600" b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Forholde sig kritisk til hvad AI kan og ikke kan…</a:t>
          </a: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E0A72C83-AB42-4BA8-A476-AE6DEB6E501D}" type="parTrans" cxnId="{628CB529-C4F0-4355-BE70-083073408E13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0AE14236-EAAB-4202-BE9D-3349F4D77C08}" type="sibTrans" cxnId="{628CB529-C4F0-4355-BE70-083073408E13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4642DD58-D853-4711-B739-B9BB7A97A305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da-DK" sz="1600" b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Regulering og stilladsering er vigtigere end nogensinde før…</a:t>
          </a: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3DDA94AA-24EF-491C-9215-3B40D77030A5}" type="parTrans" cxnId="{5B4E02A3-684F-4A87-B97E-846C7FBA6FE8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D4120599-69C0-4F36-A21F-74B93E93A2A5}" type="sibTrans" cxnId="{5B4E02A3-684F-4A87-B97E-846C7FBA6FE8}">
      <dgm:prSet/>
      <dgm:spPr/>
      <dgm:t>
        <a:bodyPr/>
        <a:lstStyle/>
        <a:p>
          <a:pPr algn="just">
            <a:lnSpc>
              <a:spcPct val="150000"/>
            </a:lnSpc>
          </a:pPr>
          <a:endParaRPr lang="en-US" sz="1600" b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gm:t>
    </dgm:pt>
    <dgm:pt modelId="{BC99BB42-A6CA-4860-A7A3-E01493416D27}" type="pres">
      <dgm:prSet presAssocID="{2AFBA0CA-9B9B-4487-AD15-191469C8D1F2}" presName="vert0" presStyleCnt="0">
        <dgm:presLayoutVars>
          <dgm:dir/>
          <dgm:animOne val="branch"/>
          <dgm:animLvl val="lvl"/>
        </dgm:presLayoutVars>
      </dgm:prSet>
      <dgm:spPr/>
    </dgm:pt>
    <dgm:pt modelId="{D0F6BF3C-7D6B-4F83-818A-A8E5906F8A6E}" type="pres">
      <dgm:prSet presAssocID="{9B097CDB-1795-4E27-8AD1-F0A3EDDF6E9A}" presName="thickLine" presStyleLbl="alignNode1" presStyleIdx="0" presStyleCnt="6"/>
      <dgm:spPr/>
    </dgm:pt>
    <dgm:pt modelId="{D1CDF8BE-918B-45C3-B224-0A500AD3C6C4}" type="pres">
      <dgm:prSet presAssocID="{9B097CDB-1795-4E27-8AD1-F0A3EDDF6E9A}" presName="horz1" presStyleCnt="0"/>
      <dgm:spPr/>
    </dgm:pt>
    <dgm:pt modelId="{0F0B5F5D-5063-43CF-B7A9-91BE1AC81519}" type="pres">
      <dgm:prSet presAssocID="{9B097CDB-1795-4E27-8AD1-F0A3EDDF6E9A}" presName="tx1" presStyleLbl="revTx" presStyleIdx="0" presStyleCnt="6"/>
      <dgm:spPr/>
    </dgm:pt>
    <dgm:pt modelId="{63E9CFF7-017E-435F-95D3-A0BEEA99E9B5}" type="pres">
      <dgm:prSet presAssocID="{9B097CDB-1795-4E27-8AD1-F0A3EDDF6E9A}" presName="vert1" presStyleCnt="0"/>
      <dgm:spPr/>
    </dgm:pt>
    <dgm:pt modelId="{AF8A7709-5697-4BFE-8C18-01364B96CA2D}" type="pres">
      <dgm:prSet presAssocID="{685F746C-FE3A-423B-B54C-8A68A122B902}" presName="thickLine" presStyleLbl="alignNode1" presStyleIdx="1" presStyleCnt="6"/>
      <dgm:spPr/>
    </dgm:pt>
    <dgm:pt modelId="{AA06A9BF-C872-467E-B7B4-04EC4BAA88ED}" type="pres">
      <dgm:prSet presAssocID="{685F746C-FE3A-423B-B54C-8A68A122B902}" presName="horz1" presStyleCnt="0"/>
      <dgm:spPr/>
    </dgm:pt>
    <dgm:pt modelId="{AA67855E-096E-48A8-8089-FB4B2B2BB2BD}" type="pres">
      <dgm:prSet presAssocID="{685F746C-FE3A-423B-B54C-8A68A122B902}" presName="tx1" presStyleLbl="revTx" presStyleIdx="1" presStyleCnt="6"/>
      <dgm:spPr/>
    </dgm:pt>
    <dgm:pt modelId="{4785C2CB-79DE-47A7-86EE-B82A6062E32A}" type="pres">
      <dgm:prSet presAssocID="{685F746C-FE3A-423B-B54C-8A68A122B902}" presName="vert1" presStyleCnt="0"/>
      <dgm:spPr/>
    </dgm:pt>
    <dgm:pt modelId="{E58ABDEF-74D6-4D9F-A0E5-6A1D306E4D00}" type="pres">
      <dgm:prSet presAssocID="{FB5E9944-E309-4DE0-80C7-2508A827454E}" presName="thickLine" presStyleLbl="alignNode1" presStyleIdx="2" presStyleCnt="6"/>
      <dgm:spPr/>
    </dgm:pt>
    <dgm:pt modelId="{7B4BFAED-6504-4012-8A93-202F0E9821DC}" type="pres">
      <dgm:prSet presAssocID="{FB5E9944-E309-4DE0-80C7-2508A827454E}" presName="horz1" presStyleCnt="0"/>
      <dgm:spPr/>
    </dgm:pt>
    <dgm:pt modelId="{616A9B86-B52F-42CF-8F50-83000A67B75A}" type="pres">
      <dgm:prSet presAssocID="{FB5E9944-E309-4DE0-80C7-2508A827454E}" presName="tx1" presStyleLbl="revTx" presStyleIdx="2" presStyleCnt="6"/>
      <dgm:spPr/>
    </dgm:pt>
    <dgm:pt modelId="{FA927FA7-B92C-4FF4-8716-FE16DD77D0EB}" type="pres">
      <dgm:prSet presAssocID="{FB5E9944-E309-4DE0-80C7-2508A827454E}" presName="vert1" presStyleCnt="0"/>
      <dgm:spPr/>
    </dgm:pt>
    <dgm:pt modelId="{2030A3B0-DA06-47C6-9C85-4831AAC9CBC4}" type="pres">
      <dgm:prSet presAssocID="{02A4A0AA-2EAC-4F2D-ADE0-CDD31B9F16E3}" presName="thickLine" presStyleLbl="alignNode1" presStyleIdx="3" presStyleCnt="6"/>
      <dgm:spPr/>
    </dgm:pt>
    <dgm:pt modelId="{92ECB811-E09E-4857-BEAA-8432F35CE7DE}" type="pres">
      <dgm:prSet presAssocID="{02A4A0AA-2EAC-4F2D-ADE0-CDD31B9F16E3}" presName="horz1" presStyleCnt="0"/>
      <dgm:spPr/>
    </dgm:pt>
    <dgm:pt modelId="{BFD20520-3E11-478A-B112-794EF77CD9A1}" type="pres">
      <dgm:prSet presAssocID="{02A4A0AA-2EAC-4F2D-ADE0-CDD31B9F16E3}" presName="tx1" presStyleLbl="revTx" presStyleIdx="3" presStyleCnt="6"/>
      <dgm:spPr/>
    </dgm:pt>
    <dgm:pt modelId="{57825935-3F75-47FD-BD70-D6B519026A14}" type="pres">
      <dgm:prSet presAssocID="{02A4A0AA-2EAC-4F2D-ADE0-CDD31B9F16E3}" presName="vert1" presStyleCnt="0"/>
      <dgm:spPr/>
    </dgm:pt>
    <dgm:pt modelId="{1EE6785E-4AB0-4CA8-9BF3-EE85558862B8}" type="pres">
      <dgm:prSet presAssocID="{6F28B647-058E-4095-8D15-0005165A2499}" presName="thickLine" presStyleLbl="alignNode1" presStyleIdx="4" presStyleCnt="6"/>
      <dgm:spPr/>
    </dgm:pt>
    <dgm:pt modelId="{3DB277EF-EC93-401A-A1F1-3E3137092401}" type="pres">
      <dgm:prSet presAssocID="{6F28B647-058E-4095-8D15-0005165A2499}" presName="horz1" presStyleCnt="0"/>
      <dgm:spPr/>
    </dgm:pt>
    <dgm:pt modelId="{14BA414D-AD09-4099-9D7E-98E6727E14BA}" type="pres">
      <dgm:prSet presAssocID="{6F28B647-058E-4095-8D15-0005165A2499}" presName="tx1" presStyleLbl="revTx" presStyleIdx="4" presStyleCnt="6"/>
      <dgm:spPr/>
    </dgm:pt>
    <dgm:pt modelId="{9046A926-8704-441F-8FCD-300C12FA7BF2}" type="pres">
      <dgm:prSet presAssocID="{6F28B647-058E-4095-8D15-0005165A2499}" presName="vert1" presStyleCnt="0"/>
      <dgm:spPr/>
    </dgm:pt>
    <dgm:pt modelId="{BCFE1588-8004-4A60-97B2-39A9DCF832C1}" type="pres">
      <dgm:prSet presAssocID="{4642DD58-D853-4711-B739-B9BB7A97A305}" presName="thickLine" presStyleLbl="alignNode1" presStyleIdx="5" presStyleCnt="6"/>
      <dgm:spPr/>
    </dgm:pt>
    <dgm:pt modelId="{63DBA35B-39AF-4006-96A1-CBBAD06160E8}" type="pres">
      <dgm:prSet presAssocID="{4642DD58-D853-4711-B739-B9BB7A97A305}" presName="horz1" presStyleCnt="0"/>
      <dgm:spPr/>
    </dgm:pt>
    <dgm:pt modelId="{82D11D16-AC03-4F83-9869-BD5D1CF2F398}" type="pres">
      <dgm:prSet presAssocID="{4642DD58-D853-4711-B739-B9BB7A97A305}" presName="tx1" presStyleLbl="revTx" presStyleIdx="5" presStyleCnt="6"/>
      <dgm:spPr/>
    </dgm:pt>
    <dgm:pt modelId="{FC280E37-7870-4CED-B48D-B35051DEEA8E}" type="pres">
      <dgm:prSet presAssocID="{4642DD58-D853-4711-B739-B9BB7A97A305}" presName="vert1" presStyleCnt="0"/>
      <dgm:spPr/>
    </dgm:pt>
  </dgm:ptLst>
  <dgm:cxnLst>
    <dgm:cxn modelId="{AA97D608-758E-4204-98C9-5AFB60DAF189}" type="presOf" srcId="{4642DD58-D853-4711-B739-B9BB7A97A305}" destId="{82D11D16-AC03-4F83-9869-BD5D1CF2F398}" srcOrd="0" destOrd="0" presId="urn:microsoft.com/office/officeart/2008/layout/LinedList"/>
    <dgm:cxn modelId="{628CB529-C4F0-4355-BE70-083073408E13}" srcId="{2AFBA0CA-9B9B-4487-AD15-191469C8D1F2}" destId="{6F28B647-058E-4095-8D15-0005165A2499}" srcOrd="4" destOrd="0" parTransId="{E0A72C83-AB42-4BA8-A476-AE6DEB6E501D}" sibTransId="{0AE14236-EAAB-4202-BE9D-3349F4D77C08}"/>
    <dgm:cxn modelId="{D529882F-197B-4397-B901-7BB7C09F7E01}" type="presOf" srcId="{02A4A0AA-2EAC-4F2D-ADE0-CDD31B9F16E3}" destId="{BFD20520-3E11-478A-B112-794EF77CD9A1}" srcOrd="0" destOrd="0" presId="urn:microsoft.com/office/officeart/2008/layout/LinedList"/>
    <dgm:cxn modelId="{A6DBA138-4CC0-4FE1-AD71-DE9A89C392A6}" type="presOf" srcId="{6F28B647-058E-4095-8D15-0005165A2499}" destId="{14BA414D-AD09-4099-9D7E-98E6727E14BA}" srcOrd="0" destOrd="0" presId="urn:microsoft.com/office/officeart/2008/layout/LinedList"/>
    <dgm:cxn modelId="{29F28B4E-94F3-4BEF-BBE4-2609DF0F21FA}" type="presOf" srcId="{FB5E9944-E309-4DE0-80C7-2508A827454E}" destId="{616A9B86-B52F-42CF-8F50-83000A67B75A}" srcOrd="0" destOrd="0" presId="urn:microsoft.com/office/officeart/2008/layout/LinedList"/>
    <dgm:cxn modelId="{BC44A271-474A-446C-BE55-6C6C26FB80F6}" type="presOf" srcId="{2AFBA0CA-9B9B-4487-AD15-191469C8D1F2}" destId="{BC99BB42-A6CA-4860-A7A3-E01493416D27}" srcOrd="0" destOrd="0" presId="urn:microsoft.com/office/officeart/2008/layout/LinedList"/>
    <dgm:cxn modelId="{2F0EC975-16D3-4FC6-B028-BA5B20CE51CD}" srcId="{2AFBA0CA-9B9B-4487-AD15-191469C8D1F2}" destId="{02A4A0AA-2EAC-4F2D-ADE0-CDD31B9F16E3}" srcOrd="3" destOrd="0" parTransId="{48B1B0FE-0565-4214-988F-3FC547690F29}" sibTransId="{C9C1895E-9EA6-4A25-9814-C2EB96E99932}"/>
    <dgm:cxn modelId="{EDCB7858-AB59-462D-93A8-216DEBE0E35F}" srcId="{2AFBA0CA-9B9B-4487-AD15-191469C8D1F2}" destId="{9B097CDB-1795-4E27-8AD1-F0A3EDDF6E9A}" srcOrd="0" destOrd="0" parTransId="{DFEBC7DB-DB06-487B-A7B9-522EA1D35CB1}" sibTransId="{1E46C148-2C65-4110-B34E-77411AEA5016}"/>
    <dgm:cxn modelId="{0BB3A78B-7E06-4FAF-8DFA-0D86AB527B1D}" srcId="{2AFBA0CA-9B9B-4487-AD15-191469C8D1F2}" destId="{685F746C-FE3A-423B-B54C-8A68A122B902}" srcOrd="1" destOrd="0" parTransId="{C9D0B944-0A82-4B7A-A3D1-D25B96F23B64}" sibTransId="{FD51ED13-FFA4-4115-B195-90B72CE73FFF}"/>
    <dgm:cxn modelId="{5B4E02A3-684F-4A87-B97E-846C7FBA6FE8}" srcId="{2AFBA0CA-9B9B-4487-AD15-191469C8D1F2}" destId="{4642DD58-D853-4711-B739-B9BB7A97A305}" srcOrd="5" destOrd="0" parTransId="{3DDA94AA-24EF-491C-9215-3B40D77030A5}" sibTransId="{D4120599-69C0-4F36-A21F-74B93E93A2A5}"/>
    <dgm:cxn modelId="{94DB76AB-4FD0-4050-98B5-E9662E4D409E}" srcId="{2AFBA0CA-9B9B-4487-AD15-191469C8D1F2}" destId="{FB5E9944-E309-4DE0-80C7-2508A827454E}" srcOrd="2" destOrd="0" parTransId="{C3064D68-DD9E-425E-9F25-5ACE46EEE1C1}" sibTransId="{AA566918-0C0F-43A6-9A7B-33AB7F551314}"/>
    <dgm:cxn modelId="{7C5912D5-6C02-4F0C-A6F1-E76F79C7BCD9}" type="presOf" srcId="{9B097CDB-1795-4E27-8AD1-F0A3EDDF6E9A}" destId="{0F0B5F5D-5063-43CF-B7A9-91BE1AC81519}" srcOrd="0" destOrd="0" presId="urn:microsoft.com/office/officeart/2008/layout/LinedList"/>
    <dgm:cxn modelId="{CF4B88E7-B4EB-4F3D-8FEC-6CE4DB0CBBDA}" type="presOf" srcId="{685F746C-FE3A-423B-B54C-8A68A122B902}" destId="{AA67855E-096E-48A8-8089-FB4B2B2BB2BD}" srcOrd="0" destOrd="0" presId="urn:microsoft.com/office/officeart/2008/layout/LinedList"/>
    <dgm:cxn modelId="{EA0970BF-06D3-4B0E-B9EC-9BC27E3946ED}" type="presParOf" srcId="{BC99BB42-A6CA-4860-A7A3-E01493416D27}" destId="{D0F6BF3C-7D6B-4F83-818A-A8E5906F8A6E}" srcOrd="0" destOrd="0" presId="urn:microsoft.com/office/officeart/2008/layout/LinedList"/>
    <dgm:cxn modelId="{3439096B-6B6C-4636-965E-0F152758202D}" type="presParOf" srcId="{BC99BB42-A6CA-4860-A7A3-E01493416D27}" destId="{D1CDF8BE-918B-45C3-B224-0A500AD3C6C4}" srcOrd="1" destOrd="0" presId="urn:microsoft.com/office/officeart/2008/layout/LinedList"/>
    <dgm:cxn modelId="{FB96FC4E-D8A0-4F78-806E-4D7A7B17C215}" type="presParOf" srcId="{D1CDF8BE-918B-45C3-B224-0A500AD3C6C4}" destId="{0F0B5F5D-5063-43CF-B7A9-91BE1AC81519}" srcOrd="0" destOrd="0" presId="urn:microsoft.com/office/officeart/2008/layout/LinedList"/>
    <dgm:cxn modelId="{7BE38D26-2429-4023-981B-8A3D38AC8C20}" type="presParOf" srcId="{D1CDF8BE-918B-45C3-B224-0A500AD3C6C4}" destId="{63E9CFF7-017E-435F-95D3-A0BEEA99E9B5}" srcOrd="1" destOrd="0" presId="urn:microsoft.com/office/officeart/2008/layout/LinedList"/>
    <dgm:cxn modelId="{370A5CB0-E13B-489B-B3B3-E37E56128EA3}" type="presParOf" srcId="{BC99BB42-A6CA-4860-A7A3-E01493416D27}" destId="{AF8A7709-5697-4BFE-8C18-01364B96CA2D}" srcOrd="2" destOrd="0" presId="urn:microsoft.com/office/officeart/2008/layout/LinedList"/>
    <dgm:cxn modelId="{22A56E4F-FB4F-4F6C-B7D2-54D76D712994}" type="presParOf" srcId="{BC99BB42-A6CA-4860-A7A3-E01493416D27}" destId="{AA06A9BF-C872-467E-B7B4-04EC4BAA88ED}" srcOrd="3" destOrd="0" presId="urn:microsoft.com/office/officeart/2008/layout/LinedList"/>
    <dgm:cxn modelId="{19B9A78C-598E-4016-809B-6F62192B0074}" type="presParOf" srcId="{AA06A9BF-C872-467E-B7B4-04EC4BAA88ED}" destId="{AA67855E-096E-48A8-8089-FB4B2B2BB2BD}" srcOrd="0" destOrd="0" presId="urn:microsoft.com/office/officeart/2008/layout/LinedList"/>
    <dgm:cxn modelId="{973E30C3-B4C7-4237-BFA0-1712A81A848F}" type="presParOf" srcId="{AA06A9BF-C872-467E-B7B4-04EC4BAA88ED}" destId="{4785C2CB-79DE-47A7-86EE-B82A6062E32A}" srcOrd="1" destOrd="0" presId="urn:microsoft.com/office/officeart/2008/layout/LinedList"/>
    <dgm:cxn modelId="{CA064C43-3DCD-4879-B0C0-04C658D10CDA}" type="presParOf" srcId="{BC99BB42-A6CA-4860-A7A3-E01493416D27}" destId="{E58ABDEF-74D6-4D9F-A0E5-6A1D306E4D00}" srcOrd="4" destOrd="0" presId="urn:microsoft.com/office/officeart/2008/layout/LinedList"/>
    <dgm:cxn modelId="{DB2319B5-7309-42E3-AEA3-5A5F1049021B}" type="presParOf" srcId="{BC99BB42-A6CA-4860-A7A3-E01493416D27}" destId="{7B4BFAED-6504-4012-8A93-202F0E9821DC}" srcOrd="5" destOrd="0" presId="urn:microsoft.com/office/officeart/2008/layout/LinedList"/>
    <dgm:cxn modelId="{EE548C3E-5B98-428B-AE5E-2D35D13F059C}" type="presParOf" srcId="{7B4BFAED-6504-4012-8A93-202F0E9821DC}" destId="{616A9B86-B52F-42CF-8F50-83000A67B75A}" srcOrd="0" destOrd="0" presId="urn:microsoft.com/office/officeart/2008/layout/LinedList"/>
    <dgm:cxn modelId="{42223031-F57C-411A-BF1A-0D9B4B2CCE66}" type="presParOf" srcId="{7B4BFAED-6504-4012-8A93-202F0E9821DC}" destId="{FA927FA7-B92C-4FF4-8716-FE16DD77D0EB}" srcOrd="1" destOrd="0" presId="urn:microsoft.com/office/officeart/2008/layout/LinedList"/>
    <dgm:cxn modelId="{96E0DBA9-341B-4C20-A2F8-5B64ED55CDD6}" type="presParOf" srcId="{BC99BB42-A6CA-4860-A7A3-E01493416D27}" destId="{2030A3B0-DA06-47C6-9C85-4831AAC9CBC4}" srcOrd="6" destOrd="0" presId="urn:microsoft.com/office/officeart/2008/layout/LinedList"/>
    <dgm:cxn modelId="{04FF0151-FF3D-4224-9EB3-39701DC29636}" type="presParOf" srcId="{BC99BB42-A6CA-4860-A7A3-E01493416D27}" destId="{92ECB811-E09E-4857-BEAA-8432F35CE7DE}" srcOrd="7" destOrd="0" presId="urn:microsoft.com/office/officeart/2008/layout/LinedList"/>
    <dgm:cxn modelId="{4A524C2C-9AAC-443C-9E1B-0B911A07214E}" type="presParOf" srcId="{92ECB811-E09E-4857-BEAA-8432F35CE7DE}" destId="{BFD20520-3E11-478A-B112-794EF77CD9A1}" srcOrd="0" destOrd="0" presId="urn:microsoft.com/office/officeart/2008/layout/LinedList"/>
    <dgm:cxn modelId="{B60ABE43-0E2D-4C56-89CB-07B5DDC777FE}" type="presParOf" srcId="{92ECB811-E09E-4857-BEAA-8432F35CE7DE}" destId="{57825935-3F75-47FD-BD70-D6B519026A14}" srcOrd="1" destOrd="0" presId="urn:microsoft.com/office/officeart/2008/layout/LinedList"/>
    <dgm:cxn modelId="{911894D0-2E6E-4A11-AD58-BBF7C857F97E}" type="presParOf" srcId="{BC99BB42-A6CA-4860-A7A3-E01493416D27}" destId="{1EE6785E-4AB0-4CA8-9BF3-EE85558862B8}" srcOrd="8" destOrd="0" presId="urn:microsoft.com/office/officeart/2008/layout/LinedList"/>
    <dgm:cxn modelId="{DA7678AD-4BB7-44EC-8136-2A0EC51848CE}" type="presParOf" srcId="{BC99BB42-A6CA-4860-A7A3-E01493416D27}" destId="{3DB277EF-EC93-401A-A1F1-3E3137092401}" srcOrd="9" destOrd="0" presId="urn:microsoft.com/office/officeart/2008/layout/LinedList"/>
    <dgm:cxn modelId="{496B3C06-8DB8-47A2-A09D-DC78693BD319}" type="presParOf" srcId="{3DB277EF-EC93-401A-A1F1-3E3137092401}" destId="{14BA414D-AD09-4099-9D7E-98E6727E14BA}" srcOrd="0" destOrd="0" presId="urn:microsoft.com/office/officeart/2008/layout/LinedList"/>
    <dgm:cxn modelId="{762E6585-EF5E-41B5-86A0-6AB797210061}" type="presParOf" srcId="{3DB277EF-EC93-401A-A1F1-3E3137092401}" destId="{9046A926-8704-441F-8FCD-300C12FA7BF2}" srcOrd="1" destOrd="0" presId="urn:microsoft.com/office/officeart/2008/layout/LinedList"/>
    <dgm:cxn modelId="{EAB9E448-49AF-4C49-97F9-F9ADA41BE6C6}" type="presParOf" srcId="{BC99BB42-A6CA-4860-A7A3-E01493416D27}" destId="{BCFE1588-8004-4A60-97B2-39A9DCF832C1}" srcOrd="10" destOrd="0" presId="urn:microsoft.com/office/officeart/2008/layout/LinedList"/>
    <dgm:cxn modelId="{A63615F7-D8C1-464B-9F30-C2302AE24C38}" type="presParOf" srcId="{BC99BB42-A6CA-4860-A7A3-E01493416D27}" destId="{63DBA35B-39AF-4006-96A1-CBBAD06160E8}" srcOrd="11" destOrd="0" presId="urn:microsoft.com/office/officeart/2008/layout/LinedList"/>
    <dgm:cxn modelId="{D041BEF8-903A-4629-AD02-ACAD59AC5914}" type="presParOf" srcId="{63DBA35B-39AF-4006-96A1-CBBAD06160E8}" destId="{82D11D16-AC03-4F83-9869-BD5D1CF2F398}" srcOrd="0" destOrd="0" presId="urn:microsoft.com/office/officeart/2008/layout/LinedList"/>
    <dgm:cxn modelId="{1882CE5E-C647-43BE-91EF-03D9C2A02FD3}" type="presParOf" srcId="{63DBA35B-39AF-4006-96A1-CBBAD06160E8}" destId="{FC280E37-7870-4CED-B48D-B35051DEEA8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EAE1F9-09C4-4B3F-9A59-5806C8EFE76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042B78-BDEB-4F4A-A813-60371E41EB14}">
      <dgm:prSet custT="1"/>
      <dgm:spPr>
        <a:solidFill>
          <a:schemeClr val="accent2"/>
        </a:solidFill>
      </dgm:spPr>
      <dgm:t>
        <a:bodyPr/>
        <a:lstStyle/>
        <a:p>
          <a:r>
            <a:rPr lang="da-DK" sz="2000" dirty="0">
              <a:solidFill>
                <a:schemeClr val="accent2">
                  <a:lumMod val="20000"/>
                  <a:lumOff val="80000"/>
                </a:schemeClr>
              </a:solidFill>
              <a:latin typeface="Aptos SemiBold" panose="020B0004020202020204" pitchFamily="34" charset="0"/>
            </a:rPr>
            <a:t>Et </a:t>
          </a:r>
          <a:r>
            <a:rPr lang="da-DK" sz="2000" b="1" dirty="0">
              <a:solidFill>
                <a:schemeClr val="accent2">
                  <a:lumMod val="20000"/>
                  <a:lumOff val="80000"/>
                </a:schemeClr>
              </a:solidFill>
              <a:latin typeface="Aptos SemiBold" panose="020B0004020202020204" pitchFamily="34" charset="0"/>
            </a:rPr>
            <a:t>fælles sprog for faglighed</a:t>
          </a:r>
          <a:r>
            <a:rPr lang="da-DK" sz="2000" dirty="0">
              <a:solidFill>
                <a:schemeClr val="accent2">
                  <a:lumMod val="20000"/>
                  <a:lumOff val="80000"/>
                </a:schemeClr>
              </a:solidFill>
              <a:latin typeface="Aptos SemiBold" panose="020B0004020202020204" pitchFamily="34" charset="0"/>
            </a:rPr>
            <a:t>, der kan bruges:</a:t>
          </a:r>
          <a:endParaRPr lang="en-US" sz="2000" dirty="0">
            <a:solidFill>
              <a:schemeClr val="accent2">
                <a:lumMod val="20000"/>
                <a:lumOff val="80000"/>
              </a:schemeClr>
            </a:solidFill>
            <a:latin typeface="Aptos SemiBold" panose="020B0004020202020204" pitchFamily="34" charset="0"/>
          </a:endParaRPr>
        </a:p>
      </dgm:t>
    </dgm:pt>
    <dgm:pt modelId="{1324A6A1-41F6-4616-A064-2A358879CCCB}" type="parTrans" cxnId="{5A9B9C03-3B52-4B85-A3D6-6DB66918DE8A}">
      <dgm:prSet/>
      <dgm:spPr/>
      <dgm:t>
        <a:bodyPr/>
        <a:lstStyle/>
        <a:p>
          <a:endParaRPr lang="en-US" sz="2000"/>
        </a:p>
      </dgm:t>
    </dgm:pt>
    <dgm:pt modelId="{3401E9D7-7475-41F8-B8B3-A702963E1C09}" type="sibTrans" cxnId="{5A9B9C03-3B52-4B85-A3D6-6DB66918DE8A}">
      <dgm:prSet/>
      <dgm:spPr/>
      <dgm:t>
        <a:bodyPr/>
        <a:lstStyle/>
        <a:p>
          <a:endParaRPr lang="en-US" sz="2000"/>
        </a:p>
      </dgm:t>
    </dgm:pt>
    <dgm:pt modelId="{3C881CE5-1E96-48AE-8D62-625C984D1F40}">
      <dgm:prSet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da-DK" sz="2000" dirty="0">
              <a:solidFill>
                <a:schemeClr val="accent2"/>
              </a:solidFill>
            </a:rPr>
            <a:t>i undervisningen</a:t>
          </a:r>
          <a:endParaRPr lang="en-US" sz="2000" dirty="0">
            <a:solidFill>
              <a:schemeClr val="accent2"/>
            </a:solidFill>
          </a:endParaRPr>
        </a:p>
      </dgm:t>
    </dgm:pt>
    <dgm:pt modelId="{71D34E20-7E60-4D9F-B054-BEBB09C12D00}" type="parTrans" cxnId="{F0F9BF4B-7D0A-4017-9C23-927CE56F317E}">
      <dgm:prSet/>
      <dgm:spPr/>
      <dgm:t>
        <a:bodyPr/>
        <a:lstStyle/>
        <a:p>
          <a:endParaRPr lang="en-US" sz="2000"/>
        </a:p>
      </dgm:t>
    </dgm:pt>
    <dgm:pt modelId="{E9F246D1-574D-49C7-B082-D45E43290E61}" type="sibTrans" cxnId="{F0F9BF4B-7D0A-4017-9C23-927CE56F317E}">
      <dgm:prSet/>
      <dgm:spPr/>
      <dgm:t>
        <a:bodyPr/>
        <a:lstStyle/>
        <a:p>
          <a:endParaRPr lang="en-US" sz="2000"/>
        </a:p>
      </dgm:t>
    </dgm:pt>
    <dgm:pt modelId="{43154341-11A3-4895-8CDF-81DB62487AE6}">
      <dgm:prSet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da-DK" sz="2000" dirty="0">
              <a:solidFill>
                <a:schemeClr val="accent2"/>
              </a:solidFill>
            </a:rPr>
            <a:t>i feedback</a:t>
          </a:r>
          <a:endParaRPr lang="en-US" sz="2000" dirty="0">
            <a:solidFill>
              <a:schemeClr val="accent2"/>
            </a:solidFill>
          </a:endParaRPr>
        </a:p>
      </dgm:t>
    </dgm:pt>
    <dgm:pt modelId="{C237BCCD-B8CE-4545-9301-5429DD395326}" type="parTrans" cxnId="{CE88E1D2-8B4E-4743-A36F-2BA2A40EF1F5}">
      <dgm:prSet/>
      <dgm:spPr/>
      <dgm:t>
        <a:bodyPr/>
        <a:lstStyle/>
        <a:p>
          <a:endParaRPr lang="en-US" sz="2000"/>
        </a:p>
      </dgm:t>
    </dgm:pt>
    <dgm:pt modelId="{3D0E8FE2-1DDB-401A-9F1C-DDCF4274BC8B}" type="sibTrans" cxnId="{CE88E1D2-8B4E-4743-A36F-2BA2A40EF1F5}">
      <dgm:prSet/>
      <dgm:spPr/>
      <dgm:t>
        <a:bodyPr/>
        <a:lstStyle/>
        <a:p>
          <a:endParaRPr lang="en-US" sz="2000"/>
        </a:p>
      </dgm:t>
    </dgm:pt>
    <dgm:pt modelId="{87A4A0AC-85FB-4067-863B-632ECD9992B2}">
      <dgm:prSet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da-DK" sz="2000" dirty="0">
              <a:solidFill>
                <a:schemeClr val="accent2"/>
              </a:solidFill>
            </a:rPr>
            <a:t>i den mundtlige prøve</a:t>
          </a:r>
          <a:endParaRPr lang="en-US" sz="2000" dirty="0">
            <a:solidFill>
              <a:schemeClr val="accent2"/>
            </a:solidFill>
          </a:endParaRPr>
        </a:p>
      </dgm:t>
    </dgm:pt>
    <dgm:pt modelId="{09955A53-F71D-4C9C-A904-25637EC58897}" type="parTrans" cxnId="{27E55A6F-9998-43EF-AA45-394B7CB2C0B6}">
      <dgm:prSet/>
      <dgm:spPr/>
      <dgm:t>
        <a:bodyPr/>
        <a:lstStyle/>
        <a:p>
          <a:endParaRPr lang="en-US" sz="2000"/>
        </a:p>
      </dgm:t>
    </dgm:pt>
    <dgm:pt modelId="{B84CC166-9FEB-4FF3-9123-53533A00BE7C}" type="sibTrans" cxnId="{27E55A6F-9998-43EF-AA45-394B7CB2C0B6}">
      <dgm:prSet/>
      <dgm:spPr/>
      <dgm:t>
        <a:bodyPr/>
        <a:lstStyle/>
        <a:p>
          <a:endParaRPr lang="en-US" sz="2000"/>
        </a:p>
      </dgm:t>
    </dgm:pt>
    <dgm:pt modelId="{FE4930DC-0BE6-4FC1-A1CF-DC08B09AFF4D}">
      <dgm:prSet custT="1"/>
      <dgm:spPr>
        <a:solidFill>
          <a:schemeClr val="tx2"/>
        </a:solidFill>
      </dgm:spPr>
      <dgm:t>
        <a:bodyPr/>
        <a:lstStyle/>
        <a:p>
          <a:r>
            <a:rPr lang="da-DK" sz="2000" dirty="0">
              <a:solidFill>
                <a:schemeClr val="tx2">
                  <a:lumMod val="10000"/>
                  <a:lumOff val="90000"/>
                </a:schemeClr>
              </a:solidFill>
            </a:rPr>
            <a:t>Et sprog, der:</a:t>
          </a:r>
          <a:endParaRPr lang="en-US" sz="2000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C029D0B4-A854-4C8F-812E-2AC7688588C7}" type="parTrans" cxnId="{65B37FC0-2F63-4B0B-A0BE-D4683D6B28CD}">
      <dgm:prSet/>
      <dgm:spPr/>
      <dgm:t>
        <a:bodyPr/>
        <a:lstStyle/>
        <a:p>
          <a:endParaRPr lang="en-US" sz="2000"/>
        </a:p>
      </dgm:t>
    </dgm:pt>
    <dgm:pt modelId="{EA080CA6-1901-4004-960D-1CDEF7323295}" type="sibTrans" cxnId="{65B37FC0-2F63-4B0B-A0BE-D4683D6B28CD}">
      <dgm:prSet/>
      <dgm:spPr/>
      <dgm:t>
        <a:bodyPr/>
        <a:lstStyle/>
        <a:p>
          <a:endParaRPr lang="en-US" sz="2000"/>
        </a:p>
      </dgm:t>
    </dgm:pt>
    <dgm:pt modelId="{5D2FB953-502B-47D8-A1F1-19385F7BED80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da-DK" sz="2000" dirty="0">
              <a:solidFill>
                <a:schemeClr val="tx2"/>
              </a:solidFill>
            </a:rPr>
            <a:t>ikke forbyder AI</a:t>
          </a:r>
          <a:endParaRPr lang="en-US" sz="2000" dirty="0">
            <a:solidFill>
              <a:schemeClr val="tx2"/>
            </a:solidFill>
          </a:endParaRPr>
        </a:p>
      </dgm:t>
    </dgm:pt>
    <dgm:pt modelId="{C4CC0015-9992-47BC-BBD2-F3CCB2825B2E}" type="parTrans" cxnId="{217BF6A5-D326-4778-A927-4D7084F7D716}">
      <dgm:prSet/>
      <dgm:spPr/>
      <dgm:t>
        <a:bodyPr/>
        <a:lstStyle/>
        <a:p>
          <a:endParaRPr lang="en-US" sz="2000"/>
        </a:p>
      </dgm:t>
    </dgm:pt>
    <dgm:pt modelId="{5771C161-2B42-473F-BD46-F2A34FFFDE8F}" type="sibTrans" cxnId="{217BF6A5-D326-4778-A927-4D7084F7D716}">
      <dgm:prSet/>
      <dgm:spPr/>
      <dgm:t>
        <a:bodyPr/>
        <a:lstStyle/>
        <a:p>
          <a:endParaRPr lang="en-US" sz="2000"/>
        </a:p>
      </dgm:t>
    </dgm:pt>
    <dgm:pt modelId="{7D7777D3-8E04-467E-BF95-D05FDB0B1E73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da-DK" sz="2000">
              <a:solidFill>
                <a:schemeClr val="tx2"/>
              </a:solidFill>
            </a:rPr>
            <a:t>ikke fjerner helhedsvurderingen</a:t>
          </a:r>
          <a:endParaRPr lang="en-US" sz="2000">
            <a:solidFill>
              <a:schemeClr val="tx2"/>
            </a:solidFill>
          </a:endParaRPr>
        </a:p>
      </dgm:t>
    </dgm:pt>
    <dgm:pt modelId="{0319E459-E03C-4C63-9B9E-E89488B3AA93}" type="parTrans" cxnId="{38696939-A9F7-4BA3-BF8D-A9EE50E519F4}">
      <dgm:prSet/>
      <dgm:spPr/>
      <dgm:t>
        <a:bodyPr/>
        <a:lstStyle/>
        <a:p>
          <a:endParaRPr lang="en-US" sz="2000"/>
        </a:p>
      </dgm:t>
    </dgm:pt>
    <dgm:pt modelId="{7FE9D9F2-BBCB-46A1-8F06-9FFB077AA2C6}" type="sibTrans" cxnId="{38696939-A9F7-4BA3-BF8D-A9EE50E519F4}">
      <dgm:prSet/>
      <dgm:spPr/>
      <dgm:t>
        <a:bodyPr/>
        <a:lstStyle/>
        <a:p>
          <a:endParaRPr lang="en-US" sz="2000"/>
        </a:p>
      </dgm:t>
    </dgm:pt>
    <dgm:pt modelId="{86B17846-5FB0-4F71-B74A-65B5F758D8A7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da-DK" sz="2000" dirty="0">
              <a:solidFill>
                <a:schemeClr val="tx2"/>
              </a:solidFill>
            </a:rPr>
            <a:t>men </a:t>
          </a:r>
          <a:r>
            <a:rPr lang="da-DK" sz="2000" b="1" dirty="0">
              <a:solidFill>
                <a:schemeClr val="tx2"/>
              </a:solidFill>
            </a:rPr>
            <a:t>gør forståelse </a:t>
          </a:r>
          <a:r>
            <a:rPr lang="da-DK" sz="2000" b="1" u="sng" dirty="0">
              <a:solidFill>
                <a:schemeClr val="tx2"/>
              </a:solidFill>
            </a:rPr>
            <a:t>mere</a:t>
          </a:r>
          <a:r>
            <a:rPr lang="da-DK" sz="2000" b="1" dirty="0">
              <a:solidFill>
                <a:schemeClr val="tx2"/>
              </a:solidFill>
            </a:rPr>
            <a:t> synlig</a:t>
          </a:r>
          <a:endParaRPr lang="en-US" sz="2000" dirty="0">
            <a:solidFill>
              <a:schemeClr val="tx2"/>
            </a:solidFill>
          </a:endParaRPr>
        </a:p>
      </dgm:t>
    </dgm:pt>
    <dgm:pt modelId="{866225DE-6EB3-489C-91BD-A5D627D3C944}" type="parTrans" cxnId="{4CC07380-5E74-4030-9C06-4E193C41597F}">
      <dgm:prSet/>
      <dgm:spPr/>
      <dgm:t>
        <a:bodyPr/>
        <a:lstStyle/>
        <a:p>
          <a:endParaRPr lang="en-US" sz="2000"/>
        </a:p>
      </dgm:t>
    </dgm:pt>
    <dgm:pt modelId="{8417B888-993C-4B34-8C6A-0FFF8A49331C}" type="sibTrans" cxnId="{4CC07380-5E74-4030-9C06-4E193C41597F}">
      <dgm:prSet/>
      <dgm:spPr/>
      <dgm:t>
        <a:bodyPr/>
        <a:lstStyle/>
        <a:p>
          <a:endParaRPr lang="en-US" sz="2000"/>
        </a:p>
      </dgm:t>
    </dgm:pt>
    <dgm:pt modelId="{56097BF5-BEFF-451E-A12D-C2D00412AD2A}" type="pres">
      <dgm:prSet presAssocID="{F4EAE1F9-09C4-4B3F-9A59-5806C8EFE760}" presName="Name0" presStyleCnt="0">
        <dgm:presLayoutVars>
          <dgm:dir/>
          <dgm:animLvl val="lvl"/>
          <dgm:resizeHandles val="exact"/>
        </dgm:presLayoutVars>
      </dgm:prSet>
      <dgm:spPr/>
    </dgm:pt>
    <dgm:pt modelId="{568BDE0B-BDB6-43FB-AEB2-09D929C7D929}" type="pres">
      <dgm:prSet presAssocID="{EE042B78-BDEB-4F4A-A813-60371E41EB14}" presName="linNode" presStyleCnt="0"/>
      <dgm:spPr/>
    </dgm:pt>
    <dgm:pt modelId="{E15EF2BC-ED67-4E0B-85A1-F7B19B9FBB19}" type="pres">
      <dgm:prSet presAssocID="{EE042B78-BDEB-4F4A-A813-60371E41EB1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A503EE3-0041-42A0-A005-C62B11FA21D9}" type="pres">
      <dgm:prSet presAssocID="{EE042B78-BDEB-4F4A-A813-60371E41EB14}" presName="descendantText" presStyleLbl="alignAccFollowNode1" presStyleIdx="0" presStyleCnt="2">
        <dgm:presLayoutVars>
          <dgm:bulletEnabled val="1"/>
        </dgm:presLayoutVars>
      </dgm:prSet>
      <dgm:spPr/>
    </dgm:pt>
    <dgm:pt modelId="{B5F5DF5F-3942-4D82-86EB-EE724A0E5417}" type="pres">
      <dgm:prSet presAssocID="{3401E9D7-7475-41F8-B8B3-A702963E1C09}" presName="sp" presStyleCnt="0"/>
      <dgm:spPr/>
    </dgm:pt>
    <dgm:pt modelId="{74247A88-AFDB-4057-B50B-7114BEEC8B09}" type="pres">
      <dgm:prSet presAssocID="{FE4930DC-0BE6-4FC1-A1CF-DC08B09AFF4D}" presName="linNode" presStyleCnt="0"/>
      <dgm:spPr/>
    </dgm:pt>
    <dgm:pt modelId="{DCBA8191-5258-4C17-B1E2-6AABFB14083C}" type="pres">
      <dgm:prSet presAssocID="{FE4930DC-0BE6-4FC1-A1CF-DC08B09AFF4D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D93CE4F7-D0D8-4C07-9DE7-C26C308BCBBF}" type="pres">
      <dgm:prSet presAssocID="{FE4930DC-0BE6-4FC1-A1CF-DC08B09AFF4D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5D1B0400-7394-418A-9C52-2EDAC01AD326}" type="presOf" srcId="{FE4930DC-0BE6-4FC1-A1CF-DC08B09AFF4D}" destId="{DCBA8191-5258-4C17-B1E2-6AABFB14083C}" srcOrd="0" destOrd="0" presId="urn:microsoft.com/office/officeart/2005/8/layout/vList5"/>
    <dgm:cxn modelId="{5A9B9C03-3B52-4B85-A3D6-6DB66918DE8A}" srcId="{F4EAE1F9-09C4-4B3F-9A59-5806C8EFE760}" destId="{EE042B78-BDEB-4F4A-A813-60371E41EB14}" srcOrd="0" destOrd="0" parTransId="{1324A6A1-41F6-4616-A064-2A358879CCCB}" sibTransId="{3401E9D7-7475-41F8-B8B3-A702963E1C09}"/>
    <dgm:cxn modelId="{5E465331-ABB3-4CF0-A4DD-C98002D775CC}" type="presOf" srcId="{F4EAE1F9-09C4-4B3F-9A59-5806C8EFE760}" destId="{56097BF5-BEFF-451E-A12D-C2D00412AD2A}" srcOrd="0" destOrd="0" presId="urn:microsoft.com/office/officeart/2005/8/layout/vList5"/>
    <dgm:cxn modelId="{38696939-A9F7-4BA3-BF8D-A9EE50E519F4}" srcId="{FE4930DC-0BE6-4FC1-A1CF-DC08B09AFF4D}" destId="{7D7777D3-8E04-467E-BF95-D05FDB0B1E73}" srcOrd="1" destOrd="0" parTransId="{0319E459-E03C-4C63-9B9E-E89488B3AA93}" sibTransId="{7FE9D9F2-BBCB-46A1-8F06-9FFB077AA2C6}"/>
    <dgm:cxn modelId="{9AE58344-51A3-4081-8E89-71536AC6633C}" type="presOf" srcId="{3C881CE5-1E96-48AE-8D62-625C984D1F40}" destId="{5A503EE3-0041-42A0-A005-C62B11FA21D9}" srcOrd="0" destOrd="0" presId="urn:microsoft.com/office/officeart/2005/8/layout/vList5"/>
    <dgm:cxn modelId="{CAFC506B-9091-41B1-8BAB-0CEB38D2C3BA}" type="presOf" srcId="{87A4A0AC-85FB-4067-863B-632ECD9992B2}" destId="{5A503EE3-0041-42A0-A005-C62B11FA21D9}" srcOrd="0" destOrd="2" presId="urn:microsoft.com/office/officeart/2005/8/layout/vList5"/>
    <dgm:cxn modelId="{F0F9BF4B-7D0A-4017-9C23-927CE56F317E}" srcId="{EE042B78-BDEB-4F4A-A813-60371E41EB14}" destId="{3C881CE5-1E96-48AE-8D62-625C984D1F40}" srcOrd="0" destOrd="0" parTransId="{71D34E20-7E60-4D9F-B054-BEBB09C12D00}" sibTransId="{E9F246D1-574D-49C7-B082-D45E43290E61}"/>
    <dgm:cxn modelId="{CD0D494D-D829-493A-81FA-CBBB3ECB0CBE}" type="presOf" srcId="{EE042B78-BDEB-4F4A-A813-60371E41EB14}" destId="{E15EF2BC-ED67-4E0B-85A1-F7B19B9FBB19}" srcOrd="0" destOrd="0" presId="urn:microsoft.com/office/officeart/2005/8/layout/vList5"/>
    <dgm:cxn modelId="{27E55A6F-9998-43EF-AA45-394B7CB2C0B6}" srcId="{EE042B78-BDEB-4F4A-A813-60371E41EB14}" destId="{87A4A0AC-85FB-4067-863B-632ECD9992B2}" srcOrd="2" destOrd="0" parTransId="{09955A53-F71D-4C9C-A904-25637EC58897}" sibTransId="{B84CC166-9FEB-4FF3-9123-53533A00BE7C}"/>
    <dgm:cxn modelId="{4CC07380-5E74-4030-9C06-4E193C41597F}" srcId="{FE4930DC-0BE6-4FC1-A1CF-DC08B09AFF4D}" destId="{86B17846-5FB0-4F71-B74A-65B5F758D8A7}" srcOrd="2" destOrd="0" parTransId="{866225DE-6EB3-489C-91BD-A5D627D3C944}" sibTransId="{8417B888-993C-4B34-8C6A-0FFF8A49331C}"/>
    <dgm:cxn modelId="{217BF6A5-D326-4778-A927-4D7084F7D716}" srcId="{FE4930DC-0BE6-4FC1-A1CF-DC08B09AFF4D}" destId="{5D2FB953-502B-47D8-A1F1-19385F7BED80}" srcOrd="0" destOrd="0" parTransId="{C4CC0015-9992-47BC-BBD2-F3CCB2825B2E}" sibTransId="{5771C161-2B42-473F-BD46-F2A34FFFDE8F}"/>
    <dgm:cxn modelId="{4C14B2AB-EB6E-49BA-8742-E1606F15A851}" type="presOf" srcId="{7D7777D3-8E04-467E-BF95-D05FDB0B1E73}" destId="{D93CE4F7-D0D8-4C07-9DE7-C26C308BCBBF}" srcOrd="0" destOrd="1" presId="urn:microsoft.com/office/officeart/2005/8/layout/vList5"/>
    <dgm:cxn modelId="{65B37FC0-2F63-4B0B-A0BE-D4683D6B28CD}" srcId="{F4EAE1F9-09C4-4B3F-9A59-5806C8EFE760}" destId="{FE4930DC-0BE6-4FC1-A1CF-DC08B09AFF4D}" srcOrd="1" destOrd="0" parTransId="{C029D0B4-A854-4C8F-812E-2AC7688588C7}" sibTransId="{EA080CA6-1901-4004-960D-1CDEF7323295}"/>
    <dgm:cxn modelId="{CE88E1D2-8B4E-4743-A36F-2BA2A40EF1F5}" srcId="{EE042B78-BDEB-4F4A-A813-60371E41EB14}" destId="{43154341-11A3-4895-8CDF-81DB62487AE6}" srcOrd="1" destOrd="0" parTransId="{C237BCCD-B8CE-4545-9301-5429DD395326}" sibTransId="{3D0E8FE2-1DDB-401A-9F1C-DDCF4274BC8B}"/>
    <dgm:cxn modelId="{BC98E9D5-22E6-4661-A3E2-7FF5B7A9D5D1}" type="presOf" srcId="{86B17846-5FB0-4F71-B74A-65B5F758D8A7}" destId="{D93CE4F7-D0D8-4C07-9DE7-C26C308BCBBF}" srcOrd="0" destOrd="2" presId="urn:microsoft.com/office/officeart/2005/8/layout/vList5"/>
    <dgm:cxn modelId="{46E155E2-72B2-4283-A3EB-B207E08E0A3D}" type="presOf" srcId="{43154341-11A3-4895-8CDF-81DB62487AE6}" destId="{5A503EE3-0041-42A0-A005-C62B11FA21D9}" srcOrd="0" destOrd="1" presId="urn:microsoft.com/office/officeart/2005/8/layout/vList5"/>
    <dgm:cxn modelId="{30F0DAE8-4ADB-4991-A3AB-ACF78D545AC3}" type="presOf" srcId="{5D2FB953-502B-47D8-A1F1-19385F7BED80}" destId="{D93CE4F7-D0D8-4C07-9DE7-C26C308BCBBF}" srcOrd="0" destOrd="0" presId="urn:microsoft.com/office/officeart/2005/8/layout/vList5"/>
    <dgm:cxn modelId="{608CB994-0C55-4501-A185-7E893D5455DF}" type="presParOf" srcId="{56097BF5-BEFF-451E-A12D-C2D00412AD2A}" destId="{568BDE0B-BDB6-43FB-AEB2-09D929C7D929}" srcOrd="0" destOrd="0" presId="urn:microsoft.com/office/officeart/2005/8/layout/vList5"/>
    <dgm:cxn modelId="{09C349E1-0C67-4E6D-8C2C-4CC6D1B8811F}" type="presParOf" srcId="{568BDE0B-BDB6-43FB-AEB2-09D929C7D929}" destId="{E15EF2BC-ED67-4E0B-85A1-F7B19B9FBB19}" srcOrd="0" destOrd="0" presId="urn:microsoft.com/office/officeart/2005/8/layout/vList5"/>
    <dgm:cxn modelId="{9AACE14A-F86C-4E40-9A5C-59840FD0EBF2}" type="presParOf" srcId="{568BDE0B-BDB6-43FB-AEB2-09D929C7D929}" destId="{5A503EE3-0041-42A0-A005-C62B11FA21D9}" srcOrd="1" destOrd="0" presId="urn:microsoft.com/office/officeart/2005/8/layout/vList5"/>
    <dgm:cxn modelId="{E506C4C2-87E1-4EB2-90FA-EA4655262A69}" type="presParOf" srcId="{56097BF5-BEFF-451E-A12D-C2D00412AD2A}" destId="{B5F5DF5F-3942-4D82-86EB-EE724A0E5417}" srcOrd="1" destOrd="0" presId="urn:microsoft.com/office/officeart/2005/8/layout/vList5"/>
    <dgm:cxn modelId="{A98A812C-881C-4B50-BC66-2912A3AACEC5}" type="presParOf" srcId="{56097BF5-BEFF-451E-A12D-C2D00412AD2A}" destId="{74247A88-AFDB-4057-B50B-7114BEEC8B09}" srcOrd="2" destOrd="0" presId="urn:microsoft.com/office/officeart/2005/8/layout/vList5"/>
    <dgm:cxn modelId="{37927F3B-A569-47D7-9FAB-2B1CCF22B275}" type="presParOf" srcId="{74247A88-AFDB-4057-B50B-7114BEEC8B09}" destId="{DCBA8191-5258-4C17-B1E2-6AABFB14083C}" srcOrd="0" destOrd="0" presId="urn:microsoft.com/office/officeart/2005/8/layout/vList5"/>
    <dgm:cxn modelId="{6E5FBAD6-A999-4C1C-A975-ADCB857EFB8C}" type="presParOf" srcId="{74247A88-AFDB-4057-B50B-7114BEEC8B09}" destId="{D93CE4F7-D0D8-4C07-9DE7-C26C308BCBB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9EBBB0-4ECA-4001-AF24-88161866168B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da-DK"/>
        </a:p>
      </dgm:t>
    </dgm:pt>
    <dgm:pt modelId="{BD27B495-A473-4C66-990F-ED4AF1161D27}">
      <dgm:prSet phldrT="[Tekst]"/>
      <dgm:spPr/>
      <dgm:t>
        <a:bodyPr/>
        <a:lstStyle/>
        <a:p>
          <a:r>
            <a:rPr lang="da-DK" dirty="0"/>
            <a:t>FØR</a:t>
          </a:r>
        </a:p>
      </dgm:t>
    </dgm:pt>
    <dgm:pt modelId="{64C017FB-DA5C-4D34-BB6A-F80B0B7D612C}" type="parTrans" cxnId="{97637B5D-ECF7-4B1F-9C52-581072B3EFF9}">
      <dgm:prSet/>
      <dgm:spPr/>
      <dgm:t>
        <a:bodyPr/>
        <a:lstStyle/>
        <a:p>
          <a:endParaRPr lang="da-DK"/>
        </a:p>
      </dgm:t>
    </dgm:pt>
    <dgm:pt modelId="{06BDCB16-BB96-4249-A0AB-68F8617106B8}" type="sibTrans" cxnId="{97637B5D-ECF7-4B1F-9C52-581072B3EFF9}">
      <dgm:prSet/>
      <dgm:spPr/>
      <dgm:t>
        <a:bodyPr/>
        <a:lstStyle/>
        <a:p>
          <a:endParaRPr lang="da-DK"/>
        </a:p>
      </dgm:t>
    </dgm:pt>
    <dgm:pt modelId="{038D57A7-577C-42F3-88FB-8062D8C291E0}">
      <dgm:prSet phldrT="[Tekst]"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>
              <a:solidFill>
                <a:schemeClr val="tx2"/>
              </a:solidFill>
            </a:rPr>
            <a:t>Virker programmet?</a:t>
          </a:r>
        </a:p>
      </dgm:t>
    </dgm:pt>
    <dgm:pt modelId="{B366874F-4309-4FA4-8921-308DDDC88790}" type="parTrans" cxnId="{7F95D8A8-87F4-40EF-8973-9DCBB2807D0D}">
      <dgm:prSet/>
      <dgm:spPr/>
      <dgm:t>
        <a:bodyPr/>
        <a:lstStyle/>
        <a:p>
          <a:endParaRPr lang="da-DK"/>
        </a:p>
      </dgm:t>
    </dgm:pt>
    <dgm:pt modelId="{21C0BBF7-0506-4D64-8DF3-4EF5AD9DA8E7}" type="sibTrans" cxnId="{7F95D8A8-87F4-40EF-8973-9DCBB2807D0D}">
      <dgm:prSet/>
      <dgm:spPr/>
      <dgm:t>
        <a:bodyPr/>
        <a:lstStyle/>
        <a:p>
          <a:endParaRPr lang="da-DK"/>
        </a:p>
      </dgm:t>
    </dgm:pt>
    <dgm:pt modelId="{26C8DED5-3FBF-4C75-B233-3BCF1BB38F39}">
      <dgm:prSet phldrT="[Tekst]"/>
      <dgm:spPr/>
      <dgm:t>
        <a:bodyPr/>
        <a:lstStyle/>
        <a:p>
          <a:r>
            <a:rPr lang="da-DK" dirty="0"/>
            <a:t>NU</a:t>
          </a:r>
        </a:p>
      </dgm:t>
    </dgm:pt>
    <dgm:pt modelId="{68DE1E3D-BAC2-45C0-B9B9-BA87969ABC37}" type="parTrans" cxnId="{2C45A343-25C7-40EE-AE9D-C37E1D385D88}">
      <dgm:prSet/>
      <dgm:spPr/>
      <dgm:t>
        <a:bodyPr/>
        <a:lstStyle/>
        <a:p>
          <a:endParaRPr lang="da-DK"/>
        </a:p>
      </dgm:t>
    </dgm:pt>
    <dgm:pt modelId="{3A048A44-57ED-4836-9607-FBFEDF9619DF}" type="sibTrans" cxnId="{2C45A343-25C7-40EE-AE9D-C37E1D385D88}">
      <dgm:prSet/>
      <dgm:spPr/>
      <dgm:t>
        <a:bodyPr/>
        <a:lstStyle/>
        <a:p>
          <a:endParaRPr lang="da-DK"/>
        </a:p>
      </dgm:t>
    </dgm:pt>
    <dgm:pt modelId="{0F53E672-AF0D-479D-936A-ED52BDC84068}">
      <dgm:prSet phldrT="[Tekst]"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>
              <a:solidFill>
                <a:schemeClr val="tx2"/>
              </a:solidFill>
            </a:rPr>
            <a:t>Kan eleven forklare sammenhængen?</a:t>
          </a:r>
        </a:p>
      </dgm:t>
    </dgm:pt>
    <dgm:pt modelId="{1578CA04-D07D-4D2C-963B-D0E89BA1F959}" type="parTrans" cxnId="{7450F31E-F8F4-4D2E-9844-6550CF535548}">
      <dgm:prSet/>
      <dgm:spPr/>
      <dgm:t>
        <a:bodyPr/>
        <a:lstStyle/>
        <a:p>
          <a:endParaRPr lang="da-DK"/>
        </a:p>
      </dgm:t>
    </dgm:pt>
    <dgm:pt modelId="{8F2738C6-70DB-47F4-9057-883FD46D230D}" type="sibTrans" cxnId="{7450F31E-F8F4-4D2E-9844-6550CF535548}">
      <dgm:prSet/>
      <dgm:spPr/>
      <dgm:t>
        <a:bodyPr/>
        <a:lstStyle/>
        <a:p>
          <a:endParaRPr lang="en-US"/>
        </a:p>
      </dgm:t>
    </dgm:pt>
    <dgm:pt modelId="{A0D43445-0657-49D0-965D-0F642C3BDBA8}">
      <dgm:prSet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>
              <a:solidFill>
                <a:schemeClr val="tx2"/>
              </a:solidFill>
            </a:rPr>
            <a:t>Kan eleven begrunde sine designvalg?</a:t>
          </a:r>
        </a:p>
      </dgm:t>
    </dgm:pt>
    <dgm:pt modelId="{2A3C59EC-AA6E-4C34-A4B7-7D63A84F91E9}" type="parTrans" cxnId="{92D561CB-1246-4FCE-AE22-B2F9048F479B}">
      <dgm:prSet/>
      <dgm:spPr/>
      <dgm:t>
        <a:bodyPr/>
        <a:lstStyle/>
        <a:p>
          <a:endParaRPr lang="da-DK"/>
        </a:p>
      </dgm:t>
    </dgm:pt>
    <dgm:pt modelId="{8B74B05C-E424-4410-A4EB-63ECD4A1B95D}" type="sibTrans" cxnId="{92D561CB-1246-4FCE-AE22-B2F9048F479B}">
      <dgm:prSet/>
      <dgm:spPr/>
      <dgm:t>
        <a:bodyPr/>
        <a:lstStyle/>
        <a:p>
          <a:endParaRPr lang="da-DK"/>
        </a:p>
      </dgm:t>
    </dgm:pt>
    <dgm:pt modelId="{B2F16051-AA48-4940-9618-0142BD3DC68A}">
      <dgm:prSet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>
              <a:solidFill>
                <a:schemeClr val="tx2"/>
              </a:solidFill>
            </a:rPr>
            <a:t>Kan eleven forudsige konsekvenser af ændringer?</a:t>
          </a:r>
        </a:p>
      </dgm:t>
    </dgm:pt>
    <dgm:pt modelId="{5C50E4FA-3F7F-4232-BBE6-1F8C9F782562}" type="parTrans" cxnId="{FF5835DF-A2BE-4CAC-95EA-5CDE1FDC6834}">
      <dgm:prSet/>
      <dgm:spPr/>
      <dgm:t>
        <a:bodyPr/>
        <a:lstStyle/>
        <a:p>
          <a:endParaRPr lang="da-DK"/>
        </a:p>
      </dgm:t>
    </dgm:pt>
    <dgm:pt modelId="{E9B8735F-7110-4000-80AB-6D0AF8D95A9B}" type="sibTrans" cxnId="{FF5835DF-A2BE-4CAC-95EA-5CDE1FDC6834}">
      <dgm:prSet/>
      <dgm:spPr/>
      <dgm:t>
        <a:bodyPr/>
        <a:lstStyle/>
        <a:p>
          <a:endParaRPr lang="da-DK"/>
        </a:p>
      </dgm:t>
    </dgm:pt>
    <dgm:pt modelId="{50D1DA3C-F987-4D33-B270-72912CCF9E64}">
      <dgm:prSet phldrT="[Tekst]"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>
              <a:solidFill>
                <a:schemeClr val="tx2"/>
              </a:solidFill>
            </a:rPr>
            <a:t>Er strukturen pæn?</a:t>
          </a:r>
        </a:p>
      </dgm:t>
    </dgm:pt>
    <dgm:pt modelId="{754B65D7-9EBD-4CE1-8914-6EB505E8224E}" type="parTrans" cxnId="{B01E9BAA-A487-42E8-9DFA-8930E2E5CD64}">
      <dgm:prSet/>
      <dgm:spPr/>
      <dgm:t>
        <a:bodyPr/>
        <a:lstStyle/>
        <a:p>
          <a:endParaRPr lang="da-DK"/>
        </a:p>
      </dgm:t>
    </dgm:pt>
    <dgm:pt modelId="{159E1A27-F11D-4857-8F6F-EF5E0FEA9E00}" type="sibTrans" cxnId="{B01E9BAA-A487-42E8-9DFA-8930E2E5CD64}">
      <dgm:prSet/>
      <dgm:spPr/>
      <dgm:t>
        <a:bodyPr/>
        <a:lstStyle/>
        <a:p>
          <a:endParaRPr lang="da-DK"/>
        </a:p>
      </dgm:t>
    </dgm:pt>
    <dgm:pt modelId="{51323F9E-0214-48FE-9481-AA479DC48403}">
      <dgm:prSet phldrT="[Tekst]"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>
              <a:solidFill>
                <a:schemeClr val="tx2"/>
              </a:solidFill>
            </a:rPr>
            <a:t>Er kravene opfyldt?</a:t>
          </a:r>
        </a:p>
      </dgm:t>
    </dgm:pt>
    <dgm:pt modelId="{9D01403F-84F1-48E9-A604-3A95792DC10C}" type="parTrans" cxnId="{A0C44AF4-6D50-4157-AEF6-3C984E627254}">
      <dgm:prSet/>
      <dgm:spPr/>
      <dgm:t>
        <a:bodyPr/>
        <a:lstStyle/>
        <a:p>
          <a:endParaRPr lang="da-DK"/>
        </a:p>
      </dgm:t>
    </dgm:pt>
    <dgm:pt modelId="{487CE583-113B-495B-8630-83E961636DAF}" type="sibTrans" cxnId="{A0C44AF4-6D50-4157-AEF6-3C984E627254}">
      <dgm:prSet/>
      <dgm:spPr/>
      <dgm:t>
        <a:bodyPr/>
        <a:lstStyle/>
        <a:p>
          <a:endParaRPr lang="da-DK"/>
        </a:p>
      </dgm:t>
    </dgm:pt>
    <dgm:pt modelId="{C9EB68C9-4A5E-4911-BAA7-D6C400EF45C0}">
      <dgm:prSet phldrT="[Tekst]"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>
              <a:solidFill>
                <a:schemeClr val="tx2"/>
              </a:solidFill>
            </a:rPr>
            <a:t>Er der kommentarer?</a:t>
          </a:r>
        </a:p>
      </dgm:t>
    </dgm:pt>
    <dgm:pt modelId="{599FE58F-1015-494A-92AF-65DAE117F523}" type="parTrans" cxnId="{243105B7-4190-43E0-AA60-1E4E180F800A}">
      <dgm:prSet/>
      <dgm:spPr/>
      <dgm:t>
        <a:bodyPr/>
        <a:lstStyle/>
        <a:p>
          <a:endParaRPr lang="da-DK"/>
        </a:p>
      </dgm:t>
    </dgm:pt>
    <dgm:pt modelId="{719E57C3-C3DF-4796-B16B-CBA91F997997}" type="sibTrans" cxnId="{243105B7-4190-43E0-AA60-1E4E180F800A}">
      <dgm:prSet/>
      <dgm:spPr/>
      <dgm:t>
        <a:bodyPr/>
        <a:lstStyle/>
        <a:p>
          <a:endParaRPr lang="da-DK"/>
        </a:p>
      </dgm:t>
    </dgm:pt>
    <dgm:pt modelId="{6D8C1969-3EA3-4EC3-94BB-3DD0932982EF}">
      <dgm:prSet phldrT="[Tekst]"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 err="1">
              <a:solidFill>
                <a:schemeClr val="tx2"/>
              </a:solidFill>
            </a:rPr>
            <a:t>Etc</a:t>
          </a:r>
          <a:r>
            <a:rPr lang="da-DK" dirty="0">
              <a:solidFill>
                <a:schemeClr val="tx2"/>
              </a:solidFill>
            </a:rPr>
            <a:t>…</a:t>
          </a:r>
        </a:p>
      </dgm:t>
    </dgm:pt>
    <dgm:pt modelId="{064F83E7-4E4F-4052-9584-EFC089CD5172}" type="parTrans" cxnId="{9727A029-F09E-4A72-8D5D-CEBF44C63715}">
      <dgm:prSet/>
      <dgm:spPr/>
      <dgm:t>
        <a:bodyPr/>
        <a:lstStyle/>
        <a:p>
          <a:endParaRPr lang="da-DK"/>
        </a:p>
      </dgm:t>
    </dgm:pt>
    <dgm:pt modelId="{0E80C8D9-6D04-42AA-8001-99EEC0CFF7FD}" type="sibTrans" cxnId="{9727A029-F09E-4A72-8D5D-CEBF44C63715}">
      <dgm:prSet/>
      <dgm:spPr/>
      <dgm:t>
        <a:bodyPr/>
        <a:lstStyle/>
        <a:p>
          <a:endParaRPr lang="da-DK"/>
        </a:p>
      </dgm:t>
    </dgm:pt>
    <dgm:pt modelId="{BC211AE9-46CA-477D-BE3E-5CB26F621326}">
      <dgm:prSet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pPr>
            <a:buNone/>
          </a:pPr>
          <a:r>
            <a:rPr lang="da-DK" dirty="0">
              <a:solidFill>
                <a:schemeClr val="tx2"/>
              </a:solidFill>
            </a:rPr>
            <a:t>Kan eleven generalisere løsningen?</a:t>
          </a:r>
        </a:p>
      </dgm:t>
    </dgm:pt>
    <dgm:pt modelId="{28AB55CF-D94F-48A6-820B-32677C01DEB0}" type="parTrans" cxnId="{F977A54F-EA2E-4FAA-80D0-0AF8FFC90DF5}">
      <dgm:prSet/>
      <dgm:spPr/>
      <dgm:t>
        <a:bodyPr/>
        <a:lstStyle/>
        <a:p>
          <a:endParaRPr lang="da-DK"/>
        </a:p>
      </dgm:t>
    </dgm:pt>
    <dgm:pt modelId="{25320E3E-4A30-49F8-8AEE-A1BA170E304C}" type="sibTrans" cxnId="{F977A54F-EA2E-4FAA-80D0-0AF8FFC90DF5}">
      <dgm:prSet/>
      <dgm:spPr/>
      <dgm:t>
        <a:bodyPr/>
        <a:lstStyle/>
        <a:p>
          <a:endParaRPr lang="da-DK"/>
        </a:p>
      </dgm:t>
    </dgm:pt>
    <dgm:pt modelId="{DE17D141-AA10-417D-A29B-1AA3646AA472}" type="pres">
      <dgm:prSet presAssocID="{BF9EBBB0-4ECA-4001-AF24-88161866168B}" presName="linear" presStyleCnt="0">
        <dgm:presLayoutVars>
          <dgm:dir/>
          <dgm:animLvl val="lvl"/>
          <dgm:resizeHandles val="exact"/>
        </dgm:presLayoutVars>
      </dgm:prSet>
      <dgm:spPr/>
    </dgm:pt>
    <dgm:pt modelId="{D224F7A6-4BB2-4377-A59C-7C32649D40C4}" type="pres">
      <dgm:prSet presAssocID="{BD27B495-A473-4C66-990F-ED4AF1161D27}" presName="parentLin" presStyleCnt="0"/>
      <dgm:spPr/>
    </dgm:pt>
    <dgm:pt modelId="{B5340D09-457E-44A4-88D1-4B6E74DC7CB7}" type="pres">
      <dgm:prSet presAssocID="{BD27B495-A473-4C66-990F-ED4AF1161D27}" presName="parentLeftMargin" presStyleLbl="node1" presStyleIdx="0" presStyleCnt="2"/>
      <dgm:spPr/>
    </dgm:pt>
    <dgm:pt modelId="{C3FF4731-D617-433D-BA4F-8A308703DF31}" type="pres">
      <dgm:prSet presAssocID="{BD27B495-A473-4C66-990F-ED4AF1161D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038EFAE-0925-477A-A999-887364230D58}" type="pres">
      <dgm:prSet presAssocID="{BD27B495-A473-4C66-990F-ED4AF1161D27}" presName="negativeSpace" presStyleCnt="0"/>
      <dgm:spPr/>
    </dgm:pt>
    <dgm:pt modelId="{ECFF8A32-40BD-4B4E-9479-A962DDBDFC29}" type="pres">
      <dgm:prSet presAssocID="{BD27B495-A473-4C66-990F-ED4AF1161D27}" presName="childText" presStyleLbl="conFgAcc1" presStyleIdx="0" presStyleCnt="2">
        <dgm:presLayoutVars>
          <dgm:bulletEnabled val="1"/>
        </dgm:presLayoutVars>
      </dgm:prSet>
      <dgm:spPr/>
    </dgm:pt>
    <dgm:pt modelId="{557DD40F-D7FF-41A1-A6EE-D8ABED5D3BB3}" type="pres">
      <dgm:prSet presAssocID="{06BDCB16-BB96-4249-A0AB-68F8617106B8}" presName="spaceBetweenRectangles" presStyleCnt="0"/>
      <dgm:spPr/>
    </dgm:pt>
    <dgm:pt modelId="{4151EE36-B448-4BBF-8872-BF36FF478D7B}" type="pres">
      <dgm:prSet presAssocID="{26C8DED5-3FBF-4C75-B233-3BCF1BB38F39}" presName="parentLin" presStyleCnt="0"/>
      <dgm:spPr/>
    </dgm:pt>
    <dgm:pt modelId="{69ECA5D6-90FE-43B8-85BA-E8CBD008BADC}" type="pres">
      <dgm:prSet presAssocID="{26C8DED5-3FBF-4C75-B233-3BCF1BB38F39}" presName="parentLeftMargin" presStyleLbl="node1" presStyleIdx="0" presStyleCnt="2"/>
      <dgm:spPr/>
    </dgm:pt>
    <dgm:pt modelId="{57883F9F-79A0-4692-9C18-54A54E588047}" type="pres">
      <dgm:prSet presAssocID="{26C8DED5-3FBF-4C75-B233-3BCF1BB38F3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B39C0E-5CD7-4AE9-AB6E-4493992082DD}" type="pres">
      <dgm:prSet presAssocID="{26C8DED5-3FBF-4C75-B233-3BCF1BB38F39}" presName="negativeSpace" presStyleCnt="0"/>
      <dgm:spPr/>
    </dgm:pt>
    <dgm:pt modelId="{1C090E51-6497-4426-8E5A-EB933962F510}" type="pres">
      <dgm:prSet presAssocID="{26C8DED5-3FBF-4C75-B233-3BCF1BB38F3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27A450E-B5B7-42E2-A3C6-C34A62F139AE}" type="presOf" srcId="{C9EB68C9-4A5E-4911-BAA7-D6C400EF45C0}" destId="{ECFF8A32-40BD-4B4E-9479-A962DDBDFC29}" srcOrd="0" destOrd="3" presId="urn:microsoft.com/office/officeart/2005/8/layout/list1"/>
    <dgm:cxn modelId="{7450F31E-F8F4-4D2E-9844-6550CF535548}" srcId="{26C8DED5-3FBF-4C75-B233-3BCF1BB38F39}" destId="{0F53E672-AF0D-479D-936A-ED52BDC84068}" srcOrd="0" destOrd="0" parTransId="{1578CA04-D07D-4D2C-963B-D0E89BA1F959}" sibTransId="{8F2738C6-70DB-47F4-9057-883FD46D230D}"/>
    <dgm:cxn modelId="{00072C23-ED07-41D3-9679-E7776F27F81C}" type="presOf" srcId="{BF9EBBB0-4ECA-4001-AF24-88161866168B}" destId="{DE17D141-AA10-417D-A29B-1AA3646AA472}" srcOrd="0" destOrd="0" presId="urn:microsoft.com/office/officeart/2005/8/layout/list1"/>
    <dgm:cxn modelId="{9727A029-F09E-4A72-8D5D-CEBF44C63715}" srcId="{BD27B495-A473-4C66-990F-ED4AF1161D27}" destId="{6D8C1969-3EA3-4EC3-94BB-3DD0932982EF}" srcOrd="4" destOrd="0" parTransId="{064F83E7-4E4F-4052-9584-EFC089CD5172}" sibTransId="{0E80C8D9-6D04-42AA-8001-99EEC0CFF7FD}"/>
    <dgm:cxn modelId="{59309038-0C1F-48C3-82E9-B752DCCC9C8A}" type="presOf" srcId="{BD27B495-A473-4C66-990F-ED4AF1161D27}" destId="{B5340D09-457E-44A4-88D1-4B6E74DC7CB7}" srcOrd="0" destOrd="0" presId="urn:microsoft.com/office/officeart/2005/8/layout/list1"/>
    <dgm:cxn modelId="{97637B5D-ECF7-4B1F-9C52-581072B3EFF9}" srcId="{BF9EBBB0-4ECA-4001-AF24-88161866168B}" destId="{BD27B495-A473-4C66-990F-ED4AF1161D27}" srcOrd="0" destOrd="0" parTransId="{64C017FB-DA5C-4D34-BB6A-F80B0B7D612C}" sibTransId="{06BDCB16-BB96-4249-A0AB-68F8617106B8}"/>
    <dgm:cxn modelId="{2C45A343-25C7-40EE-AE9D-C37E1D385D88}" srcId="{BF9EBBB0-4ECA-4001-AF24-88161866168B}" destId="{26C8DED5-3FBF-4C75-B233-3BCF1BB38F39}" srcOrd="1" destOrd="0" parTransId="{68DE1E3D-BAC2-45C0-B9B9-BA87969ABC37}" sibTransId="{3A048A44-57ED-4836-9607-FBFEDF9619DF}"/>
    <dgm:cxn modelId="{F977A54F-EA2E-4FAA-80D0-0AF8FFC90DF5}" srcId="{26C8DED5-3FBF-4C75-B233-3BCF1BB38F39}" destId="{BC211AE9-46CA-477D-BE3E-5CB26F621326}" srcOrd="3" destOrd="0" parTransId="{28AB55CF-D94F-48A6-820B-32677C01DEB0}" sibTransId="{25320E3E-4A30-49F8-8AEE-A1BA170E304C}"/>
    <dgm:cxn modelId="{FD274971-4583-4648-A0C7-99466CF3975A}" type="presOf" srcId="{50D1DA3C-F987-4D33-B270-72912CCF9E64}" destId="{ECFF8A32-40BD-4B4E-9479-A962DDBDFC29}" srcOrd="0" destOrd="1" presId="urn:microsoft.com/office/officeart/2005/8/layout/list1"/>
    <dgm:cxn modelId="{0EF3DA84-AF63-418C-AFBE-C33434DA133A}" type="presOf" srcId="{6D8C1969-3EA3-4EC3-94BB-3DD0932982EF}" destId="{ECFF8A32-40BD-4B4E-9479-A962DDBDFC29}" srcOrd="0" destOrd="4" presId="urn:microsoft.com/office/officeart/2005/8/layout/list1"/>
    <dgm:cxn modelId="{3214FA98-2758-4506-826F-5A67E2813B9F}" type="presOf" srcId="{B2F16051-AA48-4940-9618-0142BD3DC68A}" destId="{1C090E51-6497-4426-8E5A-EB933962F510}" srcOrd="0" destOrd="2" presId="urn:microsoft.com/office/officeart/2005/8/layout/list1"/>
    <dgm:cxn modelId="{06177B9A-32B5-4603-8A8C-16314EB317A9}" type="presOf" srcId="{038D57A7-577C-42F3-88FB-8062D8C291E0}" destId="{ECFF8A32-40BD-4B4E-9479-A962DDBDFC29}" srcOrd="0" destOrd="0" presId="urn:microsoft.com/office/officeart/2005/8/layout/list1"/>
    <dgm:cxn modelId="{7F95D8A8-87F4-40EF-8973-9DCBB2807D0D}" srcId="{BD27B495-A473-4C66-990F-ED4AF1161D27}" destId="{038D57A7-577C-42F3-88FB-8062D8C291E0}" srcOrd="0" destOrd="0" parTransId="{B366874F-4309-4FA4-8921-308DDDC88790}" sibTransId="{21C0BBF7-0506-4D64-8DF3-4EF5AD9DA8E7}"/>
    <dgm:cxn modelId="{B01E9BAA-A487-42E8-9DFA-8930E2E5CD64}" srcId="{BD27B495-A473-4C66-990F-ED4AF1161D27}" destId="{50D1DA3C-F987-4D33-B270-72912CCF9E64}" srcOrd="1" destOrd="0" parTransId="{754B65D7-9EBD-4CE1-8914-6EB505E8224E}" sibTransId="{159E1A27-F11D-4857-8F6F-EF5E0FEA9E00}"/>
    <dgm:cxn modelId="{243105B7-4190-43E0-AA60-1E4E180F800A}" srcId="{BD27B495-A473-4C66-990F-ED4AF1161D27}" destId="{C9EB68C9-4A5E-4911-BAA7-D6C400EF45C0}" srcOrd="3" destOrd="0" parTransId="{599FE58F-1015-494A-92AF-65DAE117F523}" sibTransId="{719E57C3-C3DF-4796-B16B-CBA91F997997}"/>
    <dgm:cxn modelId="{92D561CB-1246-4FCE-AE22-B2F9048F479B}" srcId="{26C8DED5-3FBF-4C75-B233-3BCF1BB38F39}" destId="{A0D43445-0657-49D0-965D-0F642C3BDBA8}" srcOrd="1" destOrd="0" parTransId="{2A3C59EC-AA6E-4C34-A4B7-7D63A84F91E9}" sibTransId="{8B74B05C-E424-4410-A4EB-63ECD4A1B95D}"/>
    <dgm:cxn modelId="{3384E4CE-EA56-402C-ADD2-7F02DB7370CE}" type="presOf" srcId="{BC211AE9-46CA-477D-BE3E-5CB26F621326}" destId="{1C090E51-6497-4426-8E5A-EB933962F510}" srcOrd="0" destOrd="3" presId="urn:microsoft.com/office/officeart/2005/8/layout/list1"/>
    <dgm:cxn modelId="{6FC909D0-6E80-47CA-BA54-0DED9D7F8D38}" type="presOf" srcId="{BD27B495-A473-4C66-990F-ED4AF1161D27}" destId="{C3FF4731-D617-433D-BA4F-8A308703DF31}" srcOrd="1" destOrd="0" presId="urn:microsoft.com/office/officeart/2005/8/layout/list1"/>
    <dgm:cxn modelId="{811E0FDD-2C20-4731-B920-1BF7EDD1C57A}" type="presOf" srcId="{26C8DED5-3FBF-4C75-B233-3BCF1BB38F39}" destId="{57883F9F-79A0-4692-9C18-54A54E588047}" srcOrd="1" destOrd="0" presId="urn:microsoft.com/office/officeart/2005/8/layout/list1"/>
    <dgm:cxn modelId="{C1108FDD-7D77-4A4C-B393-E2D58BB1DDDD}" type="presOf" srcId="{A0D43445-0657-49D0-965D-0F642C3BDBA8}" destId="{1C090E51-6497-4426-8E5A-EB933962F510}" srcOrd="0" destOrd="1" presId="urn:microsoft.com/office/officeart/2005/8/layout/list1"/>
    <dgm:cxn modelId="{FF5835DF-A2BE-4CAC-95EA-5CDE1FDC6834}" srcId="{26C8DED5-3FBF-4C75-B233-3BCF1BB38F39}" destId="{B2F16051-AA48-4940-9618-0142BD3DC68A}" srcOrd="2" destOrd="0" parTransId="{5C50E4FA-3F7F-4232-BBE6-1F8C9F782562}" sibTransId="{E9B8735F-7110-4000-80AB-6D0AF8D95A9B}"/>
    <dgm:cxn modelId="{EFA7C6E9-B934-4D74-97B4-314D43B33CD7}" type="presOf" srcId="{0F53E672-AF0D-479D-936A-ED52BDC84068}" destId="{1C090E51-6497-4426-8E5A-EB933962F510}" srcOrd="0" destOrd="0" presId="urn:microsoft.com/office/officeart/2005/8/layout/list1"/>
    <dgm:cxn modelId="{A0C44AF4-6D50-4157-AEF6-3C984E627254}" srcId="{BD27B495-A473-4C66-990F-ED4AF1161D27}" destId="{51323F9E-0214-48FE-9481-AA479DC48403}" srcOrd="2" destOrd="0" parTransId="{9D01403F-84F1-48E9-A604-3A95792DC10C}" sibTransId="{487CE583-113B-495B-8630-83E961636DAF}"/>
    <dgm:cxn modelId="{34C3DAF8-D05B-410F-8840-DFA1F95F8F22}" type="presOf" srcId="{51323F9E-0214-48FE-9481-AA479DC48403}" destId="{ECFF8A32-40BD-4B4E-9479-A962DDBDFC29}" srcOrd="0" destOrd="2" presId="urn:microsoft.com/office/officeart/2005/8/layout/list1"/>
    <dgm:cxn modelId="{1D0D15FC-A725-4A8C-AB84-1FFEB035FBF8}" type="presOf" srcId="{26C8DED5-3FBF-4C75-B233-3BCF1BB38F39}" destId="{69ECA5D6-90FE-43B8-85BA-E8CBD008BADC}" srcOrd="0" destOrd="0" presId="urn:microsoft.com/office/officeart/2005/8/layout/list1"/>
    <dgm:cxn modelId="{AFFC92FD-F512-4FF5-BFAA-4DB23653DC93}" type="presParOf" srcId="{DE17D141-AA10-417D-A29B-1AA3646AA472}" destId="{D224F7A6-4BB2-4377-A59C-7C32649D40C4}" srcOrd="0" destOrd="0" presId="urn:microsoft.com/office/officeart/2005/8/layout/list1"/>
    <dgm:cxn modelId="{EF6BC7AB-35B0-4EC8-8229-ECE678E65BFF}" type="presParOf" srcId="{D224F7A6-4BB2-4377-A59C-7C32649D40C4}" destId="{B5340D09-457E-44A4-88D1-4B6E74DC7CB7}" srcOrd="0" destOrd="0" presId="urn:microsoft.com/office/officeart/2005/8/layout/list1"/>
    <dgm:cxn modelId="{9F5F1DD2-6B38-4C63-AE00-88530091345D}" type="presParOf" srcId="{D224F7A6-4BB2-4377-A59C-7C32649D40C4}" destId="{C3FF4731-D617-433D-BA4F-8A308703DF31}" srcOrd="1" destOrd="0" presId="urn:microsoft.com/office/officeart/2005/8/layout/list1"/>
    <dgm:cxn modelId="{897A246E-2738-4A94-ABB8-36DCA8C0CD1E}" type="presParOf" srcId="{DE17D141-AA10-417D-A29B-1AA3646AA472}" destId="{1038EFAE-0925-477A-A999-887364230D58}" srcOrd="1" destOrd="0" presId="urn:microsoft.com/office/officeart/2005/8/layout/list1"/>
    <dgm:cxn modelId="{6C1394B2-74E9-4BB3-B672-0005525A387E}" type="presParOf" srcId="{DE17D141-AA10-417D-A29B-1AA3646AA472}" destId="{ECFF8A32-40BD-4B4E-9479-A962DDBDFC29}" srcOrd="2" destOrd="0" presId="urn:microsoft.com/office/officeart/2005/8/layout/list1"/>
    <dgm:cxn modelId="{1D1CE35A-09D7-4249-B300-8429BA7C065F}" type="presParOf" srcId="{DE17D141-AA10-417D-A29B-1AA3646AA472}" destId="{557DD40F-D7FF-41A1-A6EE-D8ABED5D3BB3}" srcOrd="3" destOrd="0" presId="urn:microsoft.com/office/officeart/2005/8/layout/list1"/>
    <dgm:cxn modelId="{0A78989F-EF1D-40DA-9669-1BC00BCAE93C}" type="presParOf" srcId="{DE17D141-AA10-417D-A29B-1AA3646AA472}" destId="{4151EE36-B448-4BBF-8872-BF36FF478D7B}" srcOrd="4" destOrd="0" presId="urn:microsoft.com/office/officeart/2005/8/layout/list1"/>
    <dgm:cxn modelId="{438A8791-BE20-4FAA-BCA6-554D8F62A210}" type="presParOf" srcId="{4151EE36-B448-4BBF-8872-BF36FF478D7B}" destId="{69ECA5D6-90FE-43B8-85BA-E8CBD008BADC}" srcOrd="0" destOrd="0" presId="urn:microsoft.com/office/officeart/2005/8/layout/list1"/>
    <dgm:cxn modelId="{A0AC10B8-38FD-4466-9D10-DD4F6937AD52}" type="presParOf" srcId="{4151EE36-B448-4BBF-8872-BF36FF478D7B}" destId="{57883F9F-79A0-4692-9C18-54A54E588047}" srcOrd="1" destOrd="0" presId="urn:microsoft.com/office/officeart/2005/8/layout/list1"/>
    <dgm:cxn modelId="{0A96214F-0DAC-4015-A5ED-766EB80527EF}" type="presParOf" srcId="{DE17D141-AA10-417D-A29B-1AA3646AA472}" destId="{5FB39C0E-5CD7-4AE9-AB6E-4493992082DD}" srcOrd="5" destOrd="0" presId="urn:microsoft.com/office/officeart/2005/8/layout/list1"/>
    <dgm:cxn modelId="{CE3F8E42-E3C4-445A-A694-47510F436635}" type="presParOf" srcId="{DE17D141-AA10-417D-A29B-1AA3646AA472}" destId="{1C090E51-6497-4426-8E5A-EB933962F51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CDE3EE-A423-4C3A-BB78-87D0D0DDB0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889133-275B-4F89-A712-812352264BBF}">
      <dgm:prSet/>
      <dgm:spPr/>
      <dgm:t>
        <a:bodyPr/>
        <a:lstStyle/>
        <a:p>
          <a:r>
            <a:rPr lang="da-DK" b="1" dirty="0">
              <a:solidFill>
                <a:schemeClr val="tx2"/>
              </a:solidFill>
            </a:rPr>
            <a:t>Følge </a:t>
          </a:r>
          <a:r>
            <a:rPr lang="da-DK" b="1" dirty="0" err="1">
              <a:solidFill>
                <a:schemeClr val="tx2"/>
              </a:solidFill>
            </a:rPr>
            <a:t>kontrolflow</a:t>
          </a:r>
          <a:r>
            <a:rPr lang="da-DK" b="1" dirty="0">
              <a:solidFill>
                <a:schemeClr val="tx2"/>
              </a:solidFill>
            </a:rPr>
            <a:t>: </a:t>
          </a:r>
          <a:r>
            <a:rPr lang="da-DK" dirty="0">
              <a:solidFill>
                <a:schemeClr val="tx2"/>
              </a:solidFill>
            </a:rPr>
            <a:t>Forstå hvilke linjer der køres – og i hvilken rækkefølge.</a:t>
          </a:r>
          <a:endParaRPr lang="en-US" dirty="0">
            <a:solidFill>
              <a:schemeClr val="tx2"/>
            </a:solidFill>
          </a:endParaRPr>
        </a:p>
      </dgm:t>
    </dgm:pt>
    <dgm:pt modelId="{87543126-E880-4D75-94C6-7446AE052FC6}" type="parTrans" cxnId="{89B777B4-8DE0-4C5B-A892-BDE5F39521C3}">
      <dgm:prSet/>
      <dgm:spPr/>
      <dgm:t>
        <a:bodyPr/>
        <a:lstStyle/>
        <a:p>
          <a:endParaRPr lang="en-US"/>
        </a:p>
      </dgm:t>
    </dgm:pt>
    <dgm:pt modelId="{F128D2C9-9A81-4BDC-A254-67C669D78F2F}" type="sibTrans" cxnId="{89B777B4-8DE0-4C5B-A892-BDE5F39521C3}">
      <dgm:prSet/>
      <dgm:spPr/>
      <dgm:t>
        <a:bodyPr/>
        <a:lstStyle/>
        <a:p>
          <a:endParaRPr lang="en-US"/>
        </a:p>
      </dgm:t>
    </dgm:pt>
    <dgm:pt modelId="{16E6DBB9-07B9-433D-921C-AF76FCDDADFE}">
      <dgm:prSet/>
      <dgm:spPr/>
      <dgm:t>
        <a:bodyPr/>
        <a:lstStyle/>
        <a:p>
          <a:r>
            <a:rPr lang="da-DK" b="1" dirty="0">
              <a:solidFill>
                <a:schemeClr val="tx2"/>
              </a:solidFill>
            </a:rPr>
            <a:t>Spore variabler og tilstand: </a:t>
          </a:r>
          <a:r>
            <a:rPr lang="da-DK" dirty="0">
              <a:solidFill>
                <a:schemeClr val="tx2"/>
              </a:solidFill>
            </a:rPr>
            <a:t>Se hvordan værdier ændrer sig undervejs.</a:t>
          </a:r>
          <a:endParaRPr lang="en-US" dirty="0">
            <a:solidFill>
              <a:schemeClr val="tx2"/>
            </a:solidFill>
          </a:endParaRPr>
        </a:p>
      </dgm:t>
    </dgm:pt>
    <dgm:pt modelId="{ABB2029D-47AB-489D-99B5-A7AEAEEBE856}" type="parTrans" cxnId="{EB40BDB7-1686-4F04-B73C-4F340CE42387}">
      <dgm:prSet/>
      <dgm:spPr/>
      <dgm:t>
        <a:bodyPr/>
        <a:lstStyle/>
        <a:p>
          <a:endParaRPr lang="en-US"/>
        </a:p>
      </dgm:t>
    </dgm:pt>
    <dgm:pt modelId="{8D5B26C2-D89D-4538-98F4-3FB625F8E798}" type="sibTrans" cxnId="{EB40BDB7-1686-4F04-B73C-4F340CE42387}">
      <dgm:prSet/>
      <dgm:spPr/>
      <dgm:t>
        <a:bodyPr/>
        <a:lstStyle/>
        <a:p>
          <a:endParaRPr lang="en-US"/>
        </a:p>
      </dgm:t>
    </dgm:pt>
    <dgm:pt modelId="{6AEE8C89-BC0D-400F-8A90-F3BCBFB51DA0}">
      <dgm:prSet/>
      <dgm:spPr/>
      <dgm:t>
        <a:bodyPr/>
        <a:lstStyle/>
        <a:p>
          <a:r>
            <a:rPr lang="da-DK" b="1" dirty="0">
              <a:solidFill>
                <a:schemeClr val="tx2"/>
              </a:solidFill>
            </a:rPr>
            <a:t>Forklare datastrøm: </a:t>
          </a:r>
          <a:r>
            <a:rPr lang="da-DK" dirty="0">
              <a:solidFill>
                <a:schemeClr val="tx2"/>
              </a:solidFill>
            </a:rPr>
            <a:t>Forstå hvordan data bevæger sig mellem funktioner og strukturer.</a:t>
          </a:r>
          <a:endParaRPr lang="en-US" dirty="0">
            <a:solidFill>
              <a:schemeClr val="tx2"/>
            </a:solidFill>
          </a:endParaRPr>
        </a:p>
      </dgm:t>
    </dgm:pt>
    <dgm:pt modelId="{84C7C4CC-3B88-425D-AE77-DB607D36483B}" type="parTrans" cxnId="{BE4014E4-3F0F-4E7B-9E08-08E13924057D}">
      <dgm:prSet/>
      <dgm:spPr/>
      <dgm:t>
        <a:bodyPr/>
        <a:lstStyle/>
        <a:p>
          <a:endParaRPr lang="en-US"/>
        </a:p>
      </dgm:t>
    </dgm:pt>
    <dgm:pt modelId="{DFCB38FE-7ED4-4871-85AE-5F2AAF3A9454}" type="sibTrans" cxnId="{BE4014E4-3F0F-4E7B-9E08-08E13924057D}">
      <dgm:prSet/>
      <dgm:spPr/>
      <dgm:t>
        <a:bodyPr/>
        <a:lstStyle/>
        <a:p>
          <a:endParaRPr lang="en-US"/>
        </a:p>
      </dgm:t>
    </dgm:pt>
    <dgm:pt modelId="{02D9EDBC-F41F-444C-BEC5-651F6AA717EE}">
      <dgm:prSet/>
      <dgm:spPr/>
      <dgm:t>
        <a:bodyPr/>
        <a:lstStyle/>
        <a:p>
          <a:r>
            <a:rPr lang="da-DK" b="1" dirty="0">
              <a:solidFill>
                <a:schemeClr val="tx2"/>
              </a:solidFill>
            </a:rPr>
            <a:t>Forudsige fejl og konsekvenser</a:t>
          </a:r>
          <a:br>
            <a:rPr lang="da-DK" dirty="0">
              <a:solidFill>
                <a:schemeClr val="tx2"/>
              </a:solidFill>
            </a:rPr>
          </a:br>
          <a:r>
            <a:rPr lang="da-DK" dirty="0">
              <a:solidFill>
                <a:schemeClr val="tx2"/>
              </a:solidFill>
            </a:rPr>
            <a:t>Kunne identificere hvor og hvorfor noget bryder.</a:t>
          </a:r>
          <a:endParaRPr lang="en-US" dirty="0">
            <a:solidFill>
              <a:schemeClr val="tx2"/>
            </a:solidFill>
          </a:endParaRPr>
        </a:p>
      </dgm:t>
    </dgm:pt>
    <dgm:pt modelId="{84E6FE13-F0EE-4E8B-B8A0-7437321E91CC}" type="parTrans" cxnId="{E3E2A12F-40E1-4161-B3C6-6249A556FD34}">
      <dgm:prSet/>
      <dgm:spPr/>
      <dgm:t>
        <a:bodyPr/>
        <a:lstStyle/>
        <a:p>
          <a:endParaRPr lang="en-US"/>
        </a:p>
      </dgm:t>
    </dgm:pt>
    <dgm:pt modelId="{31C1EB7D-6613-4E87-8379-EBE67B4C673C}" type="sibTrans" cxnId="{E3E2A12F-40E1-4161-B3C6-6249A556FD34}">
      <dgm:prSet/>
      <dgm:spPr/>
      <dgm:t>
        <a:bodyPr/>
        <a:lstStyle/>
        <a:p>
          <a:endParaRPr lang="en-US"/>
        </a:p>
      </dgm:t>
    </dgm:pt>
    <dgm:pt modelId="{1B735AA3-83AD-4223-A096-8B0ED3C876F5}">
      <dgm:prSet/>
      <dgm:spPr/>
      <dgm:t>
        <a:bodyPr/>
        <a:lstStyle/>
        <a:p>
          <a:r>
            <a:rPr lang="da-DK" b="1" dirty="0">
              <a:solidFill>
                <a:schemeClr val="tx2"/>
              </a:solidFill>
            </a:rPr>
            <a:t>Begrunde output og effektivitet</a:t>
          </a:r>
          <a:br>
            <a:rPr lang="da-DK" dirty="0">
              <a:solidFill>
                <a:schemeClr val="tx2"/>
              </a:solidFill>
            </a:rPr>
          </a:br>
          <a:r>
            <a:rPr lang="da-DK" dirty="0">
              <a:solidFill>
                <a:schemeClr val="tx2"/>
              </a:solidFill>
            </a:rPr>
            <a:t>Forklare både resultat og kompleksitet.</a:t>
          </a:r>
          <a:endParaRPr lang="en-US" dirty="0">
            <a:solidFill>
              <a:schemeClr val="tx2"/>
            </a:solidFill>
          </a:endParaRPr>
        </a:p>
      </dgm:t>
    </dgm:pt>
    <dgm:pt modelId="{B21193F2-BE1A-45E6-8A87-B91D057918D6}" type="parTrans" cxnId="{69A654F3-923A-4A51-A85B-93702D5AF9B7}">
      <dgm:prSet/>
      <dgm:spPr/>
      <dgm:t>
        <a:bodyPr/>
        <a:lstStyle/>
        <a:p>
          <a:endParaRPr lang="en-US"/>
        </a:p>
      </dgm:t>
    </dgm:pt>
    <dgm:pt modelId="{E2163FDF-6C93-4913-94B0-401589E761FF}" type="sibTrans" cxnId="{69A654F3-923A-4A51-A85B-93702D5AF9B7}">
      <dgm:prSet/>
      <dgm:spPr/>
      <dgm:t>
        <a:bodyPr/>
        <a:lstStyle/>
        <a:p>
          <a:endParaRPr lang="en-US"/>
        </a:p>
      </dgm:t>
    </dgm:pt>
    <dgm:pt modelId="{32A9C0EB-7535-4DE6-BE8B-75F452392B1E}" type="pres">
      <dgm:prSet presAssocID="{DDCDE3EE-A423-4C3A-BB78-87D0D0DDB091}" presName="root" presStyleCnt="0">
        <dgm:presLayoutVars>
          <dgm:dir/>
          <dgm:resizeHandles val="exact"/>
        </dgm:presLayoutVars>
      </dgm:prSet>
      <dgm:spPr/>
    </dgm:pt>
    <dgm:pt modelId="{0AA18EBA-1FDE-4AEC-B1D6-612992A47476}" type="pres">
      <dgm:prSet presAssocID="{05889133-275B-4F89-A712-812352264BBF}" presName="compNode" presStyleCnt="0"/>
      <dgm:spPr/>
    </dgm:pt>
    <dgm:pt modelId="{2D7A9BBC-28FF-45A6-B19F-17FE6AF7E5DE}" type="pres">
      <dgm:prSet presAssocID="{05889133-275B-4F89-A712-812352264BBF}" presName="bgRect" presStyleLbl="bgShp" presStyleIdx="0" presStyleCnt="5"/>
      <dgm:spPr>
        <a:solidFill>
          <a:schemeClr val="tx2">
            <a:lumMod val="10000"/>
            <a:lumOff val="90000"/>
          </a:schemeClr>
        </a:solidFill>
      </dgm:spPr>
    </dgm:pt>
    <dgm:pt modelId="{6B2FDD7F-4B94-4B14-8F60-296FFB808364}" type="pres">
      <dgm:prSet presAssocID="{05889133-275B-4F89-A712-812352264BB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CFD1095C-8160-488B-9E1E-22FECE2C34A9}" type="pres">
      <dgm:prSet presAssocID="{05889133-275B-4F89-A712-812352264BBF}" presName="spaceRect" presStyleCnt="0"/>
      <dgm:spPr/>
    </dgm:pt>
    <dgm:pt modelId="{97BD43AF-E875-41F7-86B0-946557111250}" type="pres">
      <dgm:prSet presAssocID="{05889133-275B-4F89-A712-812352264BBF}" presName="parTx" presStyleLbl="revTx" presStyleIdx="0" presStyleCnt="5">
        <dgm:presLayoutVars>
          <dgm:chMax val="0"/>
          <dgm:chPref val="0"/>
        </dgm:presLayoutVars>
      </dgm:prSet>
      <dgm:spPr/>
    </dgm:pt>
    <dgm:pt modelId="{4BA32A64-F6E7-4A9D-A05A-253639E0E4CA}" type="pres">
      <dgm:prSet presAssocID="{F128D2C9-9A81-4BDC-A254-67C669D78F2F}" presName="sibTrans" presStyleCnt="0"/>
      <dgm:spPr/>
    </dgm:pt>
    <dgm:pt modelId="{C1C0EC8D-51D7-4519-BB4B-ABF5DBA88A4B}" type="pres">
      <dgm:prSet presAssocID="{16E6DBB9-07B9-433D-921C-AF76FCDDADFE}" presName="compNode" presStyleCnt="0"/>
      <dgm:spPr/>
    </dgm:pt>
    <dgm:pt modelId="{C7E60F5B-4338-4B46-B8F1-ACE2B143D789}" type="pres">
      <dgm:prSet presAssocID="{16E6DBB9-07B9-433D-921C-AF76FCDDADFE}" presName="bgRect" presStyleLbl="bgShp" presStyleIdx="1" presStyleCnt="5"/>
      <dgm:spPr>
        <a:solidFill>
          <a:schemeClr val="tx2">
            <a:lumMod val="10000"/>
            <a:lumOff val="90000"/>
          </a:schemeClr>
        </a:solidFill>
      </dgm:spPr>
    </dgm:pt>
    <dgm:pt modelId="{B22A7662-A347-4782-9763-A990658E7725}" type="pres">
      <dgm:prSet presAssocID="{16E6DBB9-07B9-433D-921C-AF76FCDDADF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993C69A2-C577-4E9E-A24E-645CDE40EE6C}" type="pres">
      <dgm:prSet presAssocID="{16E6DBB9-07B9-433D-921C-AF76FCDDADFE}" presName="spaceRect" presStyleCnt="0"/>
      <dgm:spPr/>
    </dgm:pt>
    <dgm:pt modelId="{F8DD4580-F048-4B42-836A-EC6F90CB59E5}" type="pres">
      <dgm:prSet presAssocID="{16E6DBB9-07B9-433D-921C-AF76FCDDADFE}" presName="parTx" presStyleLbl="revTx" presStyleIdx="1" presStyleCnt="5">
        <dgm:presLayoutVars>
          <dgm:chMax val="0"/>
          <dgm:chPref val="0"/>
        </dgm:presLayoutVars>
      </dgm:prSet>
      <dgm:spPr/>
    </dgm:pt>
    <dgm:pt modelId="{E81F7423-5F3F-49D4-81AE-F95567D44F32}" type="pres">
      <dgm:prSet presAssocID="{8D5B26C2-D89D-4538-98F4-3FB625F8E798}" presName="sibTrans" presStyleCnt="0"/>
      <dgm:spPr/>
    </dgm:pt>
    <dgm:pt modelId="{7D872497-E691-4FEB-913E-7EC72CEBF3D0}" type="pres">
      <dgm:prSet presAssocID="{6AEE8C89-BC0D-400F-8A90-F3BCBFB51DA0}" presName="compNode" presStyleCnt="0"/>
      <dgm:spPr/>
    </dgm:pt>
    <dgm:pt modelId="{A11DE03D-9651-4BD5-A4AF-6EFE9F9D4968}" type="pres">
      <dgm:prSet presAssocID="{6AEE8C89-BC0D-400F-8A90-F3BCBFB51DA0}" presName="bgRect" presStyleLbl="bgShp" presStyleIdx="2" presStyleCnt="5"/>
      <dgm:spPr>
        <a:solidFill>
          <a:schemeClr val="tx2">
            <a:lumMod val="10000"/>
            <a:lumOff val="90000"/>
          </a:schemeClr>
        </a:solidFill>
      </dgm:spPr>
    </dgm:pt>
    <dgm:pt modelId="{5F70AEF7-3B7D-4246-8FC4-1F0B88D59A6A}" type="pres">
      <dgm:prSet presAssocID="{6AEE8C89-BC0D-400F-8A90-F3BCBFB51DA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A536913-0789-437C-BE9A-FB97A9D1768A}" type="pres">
      <dgm:prSet presAssocID="{6AEE8C89-BC0D-400F-8A90-F3BCBFB51DA0}" presName="spaceRect" presStyleCnt="0"/>
      <dgm:spPr/>
    </dgm:pt>
    <dgm:pt modelId="{CABD45FA-FE43-4B0B-BA6C-EC3DF08074AA}" type="pres">
      <dgm:prSet presAssocID="{6AEE8C89-BC0D-400F-8A90-F3BCBFB51DA0}" presName="parTx" presStyleLbl="revTx" presStyleIdx="2" presStyleCnt="5">
        <dgm:presLayoutVars>
          <dgm:chMax val="0"/>
          <dgm:chPref val="0"/>
        </dgm:presLayoutVars>
      </dgm:prSet>
      <dgm:spPr/>
    </dgm:pt>
    <dgm:pt modelId="{BE53914E-E023-4A9D-A6EE-0AC4DC849619}" type="pres">
      <dgm:prSet presAssocID="{DFCB38FE-7ED4-4871-85AE-5F2AAF3A9454}" presName="sibTrans" presStyleCnt="0"/>
      <dgm:spPr/>
    </dgm:pt>
    <dgm:pt modelId="{7DBA663D-BE7D-4ABD-A598-CE4DBA2C9A9F}" type="pres">
      <dgm:prSet presAssocID="{02D9EDBC-F41F-444C-BEC5-651F6AA717EE}" presName="compNode" presStyleCnt="0"/>
      <dgm:spPr/>
    </dgm:pt>
    <dgm:pt modelId="{D2C29D68-DFEE-416B-88E7-3D0E832CA684}" type="pres">
      <dgm:prSet presAssocID="{02D9EDBC-F41F-444C-BEC5-651F6AA717EE}" presName="bgRect" presStyleLbl="bgShp" presStyleIdx="3" presStyleCnt="5"/>
      <dgm:spPr>
        <a:solidFill>
          <a:schemeClr val="tx2">
            <a:lumMod val="10000"/>
            <a:lumOff val="90000"/>
          </a:schemeClr>
        </a:solidFill>
      </dgm:spPr>
    </dgm:pt>
    <dgm:pt modelId="{8859C5C9-97C0-46B3-8C83-D169D4FC5286}" type="pres">
      <dgm:prSet presAssocID="{02D9EDBC-F41F-444C-BEC5-651F6AA717E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10B684E-5DCA-4771-AFB9-9969C77F4507}" type="pres">
      <dgm:prSet presAssocID="{02D9EDBC-F41F-444C-BEC5-651F6AA717EE}" presName="spaceRect" presStyleCnt="0"/>
      <dgm:spPr/>
    </dgm:pt>
    <dgm:pt modelId="{E3A573C4-CC41-4BCE-93A1-E23E491AE01B}" type="pres">
      <dgm:prSet presAssocID="{02D9EDBC-F41F-444C-BEC5-651F6AA717EE}" presName="parTx" presStyleLbl="revTx" presStyleIdx="3" presStyleCnt="5">
        <dgm:presLayoutVars>
          <dgm:chMax val="0"/>
          <dgm:chPref val="0"/>
        </dgm:presLayoutVars>
      </dgm:prSet>
      <dgm:spPr/>
    </dgm:pt>
    <dgm:pt modelId="{A905088F-AF63-4ED4-8D5F-07C91F32AC72}" type="pres">
      <dgm:prSet presAssocID="{31C1EB7D-6613-4E87-8379-EBE67B4C673C}" presName="sibTrans" presStyleCnt="0"/>
      <dgm:spPr/>
    </dgm:pt>
    <dgm:pt modelId="{48183800-164C-4197-A3C3-C954F820C6C6}" type="pres">
      <dgm:prSet presAssocID="{1B735AA3-83AD-4223-A096-8B0ED3C876F5}" presName="compNode" presStyleCnt="0"/>
      <dgm:spPr/>
    </dgm:pt>
    <dgm:pt modelId="{1E621ECE-373F-4541-935F-55D77D289E64}" type="pres">
      <dgm:prSet presAssocID="{1B735AA3-83AD-4223-A096-8B0ED3C876F5}" presName="bgRect" presStyleLbl="bgShp" presStyleIdx="4" presStyleCnt="5"/>
      <dgm:spPr>
        <a:solidFill>
          <a:schemeClr val="tx2">
            <a:lumMod val="10000"/>
            <a:lumOff val="90000"/>
          </a:schemeClr>
        </a:solidFill>
      </dgm:spPr>
    </dgm:pt>
    <dgm:pt modelId="{1BB4E380-4497-407C-AAF6-4F215EAE450B}" type="pres">
      <dgm:prSet presAssocID="{1B735AA3-83AD-4223-A096-8B0ED3C876F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1504A6E-E80B-4008-9AE5-0490061AC515}" type="pres">
      <dgm:prSet presAssocID="{1B735AA3-83AD-4223-A096-8B0ED3C876F5}" presName="spaceRect" presStyleCnt="0"/>
      <dgm:spPr/>
    </dgm:pt>
    <dgm:pt modelId="{2F416FD3-F780-480E-B7E3-D4CDBE06B295}" type="pres">
      <dgm:prSet presAssocID="{1B735AA3-83AD-4223-A096-8B0ED3C876F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8511710-6518-4AC4-A001-7EE3AD05F2BC}" type="presOf" srcId="{DDCDE3EE-A423-4C3A-BB78-87D0D0DDB091}" destId="{32A9C0EB-7535-4DE6-BE8B-75F452392B1E}" srcOrd="0" destOrd="0" presId="urn:microsoft.com/office/officeart/2018/2/layout/IconVerticalSolidList"/>
    <dgm:cxn modelId="{2A03E82A-C02E-4EB3-A71F-108DCEE2D7BB}" type="presOf" srcId="{1B735AA3-83AD-4223-A096-8B0ED3C876F5}" destId="{2F416FD3-F780-480E-B7E3-D4CDBE06B295}" srcOrd="0" destOrd="0" presId="urn:microsoft.com/office/officeart/2018/2/layout/IconVerticalSolidList"/>
    <dgm:cxn modelId="{E3E2A12F-40E1-4161-B3C6-6249A556FD34}" srcId="{DDCDE3EE-A423-4C3A-BB78-87D0D0DDB091}" destId="{02D9EDBC-F41F-444C-BEC5-651F6AA717EE}" srcOrd="3" destOrd="0" parTransId="{84E6FE13-F0EE-4E8B-B8A0-7437321E91CC}" sibTransId="{31C1EB7D-6613-4E87-8379-EBE67B4C673C}"/>
    <dgm:cxn modelId="{39C2A94C-CF64-4734-B6FA-F16B892EE625}" type="presOf" srcId="{02D9EDBC-F41F-444C-BEC5-651F6AA717EE}" destId="{E3A573C4-CC41-4BCE-93A1-E23E491AE01B}" srcOrd="0" destOrd="0" presId="urn:microsoft.com/office/officeart/2018/2/layout/IconVerticalSolidList"/>
    <dgm:cxn modelId="{CA17DE9E-11C9-485D-B668-31FCDAE555FA}" type="presOf" srcId="{05889133-275B-4F89-A712-812352264BBF}" destId="{97BD43AF-E875-41F7-86B0-946557111250}" srcOrd="0" destOrd="0" presId="urn:microsoft.com/office/officeart/2018/2/layout/IconVerticalSolidList"/>
    <dgm:cxn modelId="{AE79FDA0-663D-46E1-8B64-77E84F050AE7}" type="presOf" srcId="{16E6DBB9-07B9-433D-921C-AF76FCDDADFE}" destId="{F8DD4580-F048-4B42-836A-EC6F90CB59E5}" srcOrd="0" destOrd="0" presId="urn:microsoft.com/office/officeart/2018/2/layout/IconVerticalSolidList"/>
    <dgm:cxn modelId="{89B777B4-8DE0-4C5B-A892-BDE5F39521C3}" srcId="{DDCDE3EE-A423-4C3A-BB78-87D0D0DDB091}" destId="{05889133-275B-4F89-A712-812352264BBF}" srcOrd="0" destOrd="0" parTransId="{87543126-E880-4D75-94C6-7446AE052FC6}" sibTransId="{F128D2C9-9A81-4BDC-A254-67C669D78F2F}"/>
    <dgm:cxn modelId="{EB40BDB7-1686-4F04-B73C-4F340CE42387}" srcId="{DDCDE3EE-A423-4C3A-BB78-87D0D0DDB091}" destId="{16E6DBB9-07B9-433D-921C-AF76FCDDADFE}" srcOrd="1" destOrd="0" parTransId="{ABB2029D-47AB-489D-99B5-A7AEAEEBE856}" sibTransId="{8D5B26C2-D89D-4538-98F4-3FB625F8E798}"/>
    <dgm:cxn modelId="{BE4014E4-3F0F-4E7B-9E08-08E13924057D}" srcId="{DDCDE3EE-A423-4C3A-BB78-87D0D0DDB091}" destId="{6AEE8C89-BC0D-400F-8A90-F3BCBFB51DA0}" srcOrd="2" destOrd="0" parTransId="{84C7C4CC-3B88-425D-AE77-DB607D36483B}" sibTransId="{DFCB38FE-7ED4-4871-85AE-5F2AAF3A9454}"/>
    <dgm:cxn modelId="{3D6C1FED-1BF0-4108-8815-0A4064CA42FE}" type="presOf" srcId="{6AEE8C89-BC0D-400F-8A90-F3BCBFB51DA0}" destId="{CABD45FA-FE43-4B0B-BA6C-EC3DF08074AA}" srcOrd="0" destOrd="0" presId="urn:microsoft.com/office/officeart/2018/2/layout/IconVerticalSolidList"/>
    <dgm:cxn modelId="{69A654F3-923A-4A51-A85B-93702D5AF9B7}" srcId="{DDCDE3EE-A423-4C3A-BB78-87D0D0DDB091}" destId="{1B735AA3-83AD-4223-A096-8B0ED3C876F5}" srcOrd="4" destOrd="0" parTransId="{B21193F2-BE1A-45E6-8A87-B91D057918D6}" sibTransId="{E2163FDF-6C93-4913-94B0-401589E761FF}"/>
    <dgm:cxn modelId="{04BBE0B6-46E5-4BD6-924C-813F4ABDA629}" type="presParOf" srcId="{32A9C0EB-7535-4DE6-BE8B-75F452392B1E}" destId="{0AA18EBA-1FDE-4AEC-B1D6-612992A47476}" srcOrd="0" destOrd="0" presId="urn:microsoft.com/office/officeart/2018/2/layout/IconVerticalSolidList"/>
    <dgm:cxn modelId="{BDB31E02-0C3E-478E-825B-C68EC04EA747}" type="presParOf" srcId="{0AA18EBA-1FDE-4AEC-B1D6-612992A47476}" destId="{2D7A9BBC-28FF-45A6-B19F-17FE6AF7E5DE}" srcOrd="0" destOrd="0" presId="urn:microsoft.com/office/officeart/2018/2/layout/IconVerticalSolidList"/>
    <dgm:cxn modelId="{5A00CF1B-807B-4D7D-A751-921AB60C30B5}" type="presParOf" srcId="{0AA18EBA-1FDE-4AEC-B1D6-612992A47476}" destId="{6B2FDD7F-4B94-4B14-8F60-296FFB808364}" srcOrd="1" destOrd="0" presId="urn:microsoft.com/office/officeart/2018/2/layout/IconVerticalSolidList"/>
    <dgm:cxn modelId="{286CE295-BD71-4486-8EDD-99264CFC8035}" type="presParOf" srcId="{0AA18EBA-1FDE-4AEC-B1D6-612992A47476}" destId="{CFD1095C-8160-488B-9E1E-22FECE2C34A9}" srcOrd="2" destOrd="0" presId="urn:microsoft.com/office/officeart/2018/2/layout/IconVerticalSolidList"/>
    <dgm:cxn modelId="{F26B5CF6-2AF2-4E79-AF66-6B26044D7406}" type="presParOf" srcId="{0AA18EBA-1FDE-4AEC-B1D6-612992A47476}" destId="{97BD43AF-E875-41F7-86B0-946557111250}" srcOrd="3" destOrd="0" presId="urn:microsoft.com/office/officeart/2018/2/layout/IconVerticalSolidList"/>
    <dgm:cxn modelId="{56AA8F14-C513-4145-94F1-4EFB4A6DC0AE}" type="presParOf" srcId="{32A9C0EB-7535-4DE6-BE8B-75F452392B1E}" destId="{4BA32A64-F6E7-4A9D-A05A-253639E0E4CA}" srcOrd="1" destOrd="0" presId="urn:microsoft.com/office/officeart/2018/2/layout/IconVerticalSolidList"/>
    <dgm:cxn modelId="{36E25097-FB56-4BE5-B616-3AEAFFF9296E}" type="presParOf" srcId="{32A9C0EB-7535-4DE6-BE8B-75F452392B1E}" destId="{C1C0EC8D-51D7-4519-BB4B-ABF5DBA88A4B}" srcOrd="2" destOrd="0" presId="urn:microsoft.com/office/officeart/2018/2/layout/IconVerticalSolidList"/>
    <dgm:cxn modelId="{BCB7AF27-8EC1-464D-8CBD-DBE80F50746F}" type="presParOf" srcId="{C1C0EC8D-51D7-4519-BB4B-ABF5DBA88A4B}" destId="{C7E60F5B-4338-4B46-B8F1-ACE2B143D789}" srcOrd="0" destOrd="0" presId="urn:microsoft.com/office/officeart/2018/2/layout/IconVerticalSolidList"/>
    <dgm:cxn modelId="{ECA59F28-5BD9-4C5C-9CCC-F2C62F191641}" type="presParOf" srcId="{C1C0EC8D-51D7-4519-BB4B-ABF5DBA88A4B}" destId="{B22A7662-A347-4782-9763-A990658E7725}" srcOrd="1" destOrd="0" presId="urn:microsoft.com/office/officeart/2018/2/layout/IconVerticalSolidList"/>
    <dgm:cxn modelId="{E825C75E-13BF-434B-91FE-ED554C45EDEE}" type="presParOf" srcId="{C1C0EC8D-51D7-4519-BB4B-ABF5DBA88A4B}" destId="{993C69A2-C577-4E9E-A24E-645CDE40EE6C}" srcOrd="2" destOrd="0" presId="urn:microsoft.com/office/officeart/2018/2/layout/IconVerticalSolidList"/>
    <dgm:cxn modelId="{76FB4C7D-2AA8-4A6A-B8F7-5786C3FA28C6}" type="presParOf" srcId="{C1C0EC8D-51D7-4519-BB4B-ABF5DBA88A4B}" destId="{F8DD4580-F048-4B42-836A-EC6F90CB59E5}" srcOrd="3" destOrd="0" presId="urn:microsoft.com/office/officeart/2018/2/layout/IconVerticalSolidList"/>
    <dgm:cxn modelId="{0725B0E8-148A-48CB-84B5-B5E433C0D7F1}" type="presParOf" srcId="{32A9C0EB-7535-4DE6-BE8B-75F452392B1E}" destId="{E81F7423-5F3F-49D4-81AE-F95567D44F32}" srcOrd="3" destOrd="0" presId="urn:microsoft.com/office/officeart/2018/2/layout/IconVerticalSolidList"/>
    <dgm:cxn modelId="{0F8CBCB6-7CEA-4F71-8C75-8382DBA72DFF}" type="presParOf" srcId="{32A9C0EB-7535-4DE6-BE8B-75F452392B1E}" destId="{7D872497-E691-4FEB-913E-7EC72CEBF3D0}" srcOrd="4" destOrd="0" presId="urn:microsoft.com/office/officeart/2018/2/layout/IconVerticalSolidList"/>
    <dgm:cxn modelId="{817FB549-EEF5-4105-9869-3EA46884A76F}" type="presParOf" srcId="{7D872497-E691-4FEB-913E-7EC72CEBF3D0}" destId="{A11DE03D-9651-4BD5-A4AF-6EFE9F9D4968}" srcOrd="0" destOrd="0" presId="urn:microsoft.com/office/officeart/2018/2/layout/IconVerticalSolidList"/>
    <dgm:cxn modelId="{0295844B-5041-4E9A-B693-784FA263158F}" type="presParOf" srcId="{7D872497-E691-4FEB-913E-7EC72CEBF3D0}" destId="{5F70AEF7-3B7D-4246-8FC4-1F0B88D59A6A}" srcOrd="1" destOrd="0" presId="urn:microsoft.com/office/officeart/2018/2/layout/IconVerticalSolidList"/>
    <dgm:cxn modelId="{6B4EB572-B0E0-4328-AF16-AED2DC029D1D}" type="presParOf" srcId="{7D872497-E691-4FEB-913E-7EC72CEBF3D0}" destId="{6A536913-0789-437C-BE9A-FB97A9D1768A}" srcOrd="2" destOrd="0" presId="urn:microsoft.com/office/officeart/2018/2/layout/IconVerticalSolidList"/>
    <dgm:cxn modelId="{0ED21278-8848-43C1-B45B-1F4C831EDFD1}" type="presParOf" srcId="{7D872497-E691-4FEB-913E-7EC72CEBF3D0}" destId="{CABD45FA-FE43-4B0B-BA6C-EC3DF08074AA}" srcOrd="3" destOrd="0" presId="urn:microsoft.com/office/officeart/2018/2/layout/IconVerticalSolidList"/>
    <dgm:cxn modelId="{3F551AE5-E359-4232-96B5-A6E18B3A9858}" type="presParOf" srcId="{32A9C0EB-7535-4DE6-BE8B-75F452392B1E}" destId="{BE53914E-E023-4A9D-A6EE-0AC4DC849619}" srcOrd="5" destOrd="0" presId="urn:microsoft.com/office/officeart/2018/2/layout/IconVerticalSolidList"/>
    <dgm:cxn modelId="{875A2D58-3042-4B5D-9324-B1FF892AB242}" type="presParOf" srcId="{32A9C0EB-7535-4DE6-BE8B-75F452392B1E}" destId="{7DBA663D-BE7D-4ABD-A598-CE4DBA2C9A9F}" srcOrd="6" destOrd="0" presId="urn:microsoft.com/office/officeart/2018/2/layout/IconVerticalSolidList"/>
    <dgm:cxn modelId="{23AF189F-E286-4539-A8CA-F722B6774FC6}" type="presParOf" srcId="{7DBA663D-BE7D-4ABD-A598-CE4DBA2C9A9F}" destId="{D2C29D68-DFEE-416B-88E7-3D0E832CA684}" srcOrd="0" destOrd="0" presId="urn:microsoft.com/office/officeart/2018/2/layout/IconVerticalSolidList"/>
    <dgm:cxn modelId="{8AF0D69C-755A-498F-A675-120D50F836E8}" type="presParOf" srcId="{7DBA663D-BE7D-4ABD-A598-CE4DBA2C9A9F}" destId="{8859C5C9-97C0-46B3-8C83-D169D4FC5286}" srcOrd="1" destOrd="0" presId="urn:microsoft.com/office/officeart/2018/2/layout/IconVerticalSolidList"/>
    <dgm:cxn modelId="{E62B2A54-3C9A-4D4E-BC94-5FE269CF3DC4}" type="presParOf" srcId="{7DBA663D-BE7D-4ABD-A598-CE4DBA2C9A9F}" destId="{110B684E-5DCA-4771-AFB9-9969C77F4507}" srcOrd="2" destOrd="0" presId="urn:microsoft.com/office/officeart/2018/2/layout/IconVerticalSolidList"/>
    <dgm:cxn modelId="{2F04E5F5-3C9B-4DCA-9882-3CFC8CD50790}" type="presParOf" srcId="{7DBA663D-BE7D-4ABD-A598-CE4DBA2C9A9F}" destId="{E3A573C4-CC41-4BCE-93A1-E23E491AE01B}" srcOrd="3" destOrd="0" presId="urn:microsoft.com/office/officeart/2018/2/layout/IconVerticalSolidList"/>
    <dgm:cxn modelId="{7A695EE7-7084-4F1B-83DA-31AF56A6442C}" type="presParOf" srcId="{32A9C0EB-7535-4DE6-BE8B-75F452392B1E}" destId="{A905088F-AF63-4ED4-8D5F-07C91F32AC72}" srcOrd="7" destOrd="0" presId="urn:microsoft.com/office/officeart/2018/2/layout/IconVerticalSolidList"/>
    <dgm:cxn modelId="{19683B21-0E9F-418F-B7BD-9F5766981C2F}" type="presParOf" srcId="{32A9C0EB-7535-4DE6-BE8B-75F452392B1E}" destId="{48183800-164C-4197-A3C3-C954F820C6C6}" srcOrd="8" destOrd="0" presId="urn:microsoft.com/office/officeart/2018/2/layout/IconVerticalSolidList"/>
    <dgm:cxn modelId="{AF36A2DB-70D2-42AF-899F-3F825088DAEC}" type="presParOf" srcId="{48183800-164C-4197-A3C3-C954F820C6C6}" destId="{1E621ECE-373F-4541-935F-55D77D289E64}" srcOrd="0" destOrd="0" presId="urn:microsoft.com/office/officeart/2018/2/layout/IconVerticalSolidList"/>
    <dgm:cxn modelId="{FE026AFF-D1D5-496F-B331-0CC43A965DAF}" type="presParOf" srcId="{48183800-164C-4197-A3C3-C954F820C6C6}" destId="{1BB4E380-4497-407C-AAF6-4F215EAE450B}" srcOrd="1" destOrd="0" presId="urn:microsoft.com/office/officeart/2018/2/layout/IconVerticalSolidList"/>
    <dgm:cxn modelId="{6CF899AF-6197-47DF-B1D1-F7C579A50339}" type="presParOf" srcId="{48183800-164C-4197-A3C3-C954F820C6C6}" destId="{C1504A6E-E80B-4008-9AE5-0490061AC515}" srcOrd="2" destOrd="0" presId="urn:microsoft.com/office/officeart/2018/2/layout/IconVerticalSolidList"/>
    <dgm:cxn modelId="{7996E942-8A6E-4574-B098-106AB60F8278}" type="presParOf" srcId="{48183800-164C-4197-A3C3-C954F820C6C6}" destId="{2F416FD3-F780-480E-B7E3-D4CDBE06B295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843A05-CC57-4009-9DE0-929CEAB8C0B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F8A8577-60E5-4F03-BDAE-A18F55964630}">
      <dgm:prSet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da-DK" dirty="0">
              <a:solidFill>
                <a:schemeClr val="accent2">
                  <a:lumMod val="20000"/>
                  <a:lumOff val="80000"/>
                </a:schemeClr>
              </a:solidFill>
            </a:rPr>
            <a:t>Forudsige konsekvenser: </a:t>
          </a:r>
          <a:endParaRPr lang="en-US" dirty="0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1114F6DB-5EED-45B5-BD9D-C1A10784CB39}" type="parTrans" cxnId="{226D72D3-6363-48E6-96AA-DF6D75D8C12C}">
      <dgm:prSet/>
      <dgm:spPr/>
      <dgm:t>
        <a:bodyPr/>
        <a:lstStyle/>
        <a:p>
          <a:endParaRPr lang="en-US"/>
        </a:p>
      </dgm:t>
    </dgm:pt>
    <dgm:pt modelId="{1F10F149-B0C8-4CBA-9167-744D8F377743}" type="sibTrans" cxnId="{226D72D3-6363-48E6-96AA-DF6D75D8C12C}">
      <dgm:prSet/>
      <dgm:spPr/>
      <dgm:t>
        <a:bodyPr/>
        <a:lstStyle/>
        <a:p>
          <a:endParaRPr lang="en-US"/>
        </a:p>
      </dgm:t>
    </dgm:pt>
    <dgm:pt modelId="{DC605D89-69DD-4549-B9F8-3B8B91915C67}">
      <dgm:prSet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accent2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r>
            <a:rPr lang="da-DK" dirty="0">
              <a:solidFill>
                <a:schemeClr val="accent2"/>
              </a:solidFill>
            </a:rPr>
            <a:t>Hvad sker der hvis vi ændre denne linje?</a:t>
          </a:r>
          <a:endParaRPr lang="en-US" dirty="0">
            <a:solidFill>
              <a:schemeClr val="accent2"/>
            </a:solidFill>
          </a:endParaRPr>
        </a:p>
      </dgm:t>
    </dgm:pt>
    <dgm:pt modelId="{750B8298-4AA4-4163-B00A-0CF0E2A72D30}" type="parTrans" cxnId="{5A4D17DD-D218-4B3B-BDC3-E39F8E340F3E}">
      <dgm:prSet/>
      <dgm:spPr/>
      <dgm:t>
        <a:bodyPr/>
        <a:lstStyle/>
        <a:p>
          <a:endParaRPr lang="en-US"/>
        </a:p>
      </dgm:t>
    </dgm:pt>
    <dgm:pt modelId="{38C31711-5EA7-43CF-8096-6C713C491187}" type="sibTrans" cxnId="{5A4D17DD-D218-4B3B-BDC3-E39F8E340F3E}">
      <dgm:prSet/>
      <dgm:spPr/>
      <dgm:t>
        <a:bodyPr/>
        <a:lstStyle/>
        <a:p>
          <a:endParaRPr lang="en-US"/>
        </a:p>
      </dgm:t>
    </dgm:pt>
    <dgm:pt modelId="{B915DD52-20CF-4210-B352-F45AC197A9BD}">
      <dgm:prSet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accent2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r>
            <a:rPr lang="da-DK" dirty="0">
              <a:solidFill>
                <a:schemeClr val="accent2"/>
              </a:solidFill>
            </a:rPr>
            <a:t>Hvad returnerer programmet?</a:t>
          </a:r>
          <a:endParaRPr lang="en-US" dirty="0">
            <a:solidFill>
              <a:schemeClr val="accent2"/>
            </a:solidFill>
          </a:endParaRPr>
        </a:p>
      </dgm:t>
    </dgm:pt>
    <dgm:pt modelId="{05C41D13-8A63-462F-95E0-FB4108EC8B76}" type="parTrans" cxnId="{F01AAAEE-1591-44BC-A201-49DD369B189D}">
      <dgm:prSet/>
      <dgm:spPr/>
      <dgm:t>
        <a:bodyPr/>
        <a:lstStyle/>
        <a:p>
          <a:endParaRPr lang="en-US"/>
        </a:p>
      </dgm:t>
    </dgm:pt>
    <dgm:pt modelId="{812F2E21-5AB4-4345-A38D-45100089B5C1}" type="sibTrans" cxnId="{F01AAAEE-1591-44BC-A201-49DD369B189D}">
      <dgm:prSet/>
      <dgm:spPr/>
      <dgm:t>
        <a:bodyPr/>
        <a:lstStyle/>
        <a:p>
          <a:endParaRPr lang="en-US"/>
        </a:p>
      </dgm:t>
    </dgm:pt>
    <dgm:pt modelId="{54FE6F39-F909-4EE2-88A0-707EE0D450F2}">
      <dgm:prSet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r>
            <a:rPr lang="da-DK" dirty="0">
              <a:solidFill>
                <a:schemeClr val="tx2">
                  <a:lumMod val="10000"/>
                  <a:lumOff val="90000"/>
                </a:schemeClr>
              </a:solidFill>
            </a:rPr>
            <a:t>Ændre forudsætninger: </a:t>
          </a:r>
          <a:endParaRPr lang="en-US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9710E284-C036-4326-B557-D856A4A54AD8}" type="parTrans" cxnId="{8DE2FE42-F90D-4C8D-B59C-7625E5582DEA}">
      <dgm:prSet/>
      <dgm:spPr/>
      <dgm:t>
        <a:bodyPr/>
        <a:lstStyle/>
        <a:p>
          <a:endParaRPr lang="en-US"/>
        </a:p>
      </dgm:t>
    </dgm:pt>
    <dgm:pt modelId="{56E16602-BCC7-432A-AA23-8124D878962B}" type="sibTrans" cxnId="{8DE2FE42-F90D-4C8D-B59C-7625E5582DEA}">
      <dgm:prSet/>
      <dgm:spPr/>
      <dgm:t>
        <a:bodyPr/>
        <a:lstStyle/>
        <a:p>
          <a:endParaRPr lang="en-US"/>
        </a:p>
      </dgm:t>
    </dgm:pt>
    <dgm:pt modelId="{25FC2B17-0BEB-4636-A283-2535F8E4EC9E}">
      <dgm:prSet/>
      <dgm:spPr>
        <a:solidFill>
          <a:schemeClr val="tx2">
            <a:lumMod val="10000"/>
            <a:lumOff val="90000"/>
            <a:alpha val="90000"/>
          </a:schemeClr>
        </a:solidFill>
        <a:ln>
          <a:solidFill>
            <a:schemeClr val="tx2">
              <a:lumMod val="10000"/>
              <a:lumOff val="90000"/>
              <a:alpha val="90000"/>
            </a:schemeClr>
          </a:solidFill>
        </a:ln>
      </dgm:spPr>
      <dgm:t>
        <a:bodyPr/>
        <a:lstStyle/>
        <a:p>
          <a:r>
            <a:rPr lang="da-DK" dirty="0">
              <a:solidFill>
                <a:schemeClr val="tx2"/>
              </a:solidFill>
            </a:rPr>
            <a:t>Hvad hvis input, datastruktur ændres eller krav udvides?</a:t>
          </a:r>
          <a:endParaRPr lang="en-US" dirty="0">
            <a:solidFill>
              <a:schemeClr val="tx2"/>
            </a:solidFill>
          </a:endParaRPr>
        </a:p>
      </dgm:t>
    </dgm:pt>
    <dgm:pt modelId="{5A6AC579-0FBD-492E-8BE3-9898E9050A52}" type="parTrans" cxnId="{8DED35C5-B377-4B7D-A18E-35D2CB9564D7}">
      <dgm:prSet/>
      <dgm:spPr/>
      <dgm:t>
        <a:bodyPr/>
        <a:lstStyle/>
        <a:p>
          <a:endParaRPr lang="en-US"/>
        </a:p>
      </dgm:t>
    </dgm:pt>
    <dgm:pt modelId="{831C1884-F050-4C99-ACBE-EC8BF640E5DF}" type="sibTrans" cxnId="{8DED35C5-B377-4B7D-A18E-35D2CB9564D7}">
      <dgm:prSet/>
      <dgm:spPr/>
      <dgm:t>
        <a:bodyPr/>
        <a:lstStyle/>
        <a:p>
          <a:endParaRPr lang="en-US"/>
        </a:p>
      </dgm:t>
    </dgm:pt>
    <dgm:pt modelId="{A7646BBD-0966-4F7A-A3BD-129067BE26E7}">
      <dgm:prSet/>
      <dgm:spPr>
        <a:solidFill>
          <a:schemeClr val="accent1"/>
        </a:solidFill>
        <a:ln>
          <a:solidFill>
            <a:schemeClr val="accent1"/>
          </a:solidFill>
        </a:ln>
      </dgm:spPr>
      <dgm:t>
        <a:bodyPr/>
        <a:lstStyle/>
        <a:p>
          <a:r>
            <a:rPr lang="da-DK" dirty="0">
              <a:solidFill>
                <a:schemeClr val="accent1">
                  <a:lumMod val="20000"/>
                  <a:lumOff val="80000"/>
                </a:schemeClr>
              </a:solidFill>
            </a:rPr>
            <a:t>Kan programmet optimeres: </a:t>
          </a:r>
          <a:endParaRPr lang="en-US" dirty="0">
            <a:solidFill>
              <a:schemeClr val="accent1">
                <a:lumMod val="20000"/>
                <a:lumOff val="80000"/>
              </a:schemeClr>
            </a:solidFill>
          </a:endParaRPr>
        </a:p>
      </dgm:t>
    </dgm:pt>
    <dgm:pt modelId="{3C9CC837-1C76-434A-8117-BB839B4FC438}" type="parTrans" cxnId="{5FB2335F-81A4-46BF-B942-35490B452384}">
      <dgm:prSet/>
      <dgm:spPr/>
      <dgm:t>
        <a:bodyPr/>
        <a:lstStyle/>
        <a:p>
          <a:endParaRPr lang="en-US"/>
        </a:p>
      </dgm:t>
    </dgm:pt>
    <dgm:pt modelId="{3008CEC0-EC5F-47E8-B26B-9052A9BBE42E}" type="sibTrans" cxnId="{5FB2335F-81A4-46BF-B942-35490B452384}">
      <dgm:prSet/>
      <dgm:spPr/>
      <dgm:t>
        <a:bodyPr/>
        <a:lstStyle/>
        <a:p>
          <a:endParaRPr lang="en-US"/>
        </a:p>
      </dgm:t>
    </dgm:pt>
    <dgm:pt modelId="{70DF45E0-3753-41B6-A6AC-AC84351DA649}">
      <dgm:prSet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accent1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r>
            <a:rPr lang="da-DK">
              <a:solidFill>
                <a:schemeClr val="accent1"/>
              </a:solidFill>
            </a:rPr>
            <a:t>Kan løsningen gøres mere effektiv/reducere kompleksitet</a:t>
          </a:r>
          <a:endParaRPr lang="en-US">
            <a:solidFill>
              <a:schemeClr val="accent1"/>
            </a:solidFill>
          </a:endParaRPr>
        </a:p>
      </dgm:t>
    </dgm:pt>
    <dgm:pt modelId="{0073BD56-8B82-4E74-A0B1-D3E00A354924}" type="parTrans" cxnId="{A5397FB9-CB8D-4EE6-81B5-C9B828DC31B5}">
      <dgm:prSet/>
      <dgm:spPr/>
      <dgm:t>
        <a:bodyPr/>
        <a:lstStyle/>
        <a:p>
          <a:endParaRPr lang="en-US"/>
        </a:p>
      </dgm:t>
    </dgm:pt>
    <dgm:pt modelId="{E18805C1-819F-4FF7-B941-0BA35BD45EFF}" type="sibTrans" cxnId="{A5397FB9-CB8D-4EE6-81B5-C9B828DC31B5}">
      <dgm:prSet/>
      <dgm:spPr/>
      <dgm:t>
        <a:bodyPr/>
        <a:lstStyle/>
        <a:p>
          <a:endParaRPr lang="en-US"/>
        </a:p>
      </dgm:t>
    </dgm:pt>
    <dgm:pt modelId="{4249FC02-8DBB-4AD5-B2C4-17F21A045B03}" type="pres">
      <dgm:prSet presAssocID="{8F843A05-CC57-4009-9DE0-929CEAB8C0BA}" presName="Name0" presStyleCnt="0">
        <dgm:presLayoutVars>
          <dgm:dir/>
          <dgm:animLvl val="lvl"/>
          <dgm:resizeHandles val="exact"/>
        </dgm:presLayoutVars>
      </dgm:prSet>
      <dgm:spPr/>
    </dgm:pt>
    <dgm:pt modelId="{36C3080E-E96D-4A6C-9044-B26ED5AE6EB5}" type="pres">
      <dgm:prSet presAssocID="{2F8A8577-60E5-4F03-BDAE-A18F55964630}" presName="linNode" presStyleCnt="0"/>
      <dgm:spPr/>
    </dgm:pt>
    <dgm:pt modelId="{BBD16975-16E9-442E-9876-F7EC6409035B}" type="pres">
      <dgm:prSet presAssocID="{2F8A8577-60E5-4F03-BDAE-A18F55964630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D1386EC7-A8D5-4ADE-9090-CF1908944350}" type="pres">
      <dgm:prSet presAssocID="{2F8A8577-60E5-4F03-BDAE-A18F55964630}" presName="descendantText" presStyleLbl="alignAccFollowNode1" presStyleIdx="0" presStyleCnt="3">
        <dgm:presLayoutVars>
          <dgm:bulletEnabled/>
        </dgm:presLayoutVars>
      </dgm:prSet>
      <dgm:spPr/>
    </dgm:pt>
    <dgm:pt modelId="{A9C031BF-E722-4804-BC5B-3E92E5270C75}" type="pres">
      <dgm:prSet presAssocID="{1F10F149-B0C8-4CBA-9167-744D8F377743}" presName="sp" presStyleCnt="0"/>
      <dgm:spPr/>
    </dgm:pt>
    <dgm:pt modelId="{DA08F655-0DBE-436E-9CC7-B8B38F2DC03A}" type="pres">
      <dgm:prSet presAssocID="{54FE6F39-F909-4EE2-88A0-707EE0D450F2}" presName="linNode" presStyleCnt="0"/>
      <dgm:spPr/>
    </dgm:pt>
    <dgm:pt modelId="{A6964395-EE79-44C2-A164-12E78A82EF18}" type="pres">
      <dgm:prSet presAssocID="{54FE6F39-F909-4EE2-88A0-707EE0D450F2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975F3C84-F9ED-44E3-B39A-BCE7763AC9DC}" type="pres">
      <dgm:prSet presAssocID="{54FE6F39-F909-4EE2-88A0-707EE0D450F2}" presName="descendantText" presStyleLbl="alignAccFollowNode1" presStyleIdx="1" presStyleCnt="3">
        <dgm:presLayoutVars>
          <dgm:bulletEnabled/>
        </dgm:presLayoutVars>
      </dgm:prSet>
      <dgm:spPr/>
    </dgm:pt>
    <dgm:pt modelId="{0051A183-2F0C-413B-82E4-562E04106B7E}" type="pres">
      <dgm:prSet presAssocID="{56E16602-BCC7-432A-AA23-8124D878962B}" presName="sp" presStyleCnt="0"/>
      <dgm:spPr/>
    </dgm:pt>
    <dgm:pt modelId="{C7C9606C-74B4-4AA0-9FD8-D0177475CCF3}" type="pres">
      <dgm:prSet presAssocID="{A7646BBD-0966-4F7A-A3BD-129067BE26E7}" presName="linNode" presStyleCnt="0"/>
      <dgm:spPr/>
    </dgm:pt>
    <dgm:pt modelId="{80DCF592-DF42-4C63-AEC0-C131CA6C4C3F}" type="pres">
      <dgm:prSet presAssocID="{A7646BBD-0966-4F7A-A3BD-129067BE26E7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74971939-8BE5-4BDA-B682-45DA7150D3C3}" type="pres">
      <dgm:prSet presAssocID="{A7646BBD-0966-4F7A-A3BD-129067BE26E7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1C187416-803C-4FD2-BC44-2A304A0C4507}" type="presOf" srcId="{70DF45E0-3753-41B6-A6AC-AC84351DA649}" destId="{74971939-8BE5-4BDA-B682-45DA7150D3C3}" srcOrd="0" destOrd="0" presId="urn:microsoft.com/office/officeart/2016/7/layout/VerticalSolidActionList"/>
    <dgm:cxn modelId="{5FB2335F-81A4-46BF-B942-35490B452384}" srcId="{8F843A05-CC57-4009-9DE0-929CEAB8C0BA}" destId="{A7646BBD-0966-4F7A-A3BD-129067BE26E7}" srcOrd="2" destOrd="0" parTransId="{3C9CC837-1C76-434A-8117-BB839B4FC438}" sibTransId="{3008CEC0-EC5F-47E8-B26B-9052A9BBE42E}"/>
    <dgm:cxn modelId="{8DE2FE42-F90D-4C8D-B59C-7625E5582DEA}" srcId="{8F843A05-CC57-4009-9DE0-929CEAB8C0BA}" destId="{54FE6F39-F909-4EE2-88A0-707EE0D450F2}" srcOrd="1" destOrd="0" parTransId="{9710E284-C036-4326-B557-D856A4A54AD8}" sibTransId="{56E16602-BCC7-432A-AA23-8124D878962B}"/>
    <dgm:cxn modelId="{5B07C559-B9AD-44D2-91E0-818C0F75C1BB}" type="presOf" srcId="{2F8A8577-60E5-4F03-BDAE-A18F55964630}" destId="{BBD16975-16E9-442E-9876-F7EC6409035B}" srcOrd="0" destOrd="0" presId="urn:microsoft.com/office/officeart/2016/7/layout/VerticalSolidActionList"/>
    <dgm:cxn modelId="{CC12738B-828D-497C-8A40-B5FA0A58558F}" type="presOf" srcId="{8F843A05-CC57-4009-9DE0-929CEAB8C0BA}" destId="{4249FC02-8DBB-4AD5-B2C4-17F21A045B03}" srcOrd="0" destOrd="0" presId="urn:microsoft.com/office/officeart/2016/7/layout/VerticalSolidActionList"/>
    <dgm:cxn modelId="{F1324A93-E56E-4F21-A9D9-388DABC48921}" type="presOf" srcId="{B915DD52-20CF-4210-B352-F45AC197A9BD}" destId="{D1386EC7-A8D5-4ADE-9090-CF1908944350}" srcOrd="0" destOrd="1" presId="urn:microsoft.com/office/officeart/2016/7/layout/VerticalSolidActionList"/>
    <dgm:cxn modelId="{08601199-BD47-4762-BF69-548263A8999F}" type="presOf" srcId="{DC605D89-69DD-4549-B9F8-3B8B91915C67}" destId="{D1386EC7-A8D5-4ADE-9090-CF1908944350}" srcOrd="0" destOrd="0" presId="urn:microsoft.com/office/officeart/2016/7/layout/VerticalSolidActionList"/>
    <dgm:cxn modelId="{A5397FB9-CB8D-4EE6-81B5-C9B828DC31B5}" srcId="{A7646BBD-0966-4F7A-A3BD-129067BE26E7}" destId="{70DF45E0-3753-41B6-A6AC-AC84351DA649}" srcOrd="0" destOrd="0" parTransId="{0073BD56-8B82-4E74-A0B1-D3E00A354924}" sibTransId="{E18805C1-819F-4FF7-B941-0BA35BD45EFF}"/>
    <dgm:cxn modelId="{8DED35C5-B377-4B7D-A18E-35D2CB9564D7}" srcId="{54FE6F39-F909-4EE2-88A0-707EE0D450F2}" destId="{25FC2B17-0BEB-4636-A283-2535F8E4EC9E}" srcOrd="0" destOrd="0" parTransId="{5A6AC579-0FBD-492E-8BE3-9898E9050A52}" sibTransId="{831C1884-F050-4C99-ACBE-EC8BF640E5DF}"/>
    <dgm:cxn modelId="{226D72D3-6363-48E6-96AA-DF6D75D8C12C}" srcId="{8F843A05-CC57-4009-9DE0-929CEAB8C0BA}" destId="{2F8A8577-60E5-4F03-BDAE-A18F55964630}" srcOrd="0" destOrd="0" parTransId="{1114F6DB-5EED-45B5-BD9D-C1A10784CB39}" sibTransId="{1F10F149-B0C8-4CBA-9167-744D8F377743}"/>
    <dgm:cxn modelId="{5A4D17DD-D218-4B3B-BDC3-E39F8E340F3E}" srcId="{2F8A8577-60E5-4F03-BDAE-A18F55964630}" destId="{DC605D89-69DD-4549-B9F8-3B8B91915C67}" srcOrd="0" destOrd="0" parTransId="{750B8298-4AA4-4163-B00A-0CF0E2A72D30}" sibTransId="{38C31711-5EA7-43CF-8096-6C713C491187}"/>
    <dgm:cxn modelId="{AFE291E4-CA13-4429-BB98-D2C0F6428297}" type="presOf" srcId="{54FE6F39-F909-4EE2-88A0-707EE0D450F2}" destId="{A6964395-EE79-44C2-A164-12E78A82EF18}" srcOrd="0" destOrd="0" presId="urn:microsoft.com/office/officeart/2016/7/layout/VerticalSolidActionList"/>
    <dgm:cxn modelId="{F01AAAEE-1591-44BC-A201-49DD369B189D}" srcId="{2F8A8577-60E5-4F03-BDAE-A18F55964630}" destId="{B915DD52-20CF-4210-B352-F45AC197A9BD}" srcOrd="1" destOrd="0" parTransId="{05C41D13-8A63-462F-95E0-FB4108EC8B76}" sibTransId="{812F2E21-5AB4-4345-A38D-45100089B5C1}"/>
    <dgm:cxn modelId="{DD5D5BF3-E1DD-44CA-B014-9CC53222AA84}" type="presOf" srcId="{A7646BBD-0966-4F7A-A3BD-129067BE26E7}" destId="{80DCF592-DF42-4C63-AEC0-C131CA6C4C3F}" srcOrd="0" destOrd="0" presId="urn:microsoft.com/office/officeart/2016/7/layout/VerticalSolidActionList"/>
    <dgm:cxn modelId="{A67688FE-D6AD-4F59-A887-6A395AEA248D}" type="presOf" srcId="{25FC2B17-0BEB-4636-A283-2535F8E4EC9E}" destId="{975F3C84-F9ED-44E3-B39A-BCE7763AC9DC}" srcOrd="0" destOrd="0" presId="urn:microsoft.com/office/officeart/2016/7/layout/VerticalSolidActionList"/>
    <dgm:cxn modelId="{83AC1C1B-2A48-4625-B8B6-E27B21CD65E8}" type="presParOf" srcId="{4249FC02-8DBB-4AD5-B2C4-17F21A045B03}" destId="{36C3080E-E96D-4A6C-9044-B26ED5AE6EB5}" srcOrd="0" destOrd="0" presId="urn:microsoft.com/office/officeart/2016/7/layout/VerticalSolidActionList"/>
    <dgm:cxn modelId="{6E8B4C8F-0AB3-4307-9CDE-4213C97E323C}" type="presParOf" srcId="{36C3080E-E96D-4A6C-9044-B26ED5AE6EB5}" destId="{BBD16975-16E9-442E-9876-F7EC6409035B}" srcOrd="0" destOrd="0" presId="urn:microsoft.com/office/officeart/2016/7/layout/VerticalSolidActionList"/>
    <dgm:cxn modelId="{22B5E33F-788C-4AB2-A250-ED16EFB7ACEA}" type="presParOf" srcId="{36C3080E-E96D-4A6C-9044-B26ED5AE6EB5}" destId="{D1386EC7-A8D5-4ADE-9090-CF1908944350}" srcOrd="1" destOrd="0" presId="urn:microsoft.com/office/officeart/2016/7/layout/VerticalSolidActionList"/>
    <dgm:cxn modelId="{05363BF3-3EFB-4E3D-AE68-B842CEA8562B}" type="presParOf" srcId="{4249FC02-8DBB-4AD5-B2C4-17F21A045B03}" destId="{A9C031BF-E722-4804-BC5B-3E92E5270C75}" srcOrd="1" destOrd="0" presId="urn:microsoft.com/office/officeart/2016/7/layout/VerticalSolidActionList"/>
    <dgm:cxn modelId="{CF7A08FF-A455-4205-968C-C3549209E0C7}" type="presParOf" srcId="{4249FC02-8DBB-4AD5-B2C4-17F21A045B03}" destId="{DA08F655-0DBE-436E-9CC7-B8B38F2DC03A}" srcOrd="2" destOrd="0" presId="urn:microsoft.com/office/officeart/2016/7/layout/VerticalSolidActionList"/>
    <dgm:cxn modelId="{C8CC18BB-0979-4381-84A5-80A4D842B26A}" type="presParOf" srcId="{DA08F655-0DBE-436E-9CC7-B8B38F2DC03A}" destId="{A6964395-EE79-44C2-A164-12E78A82EF18}" srcOrd="0" destOrd="0" presId="urn:microsoft.com/office/officeart/2016/7/layout/VerticalSolidActionList"/>
    <dgm:cxn modelId="{110BA061-A5FA-410E-8DD9-E8C99622F24E}" type="presParOf" srcId="{DA08F655-0DBE-436E-9CC7-B8B38F2DC03A}" destId="{975F3C84-F9ED-44E3-B39A-BCE7763AC9DC}" srcOrd="1" destOrd="0" presId="urn:microsoft.com/office/officeart/2016/7/layout/VerticalSolidActionList"/>
    <dgm:cxn modelId="{A64D5FFE-7900-4281-BB50-2B80B4346BEA}" type="presParOf" srcId="{4249FC02-8DBB-4AD5-B2C4-17F21A045B03}" destId="{0051A183-2F0C-413B-82E4-562E04106B7E}" srcOrd="3" destOrd="0" presId="urn:microsoft.com/office/officeart/2016/7/layout/VerticalSolidActionList"/>
    <dgm:cxn modelId="{94A51F50-BD79-4BF7-A32D-3548B77270B3}" type="presParOf" srcId="{4249FC02-8DBB-4AD5-B2C4-17F21A045B03}" destId="{C7C9606C-74B4-4AA0-9FD8-D0177475CCF3}" srcOrd="4" destOrd="0" presId="urn:microsoft.com/office/officeart/2016/7/layout/VerticalSolidActionList"/>
    <dgm:cxn modelId="{FF11E7F7-0472-4AB4-8138-32A5F85E78BF}" type="presParOf" srcId="{C7C9606C-74B4-4AA0-9FD8-D0177475CCF3}" destId="{80DCF592-DF42-4C63-AEC0-C131CA6C4C3F}" srcOrd="0" destOrd="0" presId="urn:microsoft.com/office/officeart/2016/7/layout/VerticalSolidActionList"/>
    <dgm:cxn modelId="{56D98C95-B1BE-4930-8E56-A0AAB81F9797}" type="presParOf" srcId="{C7C9606C-74B4-4AA0-9FD8-D0177475CCF3}" destId="{74971939-8BE5-4BDA-B682-45DA7150D3C3}" srcOrd="1" destOrd="0" presId="urn:microsoft.com/office/officeart/2016/7/layout/VerticalSolidAc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6BF3C-7D6B-4F83-818A-A8E5906F8A6E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0B5F5D-5063-43CF-B7A9-91BE1AC81519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just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0" kern="1200" dirty="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Skabe tydelige læringsmarkører </a:t>
          </a:r>
          <a:endParaRPr lang="en-US" sz="1600" b="0" kern="1200" dirty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sp:txBody>
      <dsp:txXfrm>
        <a:off x="0" y="2124"/>
        <a:ext cx="10515600" cy="724514"/>
      </dsp:txXfrm>
    </dsp:sp>
    <dsp:sp modelId="{AF8A7709-5697-4BFE-8C18-01364B96CA2D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A67855E-096E-48A8-8089-FB4B2B2BB2BD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just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0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Italesætte, dokumentere og reflektere over brugen af AI  – ikke toleres passivt </a:t>
          </a:r>
          <a:endParaRPr lang="en-US" sz="1600" b="0" kern="1200" dirty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sp:txBody>
      <dsp:txXfrm>
        <a:off x="0" y="726639"/>
        <a:ext cx="10515600" cy="724514"/>
      </dsp:txXfrm>
    </dsp:sp>
    <dsp:sp modelId="{E58ABDEF-74D6-4D9F-A0E5-6A1D306E4D00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6A9B86-B52F-42CF-8F50-83000A67B75A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just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0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Opgaver skal redesignes og gentænkes (eks. Prompt først – Præcision bagefter) 	</a:t>
          </a:r>
          <a:endParaRPr lang="en-US" sz="1600" b="0" kern="1200" dirty="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sp:txBody>
      <dsp:txXfrm>
        <a:off x="0" y="1451154"/>
        <a:ext cx="10515600" cy="724514"/>
      </dsp:txXfrm>
    </dsp:sp>
    <dsp:sp modelId="{2030A3B0-DA06-47C6-9C85-4831AAC9CBC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D20520-3E11-478A-B112-794EF77CD9A1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just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0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Flyt fokus fra </a:t>
          </a:r>
          <a:r>
            <a:rPr lang="da-DK" sz="1600" b="0" i="1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hvad der er produceret</a:t>
          </a:r>
          <a:r>
            <a:rPr lang="da-DK" sz="1600" b="0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 til </a:t>
          </a:r>
          <a:r>
            <a:rPr lang="da-DK" sz="1600" b="0" i="1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hvad eleven kan forklare</a:t>
          </a:r>
          <a:r>
            <a:rPr lang="da-DK" sz="1600" b="0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.</a:t>
          </a:r>
          <a:endParaRPr lang="en-US" sz="1600" b="0" kern="120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sp:txBody>
      <dsp:txXfrm>
        <a:off x="0" y="2175669"/>
        <a:ext cx="10515600" cy="724514"/>
      </dsp:txXfrm>
    </dsp:sp>
    <dsp:sp modelId="{1EE6785E-4AB0-4CA8-9BF3-EE85558862B8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BA414D-AD09-4099-9D7E-98E6727E14BA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just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0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Forholde sig kritisk til hvad AI kan og ikke kan…</a:t>
          </a:r>
          <a:endParaRPr lang="en-US" sz="1600" b="0" kern="120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sp:txBody>
      <dsp:txXfrm>
        <a:off x="0" y="2900183"/>
        <a:ext cx="10515600" cy="724514"/>
      </dsp:txXfrm>
    </dsp:sp>
    <dsp:sp modelId="{BCFE1588-8004-4A60-97B2-39A9DCF832C1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2D11D16-AC03-4F83-9869-BD5D1CF2F398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just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0" kern="1200">
              <a:solidFill>
                <a:schemeClr val="tx2">
                  <a:lumMod val="10000"/>
                  <a:lumOff val="90000"/>
                </a:schemeClr>
              </a:solidFill>
              <a:latin typeface="Aptos" panose="020B0004020202020204" pitchFamily="34" charset="0"/>
            </a:rPr>
            <a:t>Regulering og stilladsering er vigtigere end nogensinde før…</a:t>
          </a:r>
          <a:endParaRPr lang="en-US" sz="1600" b="0" kern="1200">
            <a:solidFill>
              <a:schemeClr val="tx2">
                <a:lumMod val="10000"/>
                <a:lumOff val="90000"/>
              </a:schemeClr>
            </a:solidFill>
            <a:latin typeface="Aptos" panose="020B0004020202020204" pitchFamily="34" charset="0"/>
          </a:endParaRPr>
        </a:p>
      </dsp:txBody>
      <dsp:txXfrm>
        <a:off x="0" y="3624698"/>
        <a:ext cx="10515600" cy="724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03EE3-0041-42A0-A005-C62B11FA21D9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000" kern="1200" dirty="0">
              <a:solidFill>
                <a:schemeClr val="accent2"/>
              </a:solidFill>
            </a:rPr>
            <a:t>i undervisningen</a:t>
          </a:r>
          <a:endParaRPr lang="en-US" sz="2000" kern="1200" dirty="0">
            <a:solidFill>
              <a:schemeClr val="accent2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000" kern="1200" dirty="0">
              <a:solidFill>
                <a:schemeClr val="accent2"/>
              </a:solidFill>
            </a:rPr>
            <a:t>i feedback</a:t>
          </a:r>
          <a:endParaRPr lang="en-US" sz="2000" kern="1200" dirty="0">
            <a:solidFill>
              <a:schemeClr val="accent2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000" kern="1200" dirty="0">
              <a:solidFill>
                <a:schemeClr val="accent2"/>
              </a:solidFill>
            </a:rPr>
            <a:t>i den mundtlige prøve</a:t>
          </a:r>
          <a:endParaRPr lang="en-US" sz="2000" kern="1200" dirty="0">
            <a:solidFill>
              <a:schemeClr val="accent2"/>
            </a:solidFill>
          </a:endParaRPr>
        </a:p>
      </dsp:txBody>
      <dsp:txXfrm rot="-5400000">
        <a:off x="3785616" y="295201"/>
        <a:ext cx="6647092" cy="1532257"/>
      </dsp:txXfrm>
    </dsp:sp>
    <dsp:sp modelId="{E15EF2BC-ED67-4E0B-85A1-F7B19B9FBB19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>
              <a:solidFill>
                <a:schemeClr val="accent2">
                  <a:lumMod val="20000"/>
                  <a:lumOff val="80000"/>
                </a:schemeClr>
              </a:solidFill>
              <a:latin typeface="Aptos SemiBold" panose="020B0004020202020204" pitchFamily="34" charset="0"/>
            </a:rPr>
            <a:t>Et </a:t>
          </a:r>
          <a:r>
            <a:rPr lang="da-DK" sz="2000" b="1" kern="1200" dirty="0">
              <a:solidFill>
                <a:schemeClr val="accent2">
                  <a:lumMod val="20000"/>
                  <a:lumOff val="80000"/>
                </a:schemeClr>
              </a:solidFill>
              <a:latin typeface="Aptos SemiBold" panose="020B0004020202020204" pitchFamily="34" charset="0"/>
            </a:rPr>
            <a:t>fælles sprog for faglighed</a:t>
          </a:r>
          <a:r>
            <a:rPr lang="da-DK" sz="2000" kern="1200" dirty="0">
              <a:solidFill>
                <a:schemeClr val="accent2">
                  <a:lumMod val="20000"/>
                  <a:lumOff val="80000"/>
                </a:schemeClr>
              </a:solidFill>
              <a:latin typeface="Aptos SemiBold" panose="020B0004020202020204" pitchFamily="34" charset="0"/>
            </a:rPr>
            <a:t>, der kan bruges:</a:t>
          </a:r>
          <a:endParaRPr lang="en-US" sz="2000" kern="1200" dirty="0">
            <a:solidFill>
              <a:schemeClr val="accent2">
                <a:lumMod val="20000"/>
                <a:lumOff val="80000"/>
              </a:schemeClr>
            </a:solidFill>
            <a:latin typeface="Aptos SemiBold" panose="020B0004020202020204" pitchFamily="34" charset="0"/>
          </a:endParaRPr>
        </a:p>
      </dsp:txBody>
      <dsp:txXfrm>
        <a:off x="103614" y="103667"/>
        <a:ext cx="3578388" cy="1915324"/>
      </dsp:txXfrm>
    </dsp:sp>
    <dsp:sp modelId="{D93CE4F7-D0D8-4C07-9DE7-C26C308BCBBF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000" kern="1200" dirty="0">
              <a:solidFill>
                <a:schemeClr val="tx2"/>
              </a:solidFill>
            </a:rPr>
            <a:t>ikke forbyder AI</a:t>
          </a:r>
          <a:endParaRPr lang="en-US" sz="2000" kern="1200" dirty="0">
            <a:solidFill>
              <a:schemeClr val="tx2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000" kern="1200">
              <a:solidFill>
                <a:schemeClr val="tx2"/>
              </a:solidFill>
            </a:rPr>
            <a:t>ikke fjerner helhedsvurderingen</a:t>
          </a:r>
          <a:endParaRPr lang="en-US" sz="2000" kern="1200">
            <a:solidFill>
              <a:schemeClr val="tx2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000" kern="1200" dirty="0">
              <a:solidFill>
                <a:schemeClr val="tx2"/>
              </a:solidFill>
            </a:rPr>
            <a:t>men </a:t>
          </a:r>
          <a:r>
            <a:rPr lang="da-DK" sz="2000" b="1" kern="1200" dirty="0">
              <a:solidFill>
                <a:schemeClr val="tx2"/>
              </a:solidFill>
            </a:rPr>
            <a:t>gør forståelse </a:t>
          </a:r>
          <a:r>
            <a:rPr lang="da-DK" sz="2000" b="1" u="sng" kern="1200" dirty="0">
              <a:solidFill>
                <a:schemeClr val="tx2"/>
              </a:solidFill>
            </a:rPr>
            <a:t>mere</a:t>
          </a:r>
          <a:r>
            <a:rPr lang="da-DK" sz="2000" b="1" kern="1200" dirty="0">
              <a:solidFill>
                <a:schemeClr val="tx2"/>
              </a:solidFill>
            </a:rPr>
            <a:t> synlig</a:t>
          </a:r>
          <a:endParaRPr lang="en-US" sz="2000" kern="1200" dirty="0">
            <a:solidFill>
              <a:schemeClr val="tx2"/>
            </a:solidFill>
          </a:endParaRPr>
        </a:p>
      </dsp:txBody>
      <dsp:txXfrm rot="-5400000">
        <a:off x="3785616" y="2523880"/>
        <a:ext cx="6647092" cy="1532257"/>
      </dsp:txXfrm>
    </dsp:sp>
    <dsp:sp modelId="{DCBA8191-5258-4C17-B1E2-6AABFB14083C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>
              <a:solidFill>
                <a:schemeClr val="tx2">
                  <a:lumMod val="10000"/>
                  <a:lumOff val="90000"/>
                </a:schemeClr>
              </a:solidFill>
            </a:rPr>
            <a:t>Et sprog, der:</a:t>
          </a:r>
          <a:endParaRPr lang="en-US" sz="20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103614" y="2332346"/>
        <a:ext cx="3578388" cy="1915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F8A32-40BD-4B4E-9479-A962DDBDFC29}">
      <dsp:nvSpPr>
        <dsp:cNvPr id="0" name=""/>
        <dsp:cNvSpPr/>
      </dsp:nvSpPr>
      <dsp:spPr>
        <a:xfrm>
          <a:off x="0" y="341018"/>
          <a:ext cx="10515600" cy="1927800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tx2">
              <a:lumMod val="10000"/>
              <a:lumOff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>
              <a:solidFill>
                <a:schemeClr val="tx2"/>
              </a:solidFill>
            </a:rPr>
            <a:t>Virker programmet?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>
              <a:solidFill>
                <a:schemeClr val="tx2"/>
              </a:solidFill>
            </a:rPr>
            <a:t>Er strukturen pæn?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>
              <a:solidFill>
                <a:schemeClr val="tx2"/>
              </a:solidFill>
            </a:rPr>
            <a:t>Er kravene opfyldt?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>
              <a:solidFill>
                <a:schemeClr val="tx2"/>
              </a:solidFill>
            </a:rPr>
            <a:t>Er der kommentarer?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 err="1">
              <a:solidFill>
                <a:schemeClr val="tx2"/>
              </a:solidFill>
            </a:rPr>
            <a:t>Etc</a:t>
          </a:r>
          <a:r>
            <a:rPr lang="da-DK" sz="1800" kern="1200" dirty="0">
              <a:solidFill>
                <a:schemeClr val="tx2"/>
              </a:solidFill>
            </a:rPr>
            <a:t>…</a:t>
          </a:r>
        </a:p>
      </dsp:txBody>
      <dsp:txXfrm>
        <a:off x="0" y="341018"/>
        <a:ext cx="10515600" cy="1927800"/>
      </dsp:txXfrm>
    </dsp:sp>
    <dsp:sp modelId="{C3FF4731-D617-433D-BA4F-8A308703DF31}">
      <dsp:nvSpPr>
        <dsp:cNvPr id="0" name=""/>
        <dsp:cNvSpPr/>
      </dsp:nvSpPr>
      <dsp:spPr>
        <a:xfrm>
          <a:off x="525780" y="75338"/>
          <a:ext cx="7360920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FØR</a:t>
          </a:r>
        </a:p>
      </dsp:txBody>
      <dsp:txXfrm>
        <a:off x="551719" y="101277"/>
        <a:ext cx="7309042" cy="479482"/>
      </dsp:txXfrm>
    </dsp:sp>
    <dsp:sp modelId="{1C090E51-6497-4426-8E5A-EB933962F510}">
      <dsp:nvSpPr>
        <dsp:cNvPr id="0" name=""/>
        <dsp:cNvSpPr/>
      </dsp:nvSpPr>
      <dsp:spPr>
        <a:xfrm>
          <a:off x="0" y="2631699"/>
          <a:ext cx="10515600" cy="1644300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tx2">
              <a:lumMod val="10000"/>
              <a:lumOff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>
              <a:solidFill>
                <a:schemeClr val="tx2"/>
              </a:solidFill>
            </a:rPr>
            <a:t>Kan eleven forklare sammenhængen?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>
              <a:solidFill>
                <a:schemeClr val="tx2"/>
              </a:solidFill>
            </a:rPr>
            <a:t>Kan eleven begrunde sine designvalg?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>
              <a:solidFill>
                <a:schemeClr val="tx2"/>
              </a:solidFill>
            </a:rPr>
            <a:t>Kan eleven forudsige konsekvenser af ændringer?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800" kern="1200" dirty="0">
              <a:solidFill>
                <a:schemeClr val="tx2"/>
              </a:solidFill>
            </a:rPr>
            <a:t>Kan eleven generalisere løsningen?</a:t>
          </a:r>
        </a:p>
      </dsp:txBody>
      <dsp:txXfrm>
        <a:off x="0" y="2631699"/>
        <a:ext cx="10515600" cy="1644300"/>
      </dsp:txXfrm>
    </dsp:sp>
    <dsp:sp modelId="{57883F9F-79A0-4692-9C18-54A54E588047}">
      <dsp:nvSpPr>
        <dsp:cNvPr id="0" name=""/>
        <dsp:cNvSpPr/>
      </dsp:nvSpPr>
      <dsp:spPr>
        <a:xfrm>
          <a:off x="525780" y="2366018"/>
          <a:ext cx="7360920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NU</a:t>
          </a:r>
        </a:p>
      </dsp:txBody>
      <dsp:txXfrm>
        <a:off x="551719" y="2391957"/>
        <a:ext cx="7309042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7A9BBC-28FF-45A6-B19F-17FE6AF7E5DE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FDD7F-4B94-4B14-8F60-296FFB808364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D43AF-E875-41F7-86B0-946557111250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 dirty="0">
              <a:solidFill>
                <a:schemeClr val="tx2"/>
              </a:solidFill>
            </a:rPr>
            <a:t>Følge </a:t>
          </a:r>
          <a:r>
            <a:rPr lang="da-DK" sz="1900" b="1" kern="1200" dirty="0" err="1">
              <a:solidFill>
                <a:schemeClr val="tx2"/>
              </a:solidFill>
            </a:rPr>
            <a:t>kontrolflow</a:t>
          </a:r>
          <a:r>
            <a:rPr lang="da-DK" sz="1900" b="1" kern="1200" dirty="0">
              <a:solidFill>
                <a:schemeClr val="tx2"/>
              </a:solidFill>
            </a:rPr>
            <a:t>: </a:t>
          </a:r>
          <a:r>
            <a:rPr lang="da-DK" sz="1900" kern="1200" dirty="0">
              <a:solidFill>
                <a:schemeClr val="tx2"/>
              </a:solidFill>
            </a:rPr>
            <a:t>Forstå hvilke linjer der køres – og i hvilken rækkefølge.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837512" y="3404"/>
        <a:ext cx="9678087" cy="725119"/>
      </dsp:txXfrm>
    </dsp:sp>
    <dsp:sp modelId="{C7E60F5B-4338-4B46-B8F1-ACE2B143D789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A7662-A347-4782-9763-A990658E7725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D4580-F048-4B42-836A-EC6F90CB59E5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 dirty="0">
              <a:solidFill>
                <a:schemeClr val="tx2"/>
              </a:solidFill>
            </a:rPr>
            <a:t>Spore variabler og tilstand: </a:t>
          </a:r>
          <a:r>
            <a:rPr lang="da-DK" sz="1900" kern="1200" dirty="0">
              <a:solidFill>
                <a:schemeClr val="tx2"/>
              </a:solidFill>
            </a:rPr>
            <a:t>Se hvordan værdier ændrer sig undervejs.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837512" y="909803"/>
        <a:ext cx="9678087" cy="725119"/>
      </dsp:txXfrm>
    </dsp:sp>
    <dsp:sp modelId="{A11DE03D-9651-4BD5-A4AF-6EFE9F9D4968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0AEF7-3B7D-4246-8FC4-1F0B88D59A6A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D45FA-FE43-4B0B-BA6C-EC3DF08074AA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 dirty="0">
              <a:solidFill>
                <a:schemeClr val="tx2"/>
              </a:solidFill>
            </a:rPr>
            <a:t>Forklare datastrøm: </a:t>
          </a:r>
          <a:r>
            <a:rPr lang="da-DK" sz="1900" kern="1200" dirty="0">
              <a:solidFill>
                <a:schemeClr val="tx2"/>
              </a:solidFill>
            </a:rPr>
            <a:t>Forstå hvordan data bevæger sig mellem funktioner og strukturer.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837512" y="1816202"/>
        <a:ext cx="9678087" cy="725119"/>
      </dsp:txXfrm>
    </dsp:sp>
    <dsp:sp modelId="{D2C29D68-DFEE-416B-88E7-3D0E832CA684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9C5C9-97C0-46B3-8C83-D169D4FC5286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573C4-CC41-4BCE-93A1-E23E491AE01B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 dirty="0">
              <a:solidFill>
                <a:schemeClr val="tx2"/>
              </a:solidFill>
            </a:rPr>
            <a:t>Forudsige fejl og konsekvenser</a:t>
          </a:r>
          <a:br>
            <a:rPr lang="da-DK" sz="1900" kern="1200" dirty="0">
              <a:solidFill>
                <a:schemeClr val="tx2"/>
              </a:solidFill>
            </a:rPr>
          </a:br>
          <a:r>
            <a:rPr lang="da-DK" sz="1900" kern="1200" dirty="0">
              <a:solidFill>
                <a:schemeClr val="tx2"/>
              </a:solidFill>
            </a:rPr>
            <a:t>Kunne identificere hvor og hvorfor noget bryder.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837512" y="2722601"/>
        <a:ext cx="9678087" cy="725119"/>
      </dsp:txXfrm>
    </dsp:sp>
    <dsp:sp modelId="{1E621ECE-373F-4541-935F-55D77D289E64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B4E380-4497-407C-AAF6-4F215EAE450B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16FD3-F780-480E-B7E3-D4CDBE06B295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kern="1200" dirty="0">
              <a:solidFill>
                <a:schemeClr val="tx2"/>
              </a:solidFill>
            </a:rPr>
            <a:t>Begrunde output og effektivitet</a:t>
          </a:r>
          <a:br>
            <a:rPr lang="da-DK" sz="1900" kern="1200" dirty="0">
              <a:solidFill>
                <a:schemeClr val="tx2"/>
              </a:solidFill>
            </a:rPr>
          </a:br>
          <a:r>
            <a:rPr lang="da-DK" sz="1900" kern="1200" dirty="0">
              <a:solidFill>
                <a:schemeClr val="tx2"/>
              </a:solidFill>
            </a:rPr>
            <a:t>Forklare både resultat og kompleksitet.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837512" y="3629000"/>
        <a:ext cx="9678087" cy="7251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86EC7-A8D5-4ADE-9090-CF1908944350}">
      <dsp:nvSpPr>
        <dsp:cNvPr id="0" name=""/>
        <dsp:cNvSpPr/>
      </dsp:nvSpPr>
      <dsp:spPr>
        <a:xfrm>
          <a:off x="2103120" y="1359"/>
          <a:ext cx="8412480" cy="1393787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9050" cap="flat" cmpd="sng" algn="ctr">
          <a:solidFill>
            <a:schemeClr val="accent2">
              <a:lumMod val="20000"/>
              <a:lumOff val="8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54022" rIns="163225" bIns="3540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>
              <a:solidFill>
                <a:schemeClr val="accent2"/>
              </a:solidFill>
            </a:rPr>
            <a:t>Hvad sker der hvis vi ændre denne linje?</a:t>
          </a:r>
          <a:endParaRPr lang="en-US" sz="1700" kern="1200" dirty="0">
            <a:solidFill>
              <a:schemeClr val="accent2"/>
            </a:solidFill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>
              <a:solidFill>
                <a:schemeClr val="accent2"/>
              </a:solidFill>
            </a:rPr>
            <a:t>Hvad returnerer programmet?</a:t>
          </a:r>
          <a:endParaRPr lang="en-US" sz="1700" kern="1200" dirty="0">
            <a:solidFill>
              <a:schemeClr val="accent2"/>
            </a:solidFill>
          </a:endParaRPr>
        </a:p>
      </dsp:txBody>
      <dsp:txXfrm>
        <a:off x="2103120" y="1359"/>
        <a:ext cx="8412480" cy="1393787"/>
      </dsp:txXfrm>
    </dsp:sp>
    <dsp:sp modelId="{BBD16975-16E9-442E-9876-F7EC6409035B}">
      <dsp:nvSpPr>
        <dsp:cNvPr id="0" name=""/>
        <dsp:cNvSpPr/>
      </dsp:nvSpPr>
      <dsp:spPr>
        <a:xfrm>
          <a:off x="0" y="1359"/>
          <a:ext cx="2103120" cy="1393787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7675" rIns="111290" bIns="137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>
              <a:solidFill>
                <a:schemeClr val="accent2">
                  <a:lumMod val="20000"/>
                  <a:lumOff val="80000"/>
                </a:schemeClr>
              </a:solidFill>
            </a:rPr>
            <a:t>Forudsige konsekvenser: </a:t>
          </a:r>
          <a:endParaRPr lang="en-US" sz="2100" kern="1200" dirty="0">
            <a:solidFill>
              <a:schemeClr val="accent2">
                <a:lumMod val="20000"/>
                <a:lumOff val="80000"/>
              </a:schemeClr>
            </a:solidFill>
          </a:endParaRPr>
        </a:p>
      </dsp:txBody>
      <dsp:txXfrm>
        <a:off x="0" y="1359"/>
        <a:ext cx="2103120" cy="1393787"/>
      </dsp:txXfrm>
    </dsp:sp>
    <dsp:sp modelId="{975F3C84-F9ED-44E3-B39A-BCE7763AC9DC}">
      <dsp:nvSpPr>
        <dsp:cNvPr id="0" name=""/>
        <dsp:cNvSpPr/>
      </dsp:nvSpPr>
      <dsp:spPr>
        <a:xfrm>
          <a:off x="2103120" y="1478775"/>
          <a:ext cx="8412480" cy="1393787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tx2">
              <a:lumMod val="10000"/>
              <a:lumOff val="9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54022" rIns="163225" bIns="3540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>
              <a:solidFill>
                <a:schemeClr val="tx2"/>
              </a:solidFill>
            </a:rPr>
            <a:t>Hvad hvis input, datastruktur ændres eller krav udvides?</a:t>
          </a:r>
          <a:endParaRPr lang="en-US" sz="1700" kern="1200" dirty="0">
            <a:solidFill>
              <a:schemeClr val="tx2"/>
            </a:solidFill>
          </a:endParaRPr>
        </a:p>
      </dsp:txBody>
      <dsp:txXfrm>
        <a:off x="2103120" y="1478775"/>
        <a:ext cx="8412480" cy="1393787"/>
      </dsp:txXfrm>
    </dsp:sp>
    <dsp:sp modelId="{A6964395-EE79-44C2-A164-12E78A82EF18}">
      <dsp:nvSpPr>
        <dsp:cNvPr id="0" name=""/>
        <dsp:cNvSpPr/>
      </dsp:nvSpPr>
      <dsp:spPr>
        <a:xfrm>
          <a:off x="0" y="1478775"/>
          <a:ext cx="2103120" cy="1393787"/>
        </a:xfrm>
        <a:prstGeom prst="rect">
          <a:avLst/>
        </a:prstGeom>
        <a:solidFill>
          <a:schemeClr val="tx2"/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7675" rIns="111290" bIns="137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>
              <a:solidFill>
                <a:schemeClr val="tx2">
                  <a:lumMod val="10000"/>
                  <a:lumOff val="90000"/>
                </a:schemeClr>
              </a:solidFill>
            </a:rPr>
            <a:t>Ændre forudsætninger: </a:t>
          </a:r>
          <a:endParaRPr lang="en-US" sz="21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0" y="1478775"/>
        <a:ext cx="2103120" cy="1393787"/>
      </dsp:txXfrm>
    </dsp:sp>
    <dsp:sp modelId="{74971939-8BE5-4BDA-B682-45DA7150D3C3}">
      <dsp:nvSpPr>
        <dsp:cNvPr id="0" name=""/>
        <dsp:cNvSpPr/>
      </dsp:nvSpPr>
      <dsp:spPr>
        <a:xfrm>
          <a:off x="2103120" y="2956190"/>
          <a:ext cx="8412480" cy="1393787"/>
        </a:xfrm>
        <a:prstGeom prst="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9050" cap="flat" cmpd="sng" algn="ctr">
          <a:solidFill>
            <a:schemeClr val="accent1">
              <a:lumMod val="20000"/>
              <a:lumOff val="8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54022" rIns="163225" bIns="3540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>
              <a:solidFill>
                <a:schemeClr val="accent1"/>
              </a:solidFill>
            </a:rPr>
            <a:t>Kan løsningen gøres mere effektiv/reducere kompleksitet</a:t>
          </a:r>
          <a:endParaRPr lang="en-US" sz="1700" kern="1200">
            <a:solidFill>
              <a:schemeClr val="accent1"/>
            </a:solidFill>
          </a:endParaRPr>
        </a:p>
      </dsp:txBody>
      <dsp:txXfrm>
        <a:off x="2103120" y="2956190"/>
        <a:ext cx="8412480" cy="1393787"/>
      </dsp:txXfrm>
    </dsp:sp>
    <dsp:sp modelId="{80DCF592-DF42-4C63-AEC0-C131CA6C4C3F}">
      <dsp:nvSpPr>
        <dsp:cNvPr id="0" name=""/>
        <dsp:cNvSpPr/>
      </dsp:nvSpPr>
      <dsp:spPr>
        <a:xfrm>
          <a:off x="0" y="2956190"/>
          <a:ext cx="2103120" cy="1393787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7675" rIns="111290" bIns="137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>
              <a:solidFill>
                <a:schemeClr val="accent1">
                  <a:lumMod val="20000"/>
                  <a:lumOff val="80000"/>
                </a:schemeClr>
              </a:solidFill>
            </a:rPr>
            <a:t>Kan programmet optimeres: </a:t>
          </a:r>
          <a:endParaRPr lang="en-US" sz="2100" kern="1200" dirty="0">
            <a:solidFill>
              <a:schemeClr val="accent1">
                <a:lumMod val="20000"/>
                <a:lumOff val="80000"/>
              </a:schemeClr>
            </a:solidFill>
          </a:endParaRPr>
        </a:p>
      </dsp:txBody>
      <dsp:txXfrm>
        <a:off x="0" y="2956190"/>
        <a:ext cx="2103120" cy="1393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290F2-B7AD-4856-9C3C-D9602E23109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49E0D-DED3-4F69-A5BA-EC9057A572E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451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https://metr.org/blog/2025-07-10-early-2025-ai-experienced-os-dev-study/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49E0D-DED3-4F69-A5BA-EC9057A572ED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843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da-DK" altLang="da-DK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Kilde: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200" b="0" i="0" dirty="0">
                <a:effectLst/>
                <a:latin typeface="rival-sans"/>
              </a:rPr>
              <a:t>A Review of Generative AI in Computer Science Education: Challenges and Opportunities in Accuracy, Authenticity, and Assessment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1200" b="0" i="0" dirty="0">
              <a:effectLst/>
              <a:latin typeface="rival-sans"/>
            </a:endParaRP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49E0D-DED3-4F69-A5BA-EC9057A572ED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10004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clean, academic-style infographic with three side-by-side line graphs on a white background.</a:t>
            </a:r>
          </a:p>
          <a:p>
            <a:r>
              <a:rPr lang="en-US" dirty="0"/>
              <a:t>The design must be minimal, professional, and suitable for an educational research presentation.</a:t>
            </a:r>
          </a:p>
          <a:p>
            <a:r>
              <a:rPr lang="en-US" dirty="0"/>
              <a:t>Use black axes, consistent scale across all three graphs, and smooth colored curves.</a:t>
            </a:r>
          </a:p>
          <a:p>
            <a:r>
              <a:rPr lang="en-US" dirty="0"/>
              <a:t>No decorative icons, no illustrations, no gradients, no 3D effects.</a:t>
            </a:r>
          </a:p>
          <a:p>
            <a:endParaRPr lang="en-US" dirty="0"/>
          </a:p>
          <a:p>
            <a:r>
              <a:rPr lang="en-US" dirty="0"/>
              <a:t>All graphs must have:</a:t>
            </a:r>
          </a:p>
          <a:p>
            <a:endParaRPr lang="en-US" dirty="0"/>
          </a:p>
          <a:p>
            <a:r>
              <a:rPr lang="en-US" dirty="0"/>
              <a:t>X-axis labeled: “</a:t>
            </a:r>
            <a:r>
              <a:rPr lang="en-US" dirty="0" err="1"/>
              <a:t>Kompetence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Y-axis labeled: “</a:t>
            </a:r>
            <a:r>
              <a:rPr lang="en-US" dirty="0" err="1"/>
              <a:t>Selvtillid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Identical axis scale for comparison</a:t>
            </a:r>
          </a:p>
          <a:p>
            <a:endParaRPr lang="en-US" dirty="0"/>
          </a:p>
          <a:p>
            <a:r>
              <a:rPr lang="en-US" dirty="0"/>
              <a:t>Clean sans-serif typography</a:t>
            </a:r>
          </a:p>
          <a:p>
            <a:endParaRPr lang="en-US" dirty="0"/>
          </a:p>
          <a:p>
            <a:r>
              <a:rPr lang="en-US" dirty="0"/>
              <a:t>Graph 1</a:t>
            </a:r>
          </a:p>
          <a:p>
            <a:endParaRPr lang="en-US" dirty="0"/>
          </a:p>
          <a:p>
            <a:r>
              <a:rPr lang="en-US" dirty="0"/>
              <a:t>Title: “A: </a:t>
            </a:r>
            <a:r>
              <a:rPr lang="en-US" dirty="0" err="1"/>
              <a:t>Klassisk</a:t>
            </a:r>
            <a:r>
              <a:rPr lang="en-US" dirty="0"/>
              <a:t> Dunning-Kruger-</a:t>
            </a:r>
            <a:r>
              <a:rPr lang="en-US" dirty="0" err="1"/>
              <a:t>effekt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Draw the traditional Dunning-Kruger curve:</a:t>
            </a:r>
          </a:p>
          <a:p>
            <a:endParaRPr lang="en-US" dirty="0"/>
          </a:p>
          <a:p>
            <a:r>
              <a:rPr lang="en-US" dirty="0"/>
              <a:t>Rapid rise in self-confidence at low competence</a:t>
            </a:r>
          </a:p>
          <a:p>
            <a:endParaRPr lang="en-US" dirty="0"/>
          </a:p>
          <a:p>
            <a:r>
              <a:rPr lang="en-US" dirty="0"/>
              <a:t>Peak labeled “Mount Stupid”</a:t>
            </a:r>
          </a:p>
          <a:p>
            <a:endParaRPr lang="en-US" dirty="0"/>
          </a:p>
          <a:p>
            <a:r>
              <a:rPr lang="en-US" dirty="0"/>
              <a:t>Sharp drop labeled “Dal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fortvivlelse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Gradual rise toward “Plateau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mestring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Use a red curve.</a:t>
            </a:r>
          </a:p>
          <a:p>
            <a:endParaRPr lang="en-US" dirty="0"/>
          </a:p>
          <a:p>
            <a:r>
              <a:rPr lang="en-US" dirty="0"/>
              <a:t>Graph 2</a:t>
            </a:r>
          </a:p>
          <a:p>
            <a:endParaRPr lang="en-US" dirty="0"/>
          </a:p>
          <a:p>
            <a:r>
              <a:rPr lang="en-US" dirty="0"/>
              <a:t>Title: “B: </a:t>
            </a:r>
            <a:r>
              <a:rPr lang="en-US" dirty="0" err="1"/>
              <a:t>Ureguleret</a:t>
            </a:r>
            <a:r>
              <a:rPr lang="en-US" dirty="0"/>
              <a:t> AI-</a:t>
            </a:r>
            <a:r>
              <a:rPr lang="en-US" dirty="0" err="1"/>
              <a:t>brug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Draw a curve where:</a:t>
            </a:r>
          </a:p>
          <a:p>
            <a:endParaRPr lang="en-US" dirty="0"/>
          </a:p>
          <a:p>
            <a:r>
              <a:rPr lang="en-US" dirty="0"/>
              <a:t>Self-confidence rises rapidly like in Dunning-Kruger</a:t>
            </a:r>
          </a:p>
          <a:p>
            <a:endParaRPr lang="en-US" dirty="0"/>
          </a:p>
          <a:p>
            <a:r>
              <a:rPr lang="en-US" dirty="0"/>
              <a:t>It reaches a peak labeled “Mount Stupid”</a:t>
            </a:r>
          </a:p>
          <a:p>
            <a:endParaRPr lang="en-US" dirty="0"/>
          </a:p>
          <a:p>
            <a:r>
              <a:rPr lang="en-US" dirty="0"/>
              <a:t>After the peak, the line becomes completely horizontal</a:t>
            </a:r>
          </a:p>
          <a:p>
            <a:endParaRPr lang="en-US" dirty="0"/>
          </a:p>
          <a:p>
            <a:r>
              <a:rPr lang="en-US" dirty="0"/>
              <a:t>No drop into a valley</a:t>
            </a:r>
          </a:p>
          <a:p>
            <a:endParaRPr lang="en-US" dirty="0"/>
          </a:p>
          <a:p>
            <a:r>
              <a:rPr lang="en-US" dirty="0"/>
              <a:t>No further increase in competence</a:t>
            </a:r>
          </a:p>
          <a:p>
            <a:endParaRPr lang="en-US" dirty="0"/>
          </a:p>
          <a:p>
            <a:r>
              <a:rPr lang="en-US" dirty="0"/>
              <a:t>The curve remains flat at high self-confidence</a:t>
            </a:r>
          </a:p>
          <a:p>
            <a:endParaRPr lang="en-US" dirty="0"/>
          </a:p>
          <a:p>
            <a:r>
              <a:rPr lang="en-US" dirty="0"/>
              <a:t>Competence does not meaningfully increase</a:t>
            </a:r>
          </a:p>
          <a:p>
            <a:endParaRPr lang="en-US" dirty="0"/>
          </a:p>
          <a:p>
            <a:r>
              <a:rPr lang="en-US" dirty="0"/>
              <a:t>The visual effect must clearly show stagnation in competence development.</a:t>
            </a:r>
          </a:p>
          <a:p>
            <a:endParaRPr lang="en-US" dirty="0"/>
          </a:p>
          <a:p>
            <a:r>
              <a:rPr lang="en-US" dirty="0"/>
              <a:t>Use an orange curve.</a:t>
            </a:r>
          </a:p>
          <a:p>
            <a:endParaRPr lang="en-US" dirty="0"/>
          </a:p>
          <a:p>
            <a:r>
              <a:rPr lang="en-US" dirty="0"/>
              <a:t>Add small text near the flat section:</a:t>
            </a:r>
          </a:p>
          <a:p>
            <a:r>
              <a:rPr lang="en-US" dirty="0"/>
              <a:t>“Høj </a:t>
            </a:r>
            <a:r>
              <a:rPr lang="en-US" dirty="0" err="1"/>
              <a:t>selvtillid</a:t>
            </a:r>
            <a:r>
              <a:rPr lang="en-US" dirty="0"/>
              <a:t> – </a:t>
            </a:r>
            <a:r>
              <a:rPr lang="en-US" dirty="0" err="1"/>
              <a:t>ingen</a:t>
            </a:r>
            <a:r>
              <a:rPr lang="en-US" dirty="0"/>
              <a:t> reel </a:t>
            </a:r>
            <a:r>
              <a:rPr lang="en-US" dirty="0" err="1"/>
              <a:t>kompetenceudvikling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Graph 3</a:t>
            </a:r>
          </a:p>
          <a:p>
            <a:endParaRPr lang="en-US" dirty="0"/>
          </a:p>
          <a:p>
            <a:r>
              <a:rPr lang="en-US" dirty="0"/>
              <a:t>Title: “C: </a:t>
            </a:r>
            <a:r>
              <a:rPr lang="en-US" dirty="0" err="1"/>
              <a:t>Stilladseret</a:t>
            </a:r>
            <a:r>
              <a:rPr lang="en-US" dirty="0"/>
              <a:t> AI-</a:t>
            </a:r>
            <a:r>
              <a:rPr lang="en-US" dirty="0" err="1"/>
              <a:t>brug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Draw a modified Dunning-Kruger curve:</a:t>
            </a:r>
          </a:p>
          <a:p>
            <a:endParaRPr lang="en-US" dirty="0"/>
          </a:p>
          <a:p>
            <a:r>
              <a:rPr lang="en-US" dirty="0"/>
              <a:t>Initial rise in confidence</a:t>
            </a:r>
          </a:p>
          <a:p>
            <a:endParaRPr lang="en-US" dirty="0"/>
          </a:p>
          <a:p>
            <a:r>
              <a:rPr lang="en-US" dirty="0"/>
              <a:t>A smaller, less dramatic drop</a:t>
            </a:r>
          </a:p>
          <a:p>
            <a:endParaRPr lang="en-US" dirty="0"/>
          </a:p>
          <a:p>
            <a:r>
              <a:rPr lang="en-US" dirty="0"/>
              <a:t>Then steady upward progression</a:t>
            </a:r>
          </a:p>
          <a:p>
            <a:endParaRPr lang="en-US" dirty="0"/>
          </a:p>
          <a:p>
            <a:r>
              <a:rPr lang="en-US" dirty="0"/>
              <a:t>The curve gradually stabilizes into mastery</a:t>
            </a:r>
          </a:p>
          <a:p>
            <a:endParaRPr lang="en-US" dirty="0"/>
          </a:p>
          <a:p>
            <a:r>
              <a:rPr lang="en-US" dirty="0"/>
              <a:t>Use a green curve</a:t>
            </a:r>
          </a:p>
          <a:p>
            <a:endParaRPr lang="en-US" dirty="0"/>
          </a:p>
          <a:p>
            <a:r>
              <a:rPr lang="en-US" dirty="0"/>
              <a:t>Add small label near the upward slope:</a:t>
            </a:r>
          </a:p>
          <a:p>
            <a:r>
              <a:rPr lang="en-US" dirty="0"/>
              <a:t>“</a:t>
            </a:r>
            <a:r>
              <a:rPr lang="en-US" dirty="0" err="1"/>
              <a:t>Refleksion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metakognition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The purpose is to clearly compare:</a:t>
            </a:r>
          </a:p>
          <a:p>
            <a:endParaRPr lang="en-US" dirty="0"/>
          </a:p>
          <a:p>
            <a:r>
              <a:rPr lang="en-US" dirty="0"/>
              <a:t>Natural learning progression</a:t>
            </a:r>
          </a:p>
          <a:p>
            <a:endParaRPr lang="en-US" dirty="0"/>
          </a:p>
          <a:p>
            <a:r>
              <a:rPr lang="en-US" dirty="0"/>
              <a:t>Stagnation due to unregulated AI use</a:t>
            </a:r>
          </a:p>
          <a:p>
            <a:endParaRPr lang="en-US" dirty="0"/>
          </a:p>
          <a:p>
            <a:r>
              <a:rPr lang="en-US" dirty="0"/>
              <a:t>Guided progression with scaffolding</a:t>
            </a:r>
          </a:p>
          <a:p>
            <a:endParaRPr lang="en-US" dirty="0"/>
          </a:p>
          <a:p>
            <a:r>
              <a:rPr lang="en-US" dirty="0"/>
              <a:t>The infographic must clearly emphasize that Graph B shows no further competence growth after the initial peak.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49E0D-DED3-4F69-A5BA-EC9057A572ED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685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BD53D-1025-F4D8-1BB3-7FBE5B1F8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44A3D9D-9223-F612-BBF4-4882260CB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AB9C14D-1919-C630-EE09-8C26C3492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1E2538D-1BCE-EE94-B2AF-9C30D601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341A21-DE0E-7575-D048-372E90AA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922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CDDB4-16A4-2CF2-3FF2-30DD83C4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2E63F1-0CB5-B79C-2B53-2D3DF6C75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4436F55-B441-9549-C6B7-B61088FB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0754A43-C260-A9EB-44ED-0ED1ECB4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806C0B6-393F-4918-11E7-B07A20C3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767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DC53DC-16F3-5A9B-88BF-F951ED93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8ECCD89-7943-C44E-A227-799FB7D4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8DE5F82-17A8-2A75-6780-6639ECB0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E28212F-25F1-B8EC-AE10-72C3BED2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7CDA230-0C3B-9975-89EC-50C3727D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65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8916E-5C34-10FB-BCF4-585E284A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7CDD86A-D2C5-3730-1302-43AA76DE5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F1B2217-ED27-759D-19AB-C0FCBCCDC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84B3F06-33C9-B83D-9FFA-92C6509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EE06B48-AF89-F88C-9F3E-A717D016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A7DBD64-93E7-42E4-0EFE-A8A13154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219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002FC-B7C6-2755-CB6A-6E9679AA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F5675DA-0835-D88C-0F81-74F6FF8E6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A3D2CEA-04AA-DE59-97EB-97E36E2F3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42AB5AF-F6E0-0D4D-5C10-853A6945B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CE0FF5C1-D805-1914-4B7B-5C36ECAA3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CA821C61-3E9D-0523-E7FC-32F27738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69F3498-B62A-01A3-846C-A1DE994E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00276CF-EDA8-2CB3-6FAF-73B5C8B2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930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4BE9A6-8026-39C9-1350-40FB83B9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3FAA861-43A2-9D38-91E7-C4BB9043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F8E797C-E1C5-4BEF-E5F3-1710D8897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749E5ED-96E9-134D-9BE3-495D66D1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2265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BAE9ECC9-1CE8-3339-9313-2B9AC016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D8AEAEF2-C586-D9FC-434B-C527AF5D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1BC32AB-9347-9B3F-F40C-A26964ED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127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41441-91F1-0554-9C1A-87C380370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0326CC4-EFAE-1432-EA24-F90AB8C15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9957223-3712-1887-DCA8-7970294B5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EA10365-07B1-8BB8-FD5E-6B395C53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A6D16D2-4D9D-F67E-D2AA-A3E8DE0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47DB50E-DA9A-8E82-C020-F3125C4F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717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DB1CD9-4012-A56F-995A-7251E2737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271A469-61E3-E730-7C68-0BB13D4B5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08D9EB3-81FD-D588-BDBC-9D3856034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D15BBC1-1BB9-6B98-5165-10C7BD897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89B965D-57C6-8CF8-A0AE-47427CAE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4A9C90C-490D-DFD3-83DA-F1804ECE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402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DFE922-54D9-A99E-431E-2584C087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7D87A52-4013-324E-41AE-17EEC8D4D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A948916-9F1D-E456-B698-EB4B0BBD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213326D-7D23-E54C-77FF-FE1AC5A4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E7392A-E5AE-B96A-A00B-57F7D33A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766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20AC31DA-1CB7-1B5A-7B89-97297B62C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A7D60B0-DF7A-97E8-A26B-70AE00345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2210A4D-E2A4-F956-1951-FE597E52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793F093-478C-F070-8054-17CEA399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B3ADB83-DC46-6AB0-EEF6-F6672781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174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3997A1CF-EB43-6273-D74C-CC2FBAC8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CB6EC7A-5E85-A285-4DDA-BF2C64E23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F431AEE-59B1-E22F-1271-A09CDC498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DBC13-93BC-4398-8BF8-C454AA2E5D18}" type="datetimeFigureOut">
              <a:rPr lang="da-DK" smtClean="0"/>
              <a:t>28-02-2026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BCF111A-721C-5CFB-8E9F-DADFE97A0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EA4CEE7-09D0-F350-3B77-ED567651E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DF851-3171-432A-89A5-76E55DA5D2A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490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st@nextkbh.dk" TargetMode="External"/><Relationship Id="rId2" Type="http://schemas.openxmlformats.org/officeDocument/2006/relationships/hyperlink" Target="http://henrikstern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1A0AA0-3D60-F75C-0498-0DD8D19CE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a-DK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Fra kode til forståelse – </a:t>
            </a:r>
            <a:br>
              <a:rPr lang="da-DK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</a:br>
            <a:r>
              <a:rPr lang="da-DK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SOLO-taksonomien i en AI-tid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A81F50C-4634-0554-4F31-BEBD62624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Af Henrik Sterner</a:t>
            </a: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Lektor i datalogi (informatik/programmering), matematik og psykologi</a:t>
            </a: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henriksterner.github.io</a:t>
            </a: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/ </a:t>
            </a: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hst@nextkbh.dk</a:t>
            </a: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4" name="Undertitel 2">
            <a:extLst>
              <a:ext uri="{FF2B5EF4-FFF2-40B4-BE49-F238E27FC236}">
                <a16:creationId xmlns:a16="http://schemas.microsoft.com/office/drawing/2014/main" id="{125C104A-2F03-E676-EAA4-34C7963A2407}"/>
              </a:ext>
            </a:extLst>
          </p:cNvPr>
          <p:cNvSpPr txBox="1">
            <a:spLocks/>
          </p:cNvSpPr>
          <p:nvPr/>
        </p:nvSpPr>
        <p:spPr>
          <a:xfrm>
            <a:off x="1612900" y="52578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FIP 2026</a:t>
            </a: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89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B69116A-DDD3-33DE-2B50-09B6B390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70" y="259428"/>
            <a:ext cx="6307495" cy="1098725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F351F85B-26C9-EC06-37EE-75DCB3BAA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0" y="371800"/>
            <a:ext cx="4508622" cy="2066731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63B465D8-53A9-02C2-3F6E-94B8F19EA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46" y="3313178"/>
            <a:ext cx="5478916" cy="3285394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3BDA4A28-E4C4-6F9E-F944-9896A029F97E}"/>
              </a:ext>
            </a:extLst>
          </p:cNvPr>
          <p:cNvSpPr txBox="1"/>
          <p:nvPr/>
        </p:nvSpPr>
        <p:spPr>
          <a:xfrm>
            <a:off x="3761178" y="3970176"/>
            <a:ext cx="21133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0" i="0" u="none" strike="noStrike" baseline="0" dirty="0">
                <a:solidFill>
                  <a:srgbClr val="000000"/>
                </a:solidFill>
              </a:rPr>
              <a:t>Gennemsnittet på tværs af alle elevernes besvarelser er 23 %: Altså mener eleverne i gennemsnit, at man må kopiere knap en fjerdedel af en aflevering fra et AI-genereret udkast, </a:t>
            </a:r>
            <a:endParaRPr lang="da-DK" sz="1200" dirty="0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9E25B1D0-1118-B438-1CB9-B0297CC1D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62" y="1299792"/>
            <a:ext cx="4308650" cy="2417747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35250ED4-0861-772B-BC63-CBE500EB1A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6225" y="3970176"/>
            <a:ext cx="4358896" cy="260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7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Visionnaire - The 60% Trap: Why AI speeds up the Start and gets Stuck at  the Finish">
            <a:extLst>
              <a:ext uri="{FF2B5EF4-FFF2-40B4-BE49-F238E27FC236}">
                <a16:creationId xmlns:a16="http://schemas.microsoft.com/office/drawing/2014/main" id="{89938DF9-7D3E-EDB1-D6D8-0F94688414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8983" y="2385586"/>
            <a:ext cx="5030097" cy="265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E90007A5-D473-ACE7-1033-9B0FD57BF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20" y="862348"/>
            <a:ext cx="6296139" cy="591397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B5D9EBA5-8D45-130E-36A8-228213B50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801" y="639573"/>
            <a:ext cx="3674460" cy="1305116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4904D62C-ED65-DB2F-A5D9-BFFB5A786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667" y="1875859"/>
            <a:ext cx="5996047" cy="3334459"/>
          </a:xfrm>
          <a:prstGeom prst="rect">
            <a:avLst/>
          </a:prstGeom>
        </p:spPr>
      </p:pic>
      <p:sp>
        <p:nvSpPr>
          <p:cNvPr id="13" name="Tekstfelt 12">
            <a:extLst>
              <a:ext uri="{FF2B5EF4-FFF2-40B4-BE49-F238E27FC236}">
                <a16:creationId xmlns:a16="http://schemas.microsoft.com/office/drawing/2014/main" id="{D0B7049A-F20C-FDB6-BBA6-305856C2F479}"/>
              </a:ext>
            </a:extLst>
          </p:cNvPr>
          <p:cNvSpPr txBox="1"/>
          <p:nvPr/>
        </p:nvSpPr>
        <p:spPr>
          <a:xfrm>
            <a:off x="317667" y="5547903"/>
            <a:ext cx="11563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2"/>
                </a:solidFill>
                <a:effectLst/>
              </a:rPr>
              <a:t>When developers are allowed to use AI tools, they take 19% longer to complete issues—a significant slowdown that goes against developer beliefs and expert forecasts. This gap between perception and reality is striking: developers expected AI to speed them up by 24%, and even after experiencing the slowdown, they still believed AI had sped them up by 20%.</a:t>
            </a:r>
            <a:endParaRPr lang="da-DK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75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61" name="Rectangle 9260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922CA2-66B8-17A2-EBBC-74FD5092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337"/>
            <a:ext cx="10730023" cy="11342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F0502020204030204" pitchFamily="34" charset="0"/>
              </a:rPr>
              <a:t>Metastudier: Den sorte boks i elevens kode</a:t>
            </a:r>
            <a:endParaRPr lang="en-US" sz="4000" kern="1200" dirty="0">
              <a:solidFill>
                <a:schemeClr val="tx2"/>
              </a:solidFill>
              <a:latin typeface="Aptos SemiBold" panose="020F0502020204030204" pitchFamily="34" charset="0"/>
            </a:endParaRP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4829F74B-FFCC-69AB-2101-188EA307C23B}"/>
              </a:ext>
            </a:extLst>
          </p:cNvPr>
          <p:cNvSpPr/>
          <p:nvPr/>
        </p:nvSpPr>
        <p:spPr>
          <a:xfrm>
            <a:off x="838200" y="2024743"/>
            <a:ext cx="10363200" cy="4191000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313C9E1-6D7F-EE0C-1E02-181A35FC2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7429" y="2063873"/>
            <a:ext cx="9666514" cy="40710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da-DK" altLang="da-DK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Vi bedømmer kode, vi ikke længere ved, om eleverne forstå</a:t>
            </a:r>
            <a:r>
              <a:rPr lang="da-DK" altLang="da-DK" sz="1600" b="1" dirty="0">
                <a:solidFill>
                  <a:schemeClr val="tx2"/>
                </a:solidFill>
              </a:rPr>
              <a:t>r: </a:t>
            </a: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Korrekte løsninger kan være resultatet af dyb faglighed – eller et godt prompt.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da-DK" altLang="da-DK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Nogle (stærke) elever lærer mere end nogensinde – andre lærer næsten ingenting</a:t>
            </a:r>
            <a:r>
              <a:rPr lang="da-DK" altLang="da-DK" sz="1600" dirty="0">
                <a:solidFill>
                  <a:schemeClr val="tx2"/>
                </a:solidFill>
              </a:rPr>
              <a:t>: </a:t>
            </a: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AI forstærker forskelle: de stærke bliver stærkere, de usikre bliver afhængige.</a:t>
            </a:r>
            <a:endParaRPr lang="da-DK" altLang="da-DK" sz="1600" dirty="0">
              <a:solidFill>
                <a:schemeClr val="tx2"/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endParaRPr lang="da-DK" altLang="da-DK" sz="1600" dirty="0">
              <a:solidFill>
                <a:schemeClr val="tx2"/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da-DK" altLang="da-DK" sz="1600" b="1" dirty="0">
                <a:solidFill>
                  <a:schemeClr val="tx2"/>
                </a:solidFill>
              </a:rPr>
              <a:t>Selvbedrag bliver en reel og systemisk risiko: </a:t>
            </a:r>
            <a:r>
              <a:rPr lang="da-DK" altLang="da-DK" sz="1600" dirty="0">
                <a:solidFill>
                  <a:schemeClr val="tx2"/>
                </a:solidFill>
              </a:rPr>
              <a:t>Elever kan opleve, at  de forstår, fordi koden virker – uden at kunne forklare, ændre eller genbruge koden. </a:t>
            </a:r>
            <a:r>
              <a:rPr lang="da-DK" altLang="da-DK" sz="1600" dirty="0" err="1">
                <a:solidFill>
                  <a:schemeClr val="tx2"/>
                </a:solidFill>
              </a:rPr>
              <a:t>Illussion</a:t>
            </a:r>
            <a:r>
              <a:rPr lang="da-DK" altLang="da-DK" sz="1600" dirty="0">
                <a:solidFill>
                  <a:schemeClr val="tx2"/>
                </a:solidFill>
              </a:rPr>
              <a:t> af kompetence og faglig forståelse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da-DK" altLang="da-DK" sz="1600" dirty="0">
              <a:solidFill>
                <a:schemeClr val="tx2"/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da-DK" altLang="da-DK" sz="1600" b="1" dirty="0">
                <a:solidFill>
                  <a:schemeClr val="tx2"/>
                </a:solidFill>
              </a:rPr>
              <a:t>Forbud er IKKE vejen frem – tydelig didaktisk styring er.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da-DK" altLang="da-DK" sz="1600" dirty="0">
              <a:solidFill>
                <a:schemeClr val="tx2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da-DK" altLang="da-DK" sz="1600" b="1" dirty="0">
              <a:solidFill>
                <a:schemeClr val="tx2"/>
              </a:solidFill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1600" b="0" i="0" dirty="0"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5276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C3ECB-5023-52E3-3647-8E37AB22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alt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Forskningen peger på at vi skal…</a:t>
            </a:r>
            <a:endParaRPr lang="da-DK" sz="4000" dirty="0">
              <a:solidFill>
                <a:schemeClr val="tx2">
                  <a:lumMod val="10000"/>
                  <a:lumOff val="90000"/>
                </a:schemeClr>
              </a:solidFill>
              <a:latin typeface="Aptos SemiBold" panose="020B0004020202020204" pitchFamily="34" charset="0"/>
            </a:endParaRP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521E1C7-DB00-2F75-366F-128C6324D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526160"/>
              </p:ext>
            </p:extLst>
          </p:nvPr>
        </p:nvGraphicFramePr>
        <p:xfrm>
          <a:off x="838200" y="186916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67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 descr="Et billede, der indeholder tekst, diagram, linje/række, Font/skrifttype&#10;&#10;Indhold genereret af kunstig intelligens kan være forkert.">
            <a:extLst>
              <a:ext uri="{FF2B5EF4-FFF2-40B4-BE49-F238E27FC236}">
                <a16:creationId xmlns:a16="http://schemas.microsoft.com/office/drawing/2014/main" id="{186DDEE9-50C8-19EE-92A4-FE1ADB2EA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06" b="14302"/>
          <a:stretch/>
        </p:blipFill>
        <p:spPr>
          <a:xfrm>
            <a:off x="931622" y="2021884"/>
            <a:ext cx="9867007" cy="4439628"/>
          </a:xfr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530DD84A-A658-8EAA-35CA-EAB00BEB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01" y="396488"/>
            <a:ext cx="11042798" cy="1410542"/>
          </a:xfrm>
        </p:spPr>
        <p:txBody>
          <a:bodyPr>
            <a:noAutofit/>
          </a:bodyPr>
          <a:lstStyle/>
          <a:p>
            <a:r>
              <a:rPr lang="da-DK" sz="3000" b="1" dirty="0" err="1">
                <a:solidFill>
                  <a:schemeClr val="tx2"/>
                </a:solidFill>
                <a:latin typeface="Aptos SemiBold" panose="020B0004020202020204" pitchFamily="34" charset="0"/>
              </a:rPr>
              <a:t>Dunning</a:t>
            </a:r>
            <a:r>
              <a:rPr lang="da-DK" sz="3000" b="1" dirty="0">
                <a:solidFill>
                  <a:schemeClr val="tx2"/>
                </a:solidFill>
                <a:latin typeface="Aptos SemiBold" panose="020B0004020202020204" pitchFamily="34" charset="0"/>
              </a:rPr>
              <a:t>-Kruger effekt</a:t>
            </a:r>
            <a:r>
              <a:rPr lang="da-DK" sz="3000" dirty="0">
                <a:solidFill>
                  <a:schemeClr val="tx2"/>
                </a:solidFill>
                <a:latin typeface="Aptos SemiBold" panose="020B0004020202020204" pitchFamily="34" charset="0"/>
              </a:rPr>
              <a:t>: Personer med lav kompetence overvurderer ofte deres evner, fordi de mangler den indsigt, der skal til for at vurdere deres egen kunnen.</a:t>
            </a:r>
          </a:p>
        </p:txBody>
      </p:sp>
    </p:spTree>
    <p:extLst>
      <p:ext uri="{BB962C8B-B14F-4D97-AF65-F5344CB8AC3E}">
        <p14:creationId xmlns:p14="http://schemas.microsoft.com/office/powerpoint/2010/main" val="3437029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12742-2E2F-0FD0-25D0-CBAE4DA4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780"/>
            <a:ext cx="10515600" cy="1325563"/>
          </a:xfrm>
        </p:spPr>
        <p:txBody>
          <a:bodyPr>
            <a:normAutofit/>
          </a:bodyPr>
          <a:lstStyle/>
          <a:p>
            <a:r>
              <a:rPr lang="da-DK" sz="3000" dirty="0">
                <a:solidFill>
                  <a:schemeClr val="tx2"/>
                </a:solidFill>
                <a:latin typeface="Aptos SemiBold" panose="020B0004020202020204" pitchFamily="34" charset="0"/>
              </a:rPr>
              <a:t>Målet med oplægget er at bidrage til en mere kvalificeret samtale med elever og med hinanden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88D95918-5C96-AFD7-4878-9BFA09E9B1C3}"/>
              </a:ext>
            </a:extLst>
          </p:cNvPr>
          <p:cNvSpPr/>
          <p:nvPr/>
        </p:nvSpPr>
        <p:spPr>
          <a:xfrm>
            <a:off x="838200" y="2024743"/>
            <a:ext cx="10363200" cy="4191000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707EE4-3806-CB60-DBCE-165C88CC7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2177142"/>
            <a:ext cx="10047514" cy="38862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Pege på </a:t>
            </a: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didaktiske greb i kobling til SOLO</a:t>
            </a: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, der synliggør forståelse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da-DK" altLang="da-DK" sz="2000" dirty="0">
                <a:solidFill>
                  <a:schemeClr val="tx2"/>
                </a:solidFill>
                <a:latin typeface="Aptos" panose="020B0004020202020204" pitchFamily="34" charset="0"/>
              </a:rPr>
              <a:t> </a:t>
            </a: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Skabe et </a:t>
            </a: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fælles sprog</a:t>
            </a: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om læringsdybde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Gøre forskellen mellem produkt og forståelse tydelig og mindske fortolkningsrummet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da-DK" altLang="da-DK" sz="2000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da-DK" altLang="da-DK" sz="2000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050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4B105-9E7C-BCD2-4E24-18C31112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Læreplanen er åben for fortolkning </a:t>
            </a:r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C3FCB7C3-1C51-F793-CDD7-862DD257BC3B}"/>
              </a:ext>
            </a:extLst>
          </p:cNvPr>
          <p:cNvSpPr/>
          <p:nvPr/>
        </p:nvSpPr>
        <p:spPr>
          <a:xfrm>
            <a:off x="838200" y="1469571"/>
            <a:ext cx="4987212" cy="4746172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FE4F5A-E145-9845-CF34-D406DB0F1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90687"/>
            <a:ext cx="4593771" cy="4361769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“Bedømmelsen er en helhedsvurdering af eksaminandens mundtlige præstation og i hvilken grad den opfylder de faglige mål”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>
              <a:buNone/>
            </a:pPr>
            <a:r>
              <a:rPr lang="da-DK" sz="2000" dirty="0">
                <a:solidFill>
                  <a:schemeClr val="tx2"/>
                </a:solidFill>
              </a:rPr>
              <a:t>F.eks.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forklaring af funktion, redegørelse for arkitektur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svar på uddybende spørgsmål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refleksion over proces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brug af fagbegreber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evne til at improvisere og overføre viden</a:t>
            </a: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71EE60B3-C47E-59B8-49FF-45879F94C322}"/>
              </a:ext>
            </a:extLst>
          </p:cNvPr>
          <p:cNvSpPr/>
          <p:nvPr/>
        </p:nvSpPr>
        <p:spPr>
          <a:xfrm>
            <a:off x="6366588" y="1469571"/>
            <a:ext cx="4987212" cy="4746172"/>
          </a:xfrm>
          <a:prstGeom prst="roundRect">
            <a:avLst>
              <a:gd name="adj" fmla="val 5758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D7DAD1A7-3871-57DD-2F2B-788E2FEDCCC9}"/>
              </a:ext>
            </a:extLst>
          </p:cNvPr>
          <p:cNvSpPr txBox="1">
            <a:spLocks/>
          </p:cNvSpPr>
          <p:nvPr/>
        </p:nvSpPr>
        <p:spPr>
          <a:xfrm>
            <a:off x="6559421" y="1690688"/>
            <a:ext cx="4565779" cy="4361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Men læreplanen siger ikke nødvendigvis:</a:t>
            </a: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hvad der vejer tungest</a:t>
            </a: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hvornår noget er “tilstrækkeligt”</a:t>
            </a: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hvordan dyb forståelse konkret viser sig mundtligt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56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ACE7B-3B0B-46B4-9961-07A1FAEC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Helhedsbedømmelse</a:t>
            </a:r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C14680C7-67F6-5678-F170-6B8D5D5E3F05}"/>
              </a:ext>
            </a:extLst>
          </p:cNvPr>
          <p:cNvSpPr/>
          <p:nvPr/>
        </p:nvSpPr>
        <p:spPr>
          <a:xfrm>
            <a:off x="838200" y="1469571"/>
            <a:ext cx="4987212" cy="4746172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B19FB785-762E-CDEA-4DD9-7F2BA2651E17}"/>
              </a:ext>
            </a:extLst>
          </p:cNvPr>
          <p:cNvSpPr/>
          <p:nvPr/>
        </p:nvSpPr>
        <p:spPr>
          <a:xfrm>
            <a:off x="6366588" y="1469571"/>
            <a:ext cx="4987212" cy="4746172"/>
          </a:xfrm>
          <a:prstGeom prst="roundRect">
            <a:avLst>
              <a:gd name="adj" fmla="val 5758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A534151-29A1-7560-DC02-41148E65B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91" y="1748679"/>
            <a:ext cx="4550229" cy="4187955"/>
          </a:xfrm>
        </p:spPr>
        <p:txBody>
          <a:bodyPr numCol="1"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Der gives </a:t>
            </a:r>
            <a:r>
              <a:rPr lang="da-DK" sz="2000" b="1" dirty="0">
                <a:solidFill>
                  <a:schemeClr val="tx2"/>
                </a:solidFill>
              </a:rPr>
              <a:t>ikke point for enkeltdele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Ingen enkeltfaktor (kode, forklaring, proces, begreber) er i sig selv afgørende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Eksaminator og censor skal </a:t>
            </a:r>
            <a:r>
              <a:rPr lang="da-DK" sz="2000" b="1" dirty="0">
                <a:solidFill>
                  <a:schemeClr val="tx2"/>
                </a:solidFill>
              </a:rPr>
              <a:t>samle indtryk</a:t>
            </a:r>
            <a:r>
              <a:rPr lang="da-DK" sz="2000" dirty="0">
                <a:solidFill>
                  <a:schemeClr val="tx2"/>
                </a:solidFill>
              </a:rPr>
              <a:t> på tværs</a:t>
            </a:r>
          </a:p>
          <a:p>
            <a:pPr>
              <a:lnSpc>
                <a:spcPct val="120000"/>
              </a:lnSpc>
            </a:pPr>
            <a:r>
              <a:rPr lang="da-DK" sz="2000" dirty="0">
                <a:solidFill>
                  <a:schemeClr val="tx2"/>
                </a:solidFill>
              </a:rPr>
              <a:t>Det giver fleksibilitet – men også fortolkningsrum.</a:t>
            </a:r>
          </a:p>
          <a:p>
            <a:pPr>
              <a:lnSpc>
                <a:spcPct val="120000"/>
              </a:lnSpc>
            </a:pPr>
            <a:endParaRPr lang="da-DK" sz="2000" b="1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81276C5E-D1BC-443C-919A-6F6D7CE7A10A}"/>
              </a:ext>
            </a:extLst>
          </p:cNvPr>
          <p:cNvSpPr txBox="1">
            <a:spLocks/>
          </p:cNvSpPr>
          <p:nvPr/>
        </p:nvSpPr>
        <p:spPr>
          <a:xfrm>
            <a:off x="6816012" y="1748679"/>
            <a:ext cx="4088363" cy="4120081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da-DK" sz="20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Vurdering kan blive usikker</a:t>
            </a:r>
            <a:b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</a:b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Samme løsning kan opfattes forskelligt af forskellige eksaminatorer, fordi det er uklart, hvad der viser elevens forståelse.</a:t>
            </a: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48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BB638-1E0F-856F-1A1A-FCF36096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r>
              <a:rPr lang="da-DK" sz="3800" dirty="0">
                <a:solidFill>
                  <a:schemeClr val="tx2"/>
                </a:solidFill>
                <a:latin typeface="Aptos SemiBold" panose="020B0004020202020204" pitchFamily="34" charset="0"/>
              </a:rPr>
              <a:t>Fleksible</a:t>
            </a:r>
            <a:r>
              <a:rPr lang="da-DK" sz="3800" b="1" dirty="0">
                <a:solidFill>
                  <a:schemeClr val="tx2"/>
                </a:solidFill>
                <a:latin typeface="Aptos SemiBold" panose="020B0004020202020204" pitchFamily="34" charset="0"/>
              </a:rPr>
              <a:t> mål bliver sværere at operationalisere</a:t>
            </a:r>
            <a:endParaRPr lang="da-DK" sz="3800" dirty="0">
              <a:solidFill>
                <a:schemeClr val="tx2"/>
              </a:solidFill>
              <a:latin typeface="Aptos SemiBold" panose="020B0004020202020204" pitchFamily="34" charset="0"/>
            </a:endParaRP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6CA2DFB3-F268-457C-B9F6-C7DE2D2D4F4F}"/>
              </a:ext>
            </a:extLst>
          </p:cNvPr>
          <p:cNvSpPr/>
          <p:nvPr/>
        </p:nvSpPr>
        <p:spPr>
          <a:xfrm>
            <a:off x="838200" y="1825625"/>
            <a:ext cx="10515600" cy="1883228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5E0C27-9FF5-6BE1-9C2C-E32FE072D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912713"/>
            <a:ext cx="10319657" cy="435133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da-DK" sz="2000" dirty="0">
                <a:solidFill>
                  <a:schemeClr val="tx2"/>
                </a:solidFill>
              </a:rPr>
              <a:t>Faglige mål som: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chemeClr val="tx2"/>
                </a:solidFill>
              </a:rPr>
              <a:t>“redegøre for arkitektur”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chemeClr val="tx2"/>
                </a:solidFill>
              </a:rPr>
              <a:t>“arbejde systematisk”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chemeClr val="tx2"/>
                </a:solidFill>
              </a:rPr>
              <a:t>“demonstrere viden om metoder”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da-DK" sz="2000" dirty="0">
                <a:solidFill>
                  <a:schemeClr val="tx2"/>
                </a:solidFill>
              </a:rPr>
              <a:t>er bevidst åbne.</a:t>
            </a:r>
          </a:p>
          <a:p>
            <a:pPr>
              <a:spcBef>
                <a:spcPts val="600"/>
              </a:spcBef>
              <a:buNone/>
            </a:pPr>
            <a:endParaRPr lang="da-DK" sz="2000" dirty="0"/>
          </a:p>
          <a:p>
            <a:pPr>
              <a:spcBef>
                <a:spcPts val="600"/>
              </a:spcBef>
              <a:buNone/>
            </a:pPr>
            <a:r>
              <a:rPr lang="da-DK" sz="2000" dirty="0">
                <a:solidFill>
                  <a:schemeClr val="accent2"/>
                </a:solidFill>
              </a:rPr>
              <a:t>Men med generativ AI opstår spørgsmålet: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accent2"/>
                </a:solidFill>
              </a:rPr>
              <a:t>Hvad tæller som redegørelse?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accent2"/>
                </a:solidFill>
              </a:rPr>
              <a:t>Hvornår er systematik elevens egen?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accent2"/>
                </a:solidFill>
              </a:rPr>
              <a:t>Hvornår viser eleven metodeforståelse – og hvornår gengiver de AI?</a:t>
            </a:r>
          </a:p>
          <a:p>
            <a:pPr>
              <a:spcBef>
                <a:spcPts val="600"/>
              </a:spcBef>
            </a:pP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3151495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F3DC2286-41C9-BD41-42A9-0F47E9179267}"/>
              </a:ext>
            </a:extLst>
          </p:cNvPr>
          <p:cNvSpPr/>
          <p:nvPr/>
        </p:nvSpPr>
        <p:spPr>
          <a:xfrm>
            <a:off x="-159406" y="1"/>
            <a:ext cx="5025320" cy="6858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B7CC1F-431A-9D6D-E3FC-BFF7B8D7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24" y="570782"/>
            <a:ext cx="3600860" cy="5431536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Hvorfor en fleksibel læreplan både er en styrke og et problem?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6916F9-E3D5-9A96-1A92-E8114F91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144" y="713232"/>
            <a:ext cx="5772609" cy="5431536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da-DK" sz="2000" b="1" dirty="0">
                <a:solidFill>
                  <a:schemeClr val="tx2"/>
                </a:solidFill>
              </a:rPr>
              <a:t>Det er en styrke fordi: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Prøven kan tage højde for elevens samlede faglighed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Den ikke reduceres til mekanisk afkrydsning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Der er plads til fagligt skøn</a:t>
            </a: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da-DK" sz="2000" b="1" dirty="0">
                <a:solidFill>
                  <a:schemeClr val="tx2"/>
                </a:solidFill>
              </a:rPr>
              <a:t>Det er et problem fordi: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Skønnet ikke altid er ensartet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Elever kan opleve uforudsigelighed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u="sng" dirty="0">
                <a:solidFill>
                  <a:schemeClr val="tx2"/>
                </a:solidFill>
              </a:rPr>
              <a:t>AI gør det sværere at aflæse, </a:t>
            </a:r>
            <a:r>
              <a:rPr lang="da-DK" sz="2000" i="1" u="sng" dirty="0">
                <a:solidFill>
                  <a:schemeClr val="tx2"/>
                </a:solidFill>
              </a:rPr>
              <a:t>hvad der faktisk viser forståelse</a:t>
            </a:r>
            <a:endParaRPr lang="da-DK" sz="2000" u="sng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414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8F7FA2C4-D8CD-2EF2-8363-D0338426E468}"/>
              </a:ext>
            </a:extLst>
          </p:cNvPr>
          <p:cNvSpPr/>
          <p:nvPr/>
        </p:nvSpPr>
        <p:spPr>
          <a:xfrm>
            <a:off x="-159406" y="1"/>
            <a:ext cx="5025320" cy="6858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10F774-C5D0-2304-7570-442FCD6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24" y="713232"/>
            <a:ext cx="3600860" cy="5431536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Hvorfor kan en fleksibel læreplan blive et problem i AI-tider?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F9E94F2-C2C6-EC91-4780-5C98E3CA2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772" y="861729"/>
            <a:ext cx="5624867" cy="5134541"/>
          </a:xfrm>
        </p:spPr>
        <p:txBody>
          <a:bodyPr anchor="ctr">
            <a:normAutofit/>
          </a:bodyPr>
          <a:lstStyle/>
          <a:p>
            <a:r>
              <a:rPr lang="da-DK" sz="2000" dirty="0">
                <a:solidFill>
                  <a:schemeClr val="tx2"/>
                </a:solidFill>
              </a:rPr>
              <a:t>Fleksibilitet forudsætter, at produkt afspejler forståelse</a:t>
            </a:r>
          </a:p>
          <a:p>
            <a:r>
              <a:rPr lang="da-DK" sz="2000" dirty="0">
                <a:solidFill>
                  <a:schemeClr val="tx2"/>
                </a:solidFill>
              </a:rPr>
              <a:t>Læreplanen er skrevet til en tid (2017) hvor man i højere grad og med rimelighed kunne antage: </a:t>
            </a:r>
          </a:p>
          <a:p>
            <a:pPr marL="0" indent="0">
              <a:buNone/>
            </a:pPr>
            <a:r>
              <a:rPr lang="da-DK" sz="2000" b="1" dirty="0">
                <a:solidFill>
                  <a:schemeClr val="tx2"/>
                </a:solidFill>
              </a:rPr>
              <a:t>Hvis eleven kan forklare og vise en løsning, har eleven også forstået den.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da-DK" sz="2000" dirty="0">
                <a:solidFill>
                  <a:schemeClr val="tx2"/>
                </a:solidFill>
              </a:rPr>
              <a:t>Med generativ AI er denne antagelse brudt: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Elever kan forklare </a:t>
            </a:r>
            <a:r>
              <a:rPr lang="da-DK" sz="2000" i="1" dirty="0">
                <a:solidFill>
                  <a:schemeClr val="tx2"/>
                </a:solidFill>
              </a:rPr>
              <a:t>plausibelt</a:t>
            </a:r>
            <a:r>
              <a:rPr lang="da-DK" sz="2000" dirty="0">
                <a:solidFill>
                  <a:schemeClr val="tx2"/>
                </a:solidFill>
              </a:rPr>
              <a:t> uden dyb forståelse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Elever kan fremvise velstrukturerede løsninger uden selv at have designet dem</a:t>
            </a:r>
          </a:p>
        </p:txBody>
      </p:sp>
    </p:spTree>
    <p:extLst>
      <p:ext uri="{BB962C8B-B14F-4D97-AF65-F5344CB8AC3E}">
        <p14:creationId xmlns:p14="http://schemas.microsoft.com/office/powerpoint/2010/main" val="1368105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11366342-EE6D-FB37-021D-DDC91E0E4096}"/>
              </a:ext>
            </a:extLst>
          </p:cNvPr>
          <p:cNvSpPr/>
          <p:nvPr/>
        </p:nvSpPr>
        <p:spPr>
          <a:xfrm>
            <a:off x="-159406" y="1"/>
            <a:ext cx="5025320" cy="6858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ACAC60-F628-C2D3-026C-775FCB35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24" y="552091"/>
            <a:ext cx="3600860" cy="5431536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I en generativ AI-tid…</a:t>
            </a:r>
            <a:b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</a:br>
            <a:endParaRPr lang="da-DK" sz="4000" dirty="0">
              <a:solidFill>
                <a:schemeClr val="tx2">
                  <a:lumMod val="10000"/>
                  <a:lumOff val="90000"/>
                </a:schemeClr>
              </a:solidFill>
              <a:latin typeface="Aptos SemiBold" panose="020B0004020202020204" pitchFamily="34" charset="0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A9F06E-3AF3-B618-910F-4A69D8276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86" y="888943"/>
            <a:ext cx="5472467" cy="5080113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Forklaringer kan være sprogligt stærke uden at være kognitivt dybe</a:t>
            </a: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Refleksion kan være generisk, men lyde overbevisende</a:t>
            </a: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Procesbeskrivelser og synopser kan være reproducerede frem for erfarede</a:t>
            </a:r>
          </a:p>
          <a:p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337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E0646-728D-7744-E315-E021F8F3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Men er AI ikke bare avanceret google? 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97BB6131-462E-C248-8148-FDE66FED8B97}"/>
              </a:ext>
            </a:extLst>
          </p:cNvPr>
          <p:cNvSpPr/>
          <p:nvPr/>
        </p:nvSpPr>
        <p:spPr>
          <a:xfrm>
            <a:off x="838200" y="1469571"/>
            <a:ext cx="4987212" cy="3089756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C9A01FB-332B-A775-D97C-FDBB1E271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7" y="1800423"/>
            <a:ext cx="3799115" cy="4084467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da-DK" sz="2000" b="1" dirty="0">
                <a:solidFill>
                  <a:schemeClr val="tx2"/>
                </a:solidFill>
              </a:rPr>
              <a:t>Google: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Elever fandt kode-eksempler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Selv udvælge, tilpasse og sammensætte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Misforståelser opstod tydeligt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Eleven behøver i højere grad selv skabe sammenhæng</a:t>
            </a:r>
          </a:p>
          <a:p>
            <a:pPr>
              <a:buFontTx/>
              <a:buChar char="-"/>
            </a:pPr>
            <a:endParaRPr lang="da-DK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930415C6-ACB2-04C8-7557-B14354A5F722}"/>
              </a:ext>
            </a:extLst>
          </p:cNvPr>
          <p:cNvSpPr/>
          <p:nvPr/>
        </p:nvSpPr>
        <p:spPr>
          <a:xfrm>
            <a:off x="6366588" y="1469571"/>
            <a:ext cx="4987212" cy="3089756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BAF3251E-E1BE-AD24-B04B-010276324301}"/>
              </a:ext>
            </a:extLst>
          </p:cNvPr>
          <p:cNvSpPr txBox="1">
            <a:spLocks/>
          </p:cNvSpPr>
          <p:nvPr/>
        </p:nvSpPr>
        <p:spPr>
          <a:xfrm>
            <a:off x="6656682" y="1800423"/>
            <a:ext cx="4407023" cy="5169979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2000" b="1" dirty="0">
                <a:solidFill>
                  <a:schemeClr val="tx2"/>
                </a:solidFill>
              </a:rPr>
              <a:t>AI: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Lever fulde løsninger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Konsistent struktur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Plausible forklaringer</a:t>
            </a:r>
          </a:p>
          <a:p>
            <a:pPr>
              <a:buFontTx/>
              <a:buChar char="-"/>
            </a:pPr>
            <a:r>
              <a:rPr lang="da-DK" sz="2000" dirty="0">
                <a:solidFill>
                  <a:schemeClr val="tx2"/>
                </a:solidFill>
              </a:rPr>
              <a:t>Eleven behøver i mindre grad selv skabe sammenhæng</a:t>
            </a:r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1284FED0-023D-DA0E-9263-7A9BD0C013A3}"/>
              </a:ext>
            </a:extLst>
          </p:cNvPr>
          <p:cNvSpPr/>
          <p:nvPr/>
        </p:nvSpPr>
        <p:spPr>
          <a:xfrm>
            <a:off x="838200" y="4915352"/>
            <a:ext cx="10515600" cy="1325563"/>
          </a:xfrm>
          <a:prstGeom prst="roundRect">
            <a:avLst>
              <a:gd name="adj" fmla="val 575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0BF363CB-94F6-C1A0-A1A8-0B3CA6AB773F}"/>
              </a:ext>
            </a:extLst>
          </p:cNvPr>
          <p:cNvSpPr txBox="1"/>
          <p:nvPr/>
        </p:nvSpPr>
        <p:spPr>
          <a:xfrm>
            <a:off x="876300" y="5310407"/>
            <a:ext cx="1043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AI reducerer den kognitive funktion, som tidligere afslørede manglende forståelse</a:t>
            </a:r>
            <a:endParaRPr lang="da-DK" sz="20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3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E8F6-935E-F8A7-1D9D-60B14953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3172D-F1EB-55FA-05CA-3DF75197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Men er AI ikke bare en avanceret </a:t>
            </a:r>
            <a:r>
              <a:rPr lang="da-DK" sz="36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stackoverflow</a:t>
            </a:r>
            <a:r>
              <a:rPr lang="da-DK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? 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8D8B342A-114A-6FD0-20A0-F7F684A39D5F}"/>
              </a:ext>
            </a:extLst>
          </p:cNvPr>
          <p:cNvSpPr/>
          <p:nvPr/>
        </p:nvSpPr>
        <p:spPr>
          <a:xfrm>
            <a:off x="838200" y="1469571"/>
            <a:ext cx="4987212" cy="2992694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9D6E512-BE27-76C1-B2AA-BCC116C6A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7" y="1800423"/>
            <a:ext cx="3799115" cy="4084467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da-DK" sz="2000" b="1" dirty="0">
                <a:solidFill>
                  <a:schemeClr val="tx2"/>
                </a:solidFill>
              </a:rPr>
              <a:t>Google krævede oversættelse:</a:t>
            </a:r>
          </a:p>
          <a:p>
            <a:r>
              <a:rPr lang="da-DK" sz="2000" dirty="0">
                <a:solidFill>
                  <a:schemeClr val="tx2"/>
                </a:solidFill>
              </a:rPr>
              <a:t>Elever skulle forstå fremmed kode</a:t>
            </a:r>
          </a:p>
          <a:p>
            <a:r>
              <a:rPr lang="da-DK" sz="2000" dirty="0">
                <a:solidFill>
                  <a:schemeClr val="tx2"/>
                </a:solidFill>
              </a:rPr>
              <a:t>Oversætte til eget problem</a:t>
            </a:r>
          </a:p>
          <a:p>
            <a:r>
              <a:rPr lang="da-DK" sz="2000" dirty="0">
                <a:solidFill>
                  <a:schemeClr val="tx2"/>
                </a:solidFill>
              </a:rPr>
              <a:t>Forklare med egne ord</a:t>
            </a:r>
          </a:p>
          <a:p>
            <a:r>
              <a:rPr lang="da-DK" sz="2000" dirty="0">
                <a:solidFill>
                  <a:schemeClr val="tx2"/>
                </a:solidFill>
              </a:rPr>
              <a:t>Svag forståelse blev hurtigere synlig</a:t>
            </a:r>
          </a:p>
          <a:p>
            <a:pPr marL="0" indent="0">
              <a:buNone/>
            </a:pPr>
            <a:endParaRPr lang="da-DK" sz="2000" b="1" dirty="0">
              <a:solidFill>
                <a:schemeClr val="tx2"/>
              </a:solidFill>
            </a:endParaRP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CE5FD778-9A4A-A2CD-ECA7-06976D119D0B}"/>
              </a:ext>
            </a:extLst>
          </p:cNvPr>
          <p:cNvSpPr/>
          <p:nvPr/>
        </p:nvSpPr>
        <p:spPr>
          <a:xfrm>
            <a:off x="6366588" y="1469571"/>
            <a:ext cx="4987212" cy="2992694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79D3A4C3-282D-6047-08FF-E8E3874CFC10}"/>
              </a:ext>
            </a:extLst>
          </p:cNvPr>
          <p:cNvSpPr txBox="1">
            <a:spLocks/>
          </p:cNvSpPr>
          <p:nvPr/>
        </p:nvSpPr>
        <p:spPr>
          <a:xfrm>
            <a:off x="6656682" y="1800423"/>
            <a:ext cx="4407023" cy="5169979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2000" b="1" dirty="0">
                <a:solidFill>
                  <a:schemeClr val="tx2"/>
                </a:solidFill>
              </a:rPr>
              <a:t>AI forklarer:</a:t>
            </a:r>
          </a:p>
          <a:p>
            <a:r>
              <a:rPr lang="da-DK" sz="2000" dirty="0">
                <a:solidFill>
                  <a:schemeClr val="tx2"/>
                </a:solidFill>
              </a:rPr>
              <a:t>På dansk</a:t>
            </a:r>
          </a:p>
          <a:p>
            <a:r>
              <a:rPr lang="da-DK" sz="2000" dirty="0">
                <a:solidFill>
                  <a:schemeClr val="tx2"/>
                </a:solidFill>
              </a:rPr>
              <a:t>I elevens kontekst</a:t>
            </a:r>
          </a:p>
          <a:p>
            <a:r>
              <a:rPr lang="da-DK" sz="2000" dirty="0">
                <a:solidFill>
                  <a:schemeClr val="tx2"/>
                </a:solidFill>
              </a:rPr>
              <a:t>Med samme begreber som i undervisningen</a:t>
            </a:r>
          </a:p>
          <a:p>
            <a:pPr marL="0" indent="0">
              <a:buNone/>
            </a:pPr>
            <a:endParaRPr lang="da-DK" sz="2000" dirty="0"/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874F4487-7D4B-F272-33CC-80AD83587FA3}"/>
              </a:ext>
            </a:extLst>
          </p:cNvPr>
          <p:cNvSpPr/>
          <p:nvPr/>
        </p:nvSpPr>
        <p:spPr>
          <a:xfrm>
            <a:off x="838200" y="4915352"/>
            <a:ext cx="10515600" cy="1325563"/>
          </a:xfrm>
          <a:prstGeom prst="roundRect">
            <a:avLst>
              <a:gd name="adj" fmla="val 5758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7725E0CB-A42B-1760-7296-7D986EDFC3A7}"/>
              </a:ext>
            </a:extLst>
          </p:cNvPr>
          <p:cNvSpPr txBox="1"/>
          <p:nvPr/>
        </p:nvSpPr>
        <p:spPr>
          <a:xfrm>
            <a:off x="838200" y="5366656"/>
            <a:ext cx="1043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Eleven kan gengive forståelse uden nødvendigvis at have konstrueret den.</a:t>
            </a:r>
            <a:endParaRPr lang="da-DK" sz="20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156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F03264-B097-718E-1C8E-9BE8FA79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Google var passiv – AI er dialogisk</a:t>
            </a:r>
            <a:br>
              <a:rPr lang="da-DK" b="1" dirty="0"/>
            </a:br>
            <a:endParaRPr lang="da-DK" dirty="0"/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DC83A101-04CA-A670-B3EE-787CE4717B5E}"/>
              </a:ext>
            </a:extLst>
          </p:cNvPr>
          <p:cNvSpPr/>
          <p:nvPr/>
        </p:nvSpPr>
        <p:spPr>
          <a:xfrm>
            <a:off x="838200" y="1469571"/>
            <a:ext cx="4987212" cy="2558143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63B06C4E-226F-E952-CDBB-9E46536FE3D3}"/>
              </a:ext>
            </a:extLst>
          </p:cNvPr>
          <p:cNvSpPr/>
          <p:nvPr/>
        </p:nvSpPr>
        <p:spPr>
          <a:xfrm>
            <a:off x="6366588" y="1469571"/>
            <a:ext cx="4987212" cy="2558143"/>
          </a:xfrm>
          <a:prstGeom prst="roundRect">
            <a:avLst>
              <a:gd name="adj" fmla="val 5758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8D3EDA-E1F9-E9F9-EBCF-C9F03CB6C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788" y="1690688"/>
            <a:ext cx="4355841" cy="3969883"/>
          </a:xfrm>
        </p:spPr>
        <p:txBody>
          <a:bodyPr numCol="1">
            <a:normAutofit/>
          </a:bodyPr>
          <a:lstStyle/>
          <a:p>
            <a:pPr>
              <a:buNone/>
            </a:pPr>
            <a:r>
              <a:rPr lang="da-DK" sz="2000" b="1" dirty="0">
                <a:solidFill>
                  <a:schemeClr val="tx2"/>
                </a:solidFill>
              </a:rPr>
              <a:t>Før: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Google svarede ikke på opfølgende spørgsmål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Eleven måtte selv formulere næste skridt</a:t>
            </a:r>
            <a:endParaRPr lang="da-DK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5D37FFC7-4423-5383-F781-FAA8356D59B9}"/>
              </a:ext>
            </a:extLst>
          </p:cNvPr>
          <p:cNvSpPr/>
          <p:nvPr/>
        </p:nvSpPr>
        <p:spPr>
          <a:xfrm>
            <a:off x="838200" y="4572000"/>
            <a:ext cx="10515600" cy="1668915"/>
          </a:xfrm>
          <a:prstGeom prst="roundRect">
            <a:avLst>
              <a:gd name="adj" fmla="val 575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FE628A0-7506-1357-9331-3C5E1CEF4571}"/>
              </a:ext>
            </a:extLst>
          </p:cNvPr>
          <p:cNvSpPr txBox="1"/>
          <p:nvPr/>
        </p:nvSpPr>
        <p:spPr>
          <a:xfrm>
            <a:off x="1355324" y="5132160"/>
            <a:ext cx="948135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chemeClr val="accent2"/>
                </a:solidFill>
              </a:rPr>
              <a:t>AI kan fungere som en “stilladsbygger”, også når eleven ikke selv kan stille de rigtige spørgsmål.</a:t>
            </a:r>
            <a:endParaRPr lang="da-DK" sz="2000" dirty="0">
              <a:solidFill>
                <a:schemeClr val="accent2"/>
              </a:solidFill>
            </a:endParaRPr>
          </a:p>
          <a:p>
            <a:endParaRPr lang="da-DK" sz="1600" dirty="0">
              <a:solidFill>
                <a:schemeClr val="accent2"/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1969A4C7-25DE-2C9B-375D-CCC5E1299336}"/>
              </a:ext>
            </a:extLst>
          </p:cNvPr>
          <p:cNvSpPr txBox="1"/>
          <p:nvPr/>
        </p:nvSpPr>
        <p:spPr>
          <a:xfrm>
            <a:off x="6633288" y="1690688"/>
            <a:ext cx="4453812" cy="199208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tx2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da-DK" dirty="0">
                <a:solidFill>
                  <a:schemeClr val="tx2">
                    <a:lumMod val="10000"/>
                    <a:lumOff val="90000"/>
                  </a:schemeClr>
                </a:solidFill>
              </a:rPr>
              <a:t>Nu: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b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AI foreslår forbedringer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b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AI retter fejl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b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AI forklarer igen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b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AI justerer niveauet</a:t>
            </a:r>
          </a:p>
        </p:txBody>
      </p:sp>
    </p:spTree>
    <p:extLst>
      <p:ext uri="{BB962C8B-B14F-4D97-AF65-F5344CB8AC3E}">
        <p14:creationId xmlns:p14="http://schemas.microsoft.com/office/powerpoint/2010/main" val="3808491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4FF31F91-03C2-E86A-7FA3-EE855A035DCC}"/>
              </a:ext>
            </a:extLst>
          </p:cNvPr>
          <p:cNvSpPr/>
          <p:nvPr/>
        </p:nvSpPr>
        <p:spPr>
          <a:xfrm>
            <a:off x="838200" y="4572000"/>
            <a:ext cx="10515600" cy="1668915"/>
          </a:xfrm>
          <a:prstGeom prst="roundRect">
            <a:avLst>
              <a:gd name="adj" fmla="val 575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D7FEF3-C6EC-7EBF-71AB-B6F15F00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Google afslørede svagheder – AI kan skjule dem</a:t>
            </a:r>
            <a:br>
              <a:rPr lang="da-DK" sz="3600" b="1" dirty="0"/>
            </a:br>
            <a:endParaRPr lang="da-DK" sz="36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EB474ACD-8FEB-092F-EF7A-3B16FCFA9387}"/>
              </a:ext>
            </a:extLst>
          </p:cNvPr>
          <p:cNvSpPr txBox="1"/>
          <p:nvPr/>
        </p:nvSpPr>
        <p:spPr>
          <a:xfrm>
            <a:off x="1355324" y="5206402"/>
            <a:ext cx="9481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000" b="1" dirty="0">
                <a:solidFill>
                  <a:schemeClr val="accent2"/>
                </a:solidFill>
              </a:rPr>
              <a:t>Det bliver sværere at se, </a:t>
            </a:r>
            <a:r>
              <a:rPr lang="da-DK" sz="2000" b="1" i="1" dirty="0">
                <a:solidFill>
                  <a:schemeClr val="accent2"/>
                </a:solidFill>
              </a:rPr>
              <a:t>hvor</a:t>
            </a:r>
            <a:r>
              <a:rPr lang="da-DK" sz="2000" b="1" dirty="0">
                <a:solidFill>
                  <a:schemeClr val="accent2"/>
                </a:solidFill>
              </a:rPr>
              <a:t> elevens forståelse stopper.</a:t>
            </a:r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5288895D-6F69-C6DB-4922-24548C2166D9}"/>
              </a:ext>
            </a:extLst>
          </p:cNvPr>
          <p:cNvSpPr/>
          <p:nvPr/>
        </p:nvSpPr>
        <p:spPr>
          <a:xfrm>
            <a:off x="838200" y="1469571"/>
            <a:ext cx="4987212" cy="2558143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D988040D-DBB7-CF06-A18D-51F1485B7754}"/>
              </a:ext>
            </a:extLst>
          </p:cNvPr>
          <p:cNvSpPr/>
          <p:nvPr/>
        </p:nvSpPr>
        <p:spPr>
          <a:xfrm>
            <a:off x="6366588" y="1469571"/>
            <a:ext cx="4987212" cy="2558143"/>
          </a:xfrm>
          <a:prstGeom prst="roundRect">
            <a:avLst>
              <a:gd name="adj" fmla="val 5758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D6514D-D0DE-6C9C-93D8-BDD005420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782" y="1781167"/>
            <a:ext cx="4404048" cy="1712232"/>
          </a:xfrm>
        </p:spPr>
        <p:txBody>
          <a:bodyPr numCol="1">
            <a:normAutofit lnSpcReduction="10000"/>
          </a:bodyPr>
          <a:lstStyle/>
          <a:p>
            <a:pPr>
              <a:buNone/>
            </a:pPr>
            <a:r>
              <a:rPr lang="da-DK" sz="2000" b="1" dirty="0">
                <a:solidFill>
                  <a:schemeClr val="tx2"/>
                </a:solidFill>
              </a:rPr>
              <a:t>Før: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Manglende forståelse viste sig som: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inkonsistent kode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fejl i tilpasning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svage forklaringer</a:t>
            </a: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E0108A81-874E-67BD-F374-8365C5CC1BEF}"/>
              </a:ext>
            </a:extLst>
          </p:cNvPr>
          <p:cNvSpPr txBox="1"/>
          <p:nvPr/>
        </p:nvSpPr>
        <p:spPr>
          <a:xfrm>
            <a:off x="6649227" y="1690688"/>
            <a:ext cx="46283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da-DK" sz="20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Nu:</a:t>
            </a: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AI kan: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udfylde hullerne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rette </a:t>
            </a:r>
            <a:r>
              <a:rPr lang="da-DK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inkonsistenser</a:t>
            </a: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levere overbevisende forklaringer</a:t>
            </a:r>
          </a:p>
        </p:txBody>
      </p:sp>
    </p:spTree>
    <p:extLst>
      <p:ext uri="{BB962C8B-B14F-4D97-AF65-F5344CB8AC3E}">
        <p14:creationId xmlns:p14="http://schemas.microsoft.com/office/powerpoint/2010/main" val="449317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24607A23-A333-EE51-F5F9-FEDB3C6F1DFA}"/>
              </a:ext>
            </a:extLst>
          </p:cNvPr>
          <p:cNvSpPr/>
          <p:nvPr/>
        </p:nvSpPr>
        <p:spPr>
          <a:xfrm>
            <a:off x="-159406" y="1"/>
            <a:ext cx="502532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A09CC3-D08C-6306-EE38-17AFF72F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391" y="552091"/>
            <a:ext cx="3600860" cy="5431536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AI forstærker forskelle – fleksibilitet gør dem usynlige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D663F39-851C-8CFF-A985-B9F96318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143" y="713232"/>
            <a:ext cx="5744610" cy="5431536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da-DK" sz="2200" b="1" dirty="0">
                <a:solidFill>
                  <a:schemeClr val="tx2"/>
                </a:solidFill>
              </a:rPr>
              <a:t>AI: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200" dirty="0">
                <a:solidFill>
                  <a:schemeClr val="tx2"/>
                </a:solidFill>
              </a:rPr>
              <a:t>hjælper stærke elever med at tænke hurtigere og bredere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200" dirty="0">
                <a:solidFill>
                  <a:schemeClr val="tx2"/>
                </a:solidFill>
              </a:rPr>
              <a:t>hjælper usikre elever med at skjule manglende forståelse</a:t>
            </a:r>
          </a:p>
          <a:p>
            <a:pPr>
              <a:buNone/>
            </a:pPr>
            <a:endParaRPr lang="da-DK" sz="22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da-DK" sz="2200" b="1" dirty="0">
                <a:solidFill>
                  <a:schemeClr val="tx2"/>
                </a:solidFill>
              </a:rPr>
              <a:t>En fleksibel læreplan uden tydelige læringsmarkører</a:t>
            </a:r>
            <a:r>
              <a:rPr lang="da-DK" sz="2200" dirty="0">
                <a:solidFill>
                  <a:schemeClr val="tx2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200" dirty="0">
                <a:solidFill>
                  <a:schemeClr val="tx2"/>
                </a:solidFill>
              </a:rPr>
              <a:t>kan ikke skelne klart mellem disse to situationer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200" dirty="0">
                <a:solidFill>
                  <a:schemeClr val="tx2"/>
                </a:solidFill>
              </a:rPr>
              <a:t>risikerer at belønne overflade frem for dybde</a:t>
            </a:r>
          </a:p>
          <a:p>
            <a:endParaRPr lang="da-DK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583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E417E-AFB1-E18D-5672-DD455BB3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Vi mangler et fælles sprog for faglighed og vurdering for at reducere fortolkningsrummet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5E6D6F-AE3A-B0E1-E4EC-B0FC25FB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57879" cy="474385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>
              <a:buNone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Når kriterierne er åbne, bliver det læreren 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fortolker, hvad der viser forståelse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afgør, hvor AI-brug er legitim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vægter produkt, proces og refleksion</a:t>
            </a:r>
          </a:p>
          <a:p>
            <a:pPr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>
              <a:buNone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 AI-tider betyder det: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større variation i vurdering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mindre forudsigelighed for elever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øget pres på lærere og censorer</a:t>
            </a:r>
          </a:p>
          <a:p>
            <a:pPr marL="0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4E71F932-4B35-EAA3-89D1-2B634DA3EB9E}"/>
              </a:ext>
            </a:extLst>
          </p:cNvPr>
          <p:cNvSpPr txBox="1"/>
          <p:nvPr/>
        </p:nvSpPr>
        <p:spPr>
          <a:xfrm>
            <a:off x="6977742" y="4351704"/>
            <a:ext cx="43760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b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</a:br>
            <a:r>
              <a:rPr lang="da-DK" sz="20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Samme løsning kan opfattes forskelligt, fordi det er uklart, hvad der viser elevens forståelse.</a:t>
            </a:r>
          </a:p>
          <a:p>
            <a:pPr marL="0" indent="0" algn="ctr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  <a:latin typeface="Aptos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255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6BEA01-3B37-2A15-5070-9710C8311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Hvad vi har brug for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114285D1-7960-FC32-57EC-2965DC46E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0771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5226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211A9E4E-EBE1-37A1-8DA6-EBBE21A54CF9}"/>
              </a:ext>
            </a:extLst>
          </p:cNvPr>
          <p:cNvSpPr/>
          <p:nvPr/>
        </p:nvSpPr>
        <p:spPr>
          <a:xfrm>
            <a:off x="-159406" y="1"/>
            <a:ext cx="502532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AF3400-9F37-7249-640C-678403CC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24" y="552091"/>
            <a:ext cx="3600860" cy="5431536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SOLO-taksonomien – et fælles sprog for faglighed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B25D5C9-EAD6-9F6B-95D0-02482B50B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da-DK" sz="2000" b="1" dirty="0">
                <a:solidFill>
                  <a:schemeClr val="tx2"/>
                </a:solidFill>
              </a:rPr>
              <a:t>Hvad er SOLO?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En taksonomi for </a:t>
            </a:r>
            <a:r>
              <a:rPr lang="da-DK" sz="2000" b="1" dirty="0">
                <a:solidFill>
                  <a:schemeClr val="tx2"/>
                </a:solidFill>
              </a:rPr>
              <a:t>læringsdybde</a:t>
            </a:r>
            <a:endParaRPr lang="da-DK" sz="20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Beskriver </a:t>
            </a:r>
            <a:r>
              <a:rPr lang="da-DK" sz="2000" b="1" dirty="0">
                <a:solidFill>
                  <a:schemeClr val="tx2"/>
                </a:solidFill>
              </a:rPr>
              <a:t>hvordan forståelse viser sig</a:t>
            </a:r>
            <a:r>
              <a:rPr lang="da-DK" sz="2000" dirty="0">
                <a:solidFill>
                  <a:schemeClr val="tx2"/>
                </a:solidFill>
              </a:rPr>
              <a:t>, ikke hvor meget der er produceret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Udviklet til at understøtte </a:t>
            </a:r>
            <a:r>
              <a:rPr lang="da-DK" sz="2000" b="1" dirty="0">
                <a:solidFill>
                  <a:schemeClr val="tx2"/>
                </a:solidFill>
              </a:rPr>
              <a:t>helhedsvurdering</a:t>
            </a:r>
            <a:r>
              <a:rPr lang="da-DK" sz="2000" dirty="0">
                <a:solidFill>
                  <a:schemeClr val="tx2"/>
                </a:solidFill>
              </a:rPr>
              <a:t>, ikke erstatte den</a:t>
            </a:r>
          </a:p>
          <a:p>
            <a:pPr>
              <a:buFont typeface="Arial" panose="020B0604020202020204" pitchFamily="34" charset="0"/>
              <a:buChar char="•"/>
            </a:pPr>
            <a:endParaRPr lang="da-DK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a-DK" sz="2000" dirty="0">
                <a:solidFill>
                  <a:schemeClr val="tx2"/>
                </a:solidFill>
              </a:rPr>
              <a:t>“SOLO hjælper os med at skelne mellem at kunne gengive en løsning og at kunne forklare og begrunde den.”</a:t>
            </a:r>
          </a:p>
          <a:p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85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4" name="Picture 10" descr="SOLO taksonomi for lærere - Det er godt at vide">
            <a:extLst>
              <a:ext uri="{FF2B5EF4-FFF2-40B4-BE49-F238E27FC236}">
                <a16:creationId xmlns:a16="http://schemas.microsoft.com/office/drawing/2014/main" id="{E46129C7-01B6-A1D0-62E4-6EA9B210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713" y="588916"/>
            <a:ext cx="10080574" cy="568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622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B6F34-7E56-2E63-A12B-710DB2EE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821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På de næste slides følger gennemgang af de 5 niveauer. For hvert niveau angives: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6BABC2-D055-6D43-56B9-C5B7511A4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Kendetegn ved præsentation, typisk brug af AI og typiske elevudsagn</a:t>
            </a: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En slide med verber der beskriver observerbar adfærd der høres i mundtlig prøve	</a:t>
            </a:r>
          </a:p>
          <a:p>
            <a:pPr lvl="1"/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Til at skelne mellem handlinger og produkter</a:t>
            </a:r>
          </a:p>
          <a:p>
            <a:pPr lvl="1"/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De kan måske bruges i feedback til eleven</a:t>
            </a:r>
          </a:p>
          <a:p>
            <a:pPr lvl="1"/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Reducerer fortolkning og øger fællessprog</a:t>
            </a:r>
          </a:p>
          <a:p>
            <a:pPr lvl="1"/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Understøtter en helhedsvurdering</a:t>
            </a:r>
          </a:p>
          <a:p>
            <a:pPr lvl="1"/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989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98F120-7AD7-862A-A306-56778D67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821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Præstrukturel – AI overtager elevens tænkning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654A5F-CBEF-8104-1F9F-591BE8038F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929384"/>
            <a:ext cx="102870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da-DK" altLang="da-DK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Præstation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Eleven kan vise fungerende kode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Forklaringer er uklare, usammenhængende eller selvmodsigende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Kan ikke forklare, hvorfor koden virker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Ændringer i koden fører hurtigt til nye fejl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a-DK" altLang="da-DK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Typisk i en AI-tid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Eleven har brugt AI til hele løsningen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Oplever selv at “have forstået”, fordi koden kører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Har svært ved eller kan ikke forklare med egne ord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a-DK" altLang="da-DK" sz="16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a-DK" altLang="da-DK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Hvad man hører mundtligt</a:t>
            </a:r>
            <a:endParaRPr lang="da-DK" altLang="da-DK" sz="1600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a-DK" altLang="da-DK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“Det var sådan, jeg fik det til at virke”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da-DK" altLang="da-DK" sz="1600" dirty="0">
                <a:solidFill>
                  <a:schemeClr val="tx2"/>
                </a:solidFill>
                <a:latin typeface="Aptos" panose="020B0004020202020204" pitchFamily="34" charset="0"/>
              </a:rPr>
              <a:t>”Jeg fik AI til at lave det og så virkede det”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a-DK" altLang="da-DK" sz="16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276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CF959-55E3-283D-465F-5D4A2F1A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FDEE7-5F50-DF3B-41FB-F0F8E1380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3237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Præstrukturel – AI overtager elevens tænkning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602BE874-3045-E430-53A7-9BCCB1BDED19}"/>
              </a:ext>
            </a:extLst>
          </p:cNvPr>
          <p:cNvSpPr/>
          <p:nvPr/>
        </p:nvSpPr>
        <p:spPr>
          <a:xfrm>
            <a:off x="838199" y="1828800"/>
            <a:ext cx="10515599" cy="4386943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9E5173-DA54-3DBD-C817-F19D8A3B61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8570" y="2090056"/>
            <a:ext cx="10265229" cy="40912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da-DK" sz="2000" dirty="0">
                <a:solidFill>
                  <a:schemeClr val="tx2"/>
                </a:solidFill>
                <a:cs typeface="Arial" panose="020B0604020202020204" pitchFamily="34" charset="0"/>
              </a:rPr>
              <a:t>Eleven: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  <a:cs typeface="Arial" panose="020B0604020202020204" pitchFamily="34" charset="0"/>
              </a:rPr>
              <a:t>kopierer</a:t>
            </a:r>
            <a:r>
              <a:rPr lang="da-DK" sz="2000" dirty="0">
                <a:solidFill>
                  <a:schemeClr val="tx2"/>
                </a:solidFill>
                <a:cs typeface="Arial" panose="020B0604020202020204" pitchFamily="34" charset="0"/>
              </a:rPr>
              <a:t> AI-genereret kode direkte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  <a:cs typeface="Arial" panose="020B0604020202020204" pitchFamily="34" charset="0"/>
              </a:rPr>
              <a:t>indsætter</a:t>
            </a:r>
            <a:r>
              <a:rPr lang="da-DK" sz="2000" dirty="0">
                <a:solidFill>
                  <a:schemeClr val="tx2"/>
                </a:solidFill>
                <a:cs typeface="Arial" panose="020B0604020202020204" pitchFamily="34" charset="0"/>
              </a:rPr>
              <a:t> løsninger uden ændringer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  <a:cs typeface="Arial" panose="020B0604020202020204" pitchFamily="34" charset="0"/>
              </a:rPr>
              <a:t>accepterer</a:t>
            </a:r>
            <a:r>
              <a:rPr lang="da-DK" sz="2000" dirty="0">
                <a:solidFill>
                  <a:schemeClr val="tx2"/>
                </a:solidFill>
                <a:cs typeface="Arial" panose="020B0604020202020204" pitchFamily="34" charset="0"/>
              </a:rPr>
              <a:t> AI-forslag ukritisk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  <a:cs typeface="Arial" panose="020B0604020202020204" pitchFamily="34" charset="0"/>
              </a:rPr>
              <a:t>gentager</a:t>
            </a:r>
            <a:r>
              <a:rPr lang="da-DK" sz="2000" dirty="0">
                <a:solidFill>
                  <a:schemeClr val="tx2"/>
                </a:solidFill>
                <a:cs typeface="Arial" panose="020B0604020202020204" pitchFamily="34" charset="0"/>
              </a:rPr>
              <a:t> prompts, indtil noget virker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  <a:cs typeface="Arial" panose="020B0604020202020204" pitchFamily="34" charset="0"/>
              </a:rPr>
              <a:t>forveksler</a:t>
            </a:r>
            <a:r>
              <a:rPr lang="da-DK" sz="2000" dirty="0">
                <a:solidFill>
                  <a:schemeClr val="tx2"/>
                </a:solidFill>
                <a:cs typeface="Arial" panose="020B0604020202020204" pitchFamily="34" charset="0"/>
              </a:rPr>
              <a:t> fungerende kode med forståelse (selvbedrag!)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b="1" dirty="0">
              <a:solidFill>
                <a:schemeClr val="tx2"/>
              </a:solidFill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7835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2D312-76EA-9FD4-E074-FF5181C0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294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Unistrukturel – AI bruges til enkeltdele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45DB0BDA-C4E4-9A74-0E70-715ABABF85E2}"/>
              </a:ext>
            </a:extLst>
          </p:cNvPr>
          <p:cNvSpPr/>
          <p:nvPr/>
        </p:nvSpPr>
        <p:spPr>
          <a:xfrm>
            <a:off x="838199" y="1828800"/>
            <a:ext cx="10515599" cy="4386943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8B1378-011A-A91D-6CE5-7FDDBF84F9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8571" y="2014075"/>
            <a:ext cx="11647715" cy="40274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2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da-DK" altLang="da-DK" sz="2000" b="1" dirty="0">
                <a:solidFill>
                  <a:schemeClr val="tx2"/>
                </a:solidFill>
                <a:latin typeface="Aptos" panose="020B0004020202020204" pitchFamily="34" charset="0"/>
              </a:rPr>
              <a:t>Kendetegn</a:t>
            </a:r>
            <a:endParaRPr kumimoji="0" lang="da-DK" altLang="da-DK" sz="2000" b="1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Eleven kan forklare én del ad gangen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Kan forklare, hvad en funktion gør – men ikke helheden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Ser koden som separate dele, ikke som et system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Typisk i en AI-tid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AI bruges til at forklare enkeltbegreber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Eleven kan gengive </a:t>
            </a:r>
            <a:r>
              <a:rPr kumimoji="0" lang="da-DK" altLang="da-DK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AI’s</a:t>
            </a: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forklaring, men ikke overføre den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Forståelsen er lokal, ikke sammenhængende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Hvad man hører mundtligt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“Denne funktion gør X”</a:t>
            </a:r>
            <a:endParaRPr lang="da-DK" altLang="da-DK" sz="2000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“Her bruger jeg en liste”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a-DK" altLang="da-DK" sz="20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a-DK" altLang="da-DK" sz="20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249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D3C66-D974-FBE2-C3DB-2FE34AF15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8F6C1-BAE1-5287-E4B4-288A7E097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Unistrukturel – AI bruges til enkeltdele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D955A42C-8187-DCA6-BBA7-B0A262BD5193}"/>
              </a:ext>
            </a:extLst>
          </p:cNvPr>
          <p:cNvSpPr/>
          <p:nvPr/>
        </p:nvSpPr>
        <p:spPr>
          <a:xfrm>
            <a:off x="838199" y="1828800"/>
            <a:ext cx="10515599" cy="3004457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73DDBC-3EE3-C079-D7A1-4F4B94DAE3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8570" y="2079170"/>
            <a:ext cx="10265229" cy="41021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da-DK" sz="2000" dirty="0">
                <a:solidFill>
                  <a:schemeClr val="tx2"/>
                </a:solidFill>
              </a:rPr>
              <a:t>Eleven: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spørger</a:t>
            </a:r>
            <a:r>
              <a:rPr lang="da-DK" sz="2000" dirty="0">
                <a:solidFill>
                  <a:schemeClr val="tx2"/>
                </a:solidFill>
              </a:rPr>
              <a:t> AI om ét begreb eller én fejl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får forklaret</a:t>
            </a:r>
            <a:r>
              <a:rPr lang="da-DK" sz="2000" dirty="0">
                <a:solidFill>
                  <a:schemeClr val="tx2"/>
                </a:solidFill>
              </a:rPr>
              <a:t> en enkelt kodebid (opslagsværk)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gengiver</a:t>
            </a:r>
            <a:r>
              <a:rPr lang="da-DK" sz="2000" dirty="0">
                <a:solidFill>
                  <a:schemeClr val="tx2"/>
                </a:solidFill>
              </a:rPr>
              <a:t> </a:t>
            </a:r>
            <a:r>
              <a:rPr lang="da-DK" sz="2000" dirty="0" err="1">
                <a:solidFill>
                  <a:schemeClr val="tx2"/>
                </a:solidFill>
              </a:rPr>
              <a:t>AI’s</a:t>
            </a:r>
            <a:r>
              <a:rPr lang="da-DK" sz="2000" dirty="0">
                <a:solidFill>
                  <a:schemeClr val="tx2"/>
                </a:solidFill>
              </a:rPr>
              <a:t> forklaring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retter</a:t>
            </a:r>
            <a:r>
              <a:rPr lang="da-DK" sz="2000" dirty="0">
                <a:solidFill>
                  <a:schemeClr val="tx2"/>
                </a:solidFill>
              </a:rPr>
              <a:t> kode ud fra konkrete AI-instruktioner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bruger</a:t>
            </a:r>
            <a:r>
              <a:rPr lang="da-DK" sz="2000" dirty="0">
                <a:solidFill>
                  <a:schemeClr val="tx2"/>
                </a:solidFill>
              </a:rPr>
              <a:t> AI reaktivt, når der opstår problemer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b="1" dirty="0">
              <a:solidFill>
                <a:schemeClr val="tx2"/>
              </a:solidFill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b="1" dirty="0">
              <a:solidFill>
                <a:schemeClr val="tx2"/>
              </a:solidFill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675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13B07-F411-60B9-BDAA-6BF2CABA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Multistrukturel - AI giver overblik – men forståelsen er fragmenteret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0F9746B4-F9C2-8A4F-A6BF-8BA449891925}"/>
              </a:ext>
            </a:extLst>
          </p:cNvPr>
          <p:cNvSpPr/>
          <p:nvPr/>
        </p:nvSpPr>
        <p:spPr>
          <a:xfrm>
            <a:off x="838199" y="1828800"/>
            <a:ext cx="10515599" cy="4386943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036885-5711-CEA0-37D7-994286969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714" y="1970314"/>
            <a:ext cx="10374086" cy="42110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Kendetegn i programmering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Flere relevante elementer anvendes korrekt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Eleven kan forklare mange dele af løsningen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Mangler at forklare </a:t>
            </a:r>
            <a:r>
              <a:rPr kumimoji="0" lang="da-DK" altLang="da-DK" sz="20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sammenhængen</a:t>
            </a: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 mellem delene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Typisk i en AI-tid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AI bruges bredt: kode, </a:t>
            </a:r>
            <a:r>
              <a:rPr kumimoji="0" lang="da-DK" altLang="da-DK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debugging</a:t>
            </a: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, forklaring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Koden er veldesignet – ofte bedre end elevens forklaring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Risiko for selvbedrag: “Jeg kan forklare det hele – hver for sig”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Hvad man hører mundtligt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“Først sker det her, så det her, og så det her”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lang="da-DK" altLang="da-DK" sz="20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659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D5ABF-4F50-3754-D9C4-4B6256E2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939999-CF52-B3D8-1911-03443169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Multistrukturel - AI giver overblik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9F991D26-C402-64C4-2CF0-DE80E90DABAF}"/>
              </a:ext>
            </a:extLst>
          </p:cNvPr>
          <p:cNvSpPr/>
          <p:nvPr/>
        </p:nvSpPr>
        <p:spPr>
          <a:xfrm>
            <a:off x="838199" y="1828801"/>
            <a:ext cx="10515599" cy="2808514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EED0EE-75B8-A0CA-54E4-EEE87B3F3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256" y="2024742"/>
            <a:ext cx="10330543" cy="41566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da-DK" sz="2000" dirty="0">
                <a:solidFill>
                  <a:schemeClr val="tx2"/>
                </a:solidFill>
              </a:rPr>
              <a:t>Eleven: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anvender</a:t>
            </a:r>
            <a:r>
              <a:rPr lang="da-DK" sz="2000" dirty="0">
                <a:solidFill>
                  <a:schemeClr val="tx2"/>
                </a:solidFill>
              </a:rPr>
              <a:t> AI til mange dele af arbejdet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samler</a:t>
            </a:r>
            <a:r>
              <a:rPr lang="da-DK" sz="2000" dirty="0">
                <a:solidFill>
                  <a:schemeClr val="tx2"/>
                </a:solidFill>
              </a:rPr>
              <a:t> kode, forklaringer og forslag fra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kombinerer</a:t>
            </a:r>
            <a:r>
              <a:rPr lang="da-DK" sz="2000" dirty="0">
                <a:solidFill>
                  <a:schemeClr val="tx2"/>
                </a:solidFill>
              </a:rPr>
              <a:t> egne og AI-genererede løsninger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forklarer</a:t>
            </a:r>
            <a:r>
              <a:rPr lang="da-DK" sz="2000" dirty="0">
                <a:solidFill>
                  <a:schemeClr val="tx2"/>
                </a:solidFill>
              </a:rPr>
              <a:t> flere dele hver for sig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følger</a:t>
            </a:r>
            <a:r>
              <a:rPr lang="da-DK" sz="2000" dirty="0">
                <a:solidFill>
                  <a:schemeClr val="tx2"/>
                </a:solidFill>
              </a:rPr>
              <a:t> </a:t>
            </a:r>
            <a:r>
              <a:rPr lang="da-DK" sz="2000" dirty="0" err="1">
                <a:solidFill>
                  <a:schemeClr val="tx2"/>
                </a:solidFill>
              </a:rPr>
              <a:t>AI’s</a:t>
            </a:r>
            <a:r>
              <a:rPr lang="da-DK" sz="2000" dirty="0">
                <a:solidFill>
                  <a:schemeClr val="tx2"/>
                </a:solidFill>
              </a:rPr>
              <a:t> struktur uden at udfordre den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b="1" dirty="0">
              <a:solidFill>
                <a:schemeClr val="tx2"/>
              </a:solidFill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b="1" dirty="0">
              <a:solidFill>
                <a:schemeClr val="tx2"/>
              </a:solidFill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762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01D7AD-AF32-7F84-24A8-87F84C3D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Relationel – AI som sparringspartner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875D005F-28FD-DDCC-42E1-1A3C7B7422D5}"/>
              </a:ext>
            </a:extLst>
          </p:cNvPr>
          <p:cNvSpPr/>
          <p:nvPr/>
        </p:nvSpPr>
        <p:spPr>
          <a:xfrm>
            <a:off x="838199" y="1690688"/>
            <a:ext cx="10515599" cy="4525055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D7FF82-8D23-2199-6126-72AC2567BD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7685" y="1963783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Kendetegn i programmering</a:t>
            </a: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Eleven kan forklare, hvordan delene hænger sammen</a:t>
            </a: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Kan begrunde designvalg og arkitektur</a:t>
            </a: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Kan forklare konsekvenser af ændringer i koden</a:t>
            </a: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Typisk i en AI-tid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AI bruges kritisk: til at afprøve ideer og alternativer</a:t>
            </a: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Eleven kan forklare, hvorfor AI-forslag blev brugt eller fravalgt</a:t>
            </a: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Forståelsen er elevens – ikke </a:t>
            </a:r>
            <a:r>
              <a:rPr kumimoji="0" lang="da-DK" altLang="da-DK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AI’ens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Hvad man hører mundtligt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“Jeg valgte denne struktur, fordi…”</a:t>
            </a:r>
            <a:b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“Hvis man ændrer her, påvirker det…”</a:t>
            </a:r>
          </a:p>
          <a:p>
            <a:pPr marL="0" marR="0" lvl="0" indent="0" defTabSz="914400" rtl="0" eaLnBrk="0" fontAlgn="base" latinLnBrk="0" hangingPunct="0">
              <a:spcBef>
                <a:spcPts val="300"/>
              </a:spcBef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85093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4C044C-B9E4-DBB8-7246-C802A8AF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Relationel – AI som sparringspartner</a:t>
            </a: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1F81D294-8EED-A4C2-E062-581DC5E4DDCB}"/>
              </a:ext>
            </a:extLst>
          </p:cNvPr>
          <p:cNvSpPr/>
          <p:nvPr/>
        </p:nvSpPr>
        <p:spPr>
          <a:xfrm>
            <a:off x="838199" y="1690689"/>
            <a:ext cx="10515599" cy="2957512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36B35E-285E-5269-401E-F77CB1F6D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1963783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da-DK" sz="2000" dirty="0">
                <a:solidFill>
                  <a:schemeClr val="tx2"/>
                </a:solidFill>
              </a:rPr>
              <a:t>Eleven: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vurderer</a:t>
            </a:r>
            <a:r>
              <a:rPr lang="da-DK" sz="2000" dirty="0">
                <a:solidFill>
                  <a:schemeClr val="tx2"/>
                </a:solidFill>
              </a:rPr>
              <a:t> </a:t>
            </a:r>
            <a:r>
              <a:rPr lang="da-DK" sz="2000" dirty="0" err="1">
                <a:solidFill>
                  <a:schemeClr val="tx2"/>
                </a:solidFill>
              </a:rPr>
              <a:t>AI’s</a:t>
            </a:r>
            <a:r>
              <a:rPr lang="da-DK" sz="2000" dirty="0">
                <a:solidFill>
                  <a:schemeClr val="tx2"/>
                </a:solidFill>
              </a:rPr>
              <a:t> forslag kritisk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begrunder</a:t>
            </a:r>
            <a:r>
              <a:rPr lang="da-DK" sz="2000" dirty="0">
                <a:solidFill>
                  <a:schemeClr val="tx2"/>
                </a:solidFill>
              </a:rPr>
              <a:t> valg og fravalg af AI-løsninger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sammenligner</a:t>
            </a:r>
            <a:r>
              <a:rPr lang="da-DK" sz="2000" dirty="0">
                <a:solidFill>
                  <a:schemeClr val="tx2"/>
                </a:solidFill>
              </a:rPr>
              <a:t> alternative forslag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tilpasser</a:t>
            </a:r>
            <a:r>
              <a:rPr lang="da-DK" sz="2000" dirty="0">
                <a:solidFill>
                  <a:schemeClr val="tx2"/>
                </a:solidFill>
              </a:rPr>
              <a:t> AI-output til eget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forklarer</a:t>
            </a:r>
            <a:r>
              <a:rPr lang="da-DK" sz="2000" dirty="0">
                <a:solidFill>
                  <a:schemeClr val="tx2"/>
                </a:solidFill>
              </a:rPr>
              <a:t> konsekvenser af AI-baserede valg</a:t>
            </a:r>
          </a:p>
          <a:p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726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B6B5B1-BC0D-9E56-A3DF-3DF9C38F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Udvidet Abstrakt – AI understøtter generalisering og refleksion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98494082-EEBD-4128-2C56-FB26B3C3E3C5}"/>
              </a:ext>
            </a:extLst>
          </p:cNvPr>
          <p:cNvSpPr/>
          <p:nvPr/>
        </p:nvSpPr>
        <p:spPr>
          <a:xfrm>
            <a:off x="838199" y="1690688"/>
            <a:ext cx="10515599" cy="4525055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2DE2FF-DC9A-D8BB-059A-72F9DC9B3A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9456" y="1929384"/>
            <a:ext cx="10254343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Kendetegn i programmering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Eleven kan overføre sin forståelse til nye problemer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Kan diskutere alternative løsninger og abstrahere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Reflekterer over metode, begrænsninger og valg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None/>
              <a:tabLst/>
            </a:pP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Typisk i en AI-tid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AI bruges strategisk og reflekteret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Eleven kan forklare, hvornår AI hjælper – og hvornår den ikke gør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Kan generalisere til andre programmeringssprog eller problemtyper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Hvad man hører mundtligt</a:t>
            </a:r>
            <a:endParaRPr kumimoji="0" lang="da-DK" altLang="da-DK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“Den samme tilgang kan bruges til…”</a:t>
            </a:r>
            <a:b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</a:br>
            <a:r>
              <a:rPr kumimoji="0" lang="da-DK" altLang="da-DK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</a:rPr>
              <a:t>“En anden løsning kunne være…”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51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DBC8F6-3453-1E13-7233-C03E716AB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Udvidet Abstrakt – AI understøtter generalisering og refleksion</a:t>
            </a: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A2E026FE-7EA7-A1D5-8226-88F9EC95E427}"/>
              </a:ext>
            </a:extLst>
          </p:cNvPr>
          <p:cNvSpPr/>
          <p:nvPr/>
        </p:nvSpPr>
        <p:spPr>
          <a:xfrm>
            <a:off x="838199" y="1690689"/>
            <a:ext cx="10515599" cy="2924854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F1AD1D1-1383-4526-72AE-7313195CF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1929384"/>
            <a:ext cx="10297886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da-DK" sz="2000" dirty="0">
                <a:solidFill>
                  <a:schemeClr val="tx2"/>
                </a:solidFill>
              </a:rPr>
              <a:t>Eleven: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reflekterer</a:t>
            </a:r>
            <a:r>
              <a:rPr lang="da-DK" sz="2000" dirty="0">
                <a:solidFill>
                  <a:schemeClr val="tx2"/>
                </a:solidFill>
              </a:rPr>
              <a:t> over </a:t>
            </a:r>
            <a:r>
              <a:rPr lang="da-DK" sz="2000" dirty="0" err="1">
                <a:solidFill>
                  <a:schemeClr val="tx2"/>
                </a:solidFill>
              </a:rPr>
              <a:t>AI’s</a:t>
            </a:r>
            <a:r>
              <a:rPr lang="da-DK" sz="2000" dirty="0">
                <a:solidFill>
                  <a:schemeClr val="tx2"/>
                </a:solidFill>
              </a:rPr>
              <a:t> rolle i egen læring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generaliserer</a:t>
            </a:r>
            <a:r>
              <a:rPr lang="da-DK" sz="2000" dirty="0">
                <a:solidFill>
                  <a:schemeClr val="tx2"/>
                </a:solidFill>
              </a:rPr>
              <a:t> AI-strategier til nye problemer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designer</a:t>
            </a:r>
            <a:r>
              <a:rPr lang="da-DK" sz="2000" dirty="0">
                <a:solidFill>
                  <a:schemeClr val="tx2"/>
                </a:solidFill>
              </a:rPr>
              <a:t> egne prompts og arbejdsgange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forklarer</a:t>
            </a:r>
            <a:r>
              <a:rPr lang="da-DK" sz="2000" dirty="0">
                <a:solidFill>
                  <a:schemeClr val="tx2"/>
                </a:solidFill>
              </a:rPr>
              <a:t> begrænsninger og styrker ved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tx2"/>
                </a:solidFill>
              </a:rPr>
              <a:t>overfører</a:t>
            </a:r>
            <a:r>
              <a:rPr lang="da-DK" sz="2000" dirty="0">
                <a:solidFill>
                  <a:schemeClr val="tx2"/>
                </a:solidFill>
              </a:rPr>
              <a:t> AI-brug til nye kontekster og faglige domæner</a:t>
            </a:r>
          </a:p>
          <a:p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440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5FCDAA-2E4E-FC69-E1C0-505B0EC5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Opsummering</a:t>
            </a:r>
            <a:endParaRPr lang="en-US" sz="4000" dirty="0">
              <a:solidFill>
                <a:schemeClr val="tx2"/>
              </a:solidFill>
              <a:latin typeface="Aptos SemiBold" panose="020B0004020202020204" pitchFamily="34" charset="0"/>
            </a:endParaRP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AD4540CA-0E3E-F198-50D8-C012C23AE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5538"/>
              </p:ext>
            </p:extLst>
          </p:nvPr>
        </p:nvGraphicFramePr>
        <p:xfrm>
          <a:off x="792914" y="2057401"/>
          <a:ext cx="10606171" cy="412916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63631">
                  <a:extLst>
                    <a:ext uri="{9D8B030D-6E8A-4147-A177-3AD203B41FA5}">
                      <a16:colId xmlns:a16="http://schemas.microsoft.com/office/drawing/2014/main" val="892455288"/>
                    </a:ext>
                  </a:extLst>
                </a:gridCol>
                <a:gridCol w="3438544">
                  <a:extLst>
                    <a:ext uri="{9D8B030D-6E8A-4147-A177-3AD203B41FA5}">
                      <a16:colId xmlns:a16="http://schemas.microsoft.com/office/drawing/2014/main" val="2958249715"/>
                    </a:ext>
                  </a:extLst>
                </a:gridCol>
                <a:gridCol w="2044186">
                  <a:extLst>
                    <a:ext uri="{9D8B030D-6E8A-4147-A177-3AD203B41FA5}">
                      <a16:colId xmlns:a16="http://schemas.microsoft.com/office/drawing/2014/main" val="3000110678"/>
                    </a:ext>
                  </a:extLst>
                </a:gridCol>
                <a:gridCol w="1730814">
                  <a:extLst>
                    <a:ext uri="{9D8B030D-6E8A-4147-A177-3AD203B41FA5}">
                      <a16:colId xmlns:a16="http://schemas.microsoft.com/office/drawing/2014/main" val="1615301890"/>
                    </a:ext>
                  </a:extLst>
                </a:gridCol>
                <a:gridCol w="2128996">
                  <a:extLst>
                    <a:ext uri="{9D8B030D-6E8A-4147-A177-3AD203B41FA5}">
                      <a16:colId xmlns:a16="http://schemas.microsoft.com/office/drawing/2014/main" val="576879838"/>
                    </a:ext>
                  </a:extLst>
                </a:gridCol>
              </a:tblGrid>
              <a:tr h="5414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SOLO-niveau</a:t>
                      </a:r>
                      <a:endParaRPr lang="da-DK" sz="13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Forståelse</a:t>
                      </a:r>
                      <a:endParaRPr lang="da-DK" sz="13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Typisk AI-brug</a:t>
                      </a:r>
                      <a:endParaRPr lang="da-DK" sz="13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Synligt produkt (kode)</a:t>
                      </a:r>
                      <a:endParaRPr lang="da-DK" sz="13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u="none" strike="noStrike" dirty="0">
                          <a:solidFill>
                            <a:schemeClr val="tx2"/>
                          </a:solidFill>
                          <a:effectLst/>
                        </a:rPr>
                        <a:t>Hvad der ikke kan aflæses direkte</a:t>
                      </a:r>
                      <a:endParaRPr lang="da-DK" sz="13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990008"/>
                  </a:ext>
                </a:extLst>
              </a:tr>
              <a:tr h="7569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🔴 </a:t>
                      </a: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Præstrukturel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Eleven forstår ikke helheden og kan ikke forklare, hvorfor koden virker. Små ændringer fører hurtigt til fejl.</a:t>
                      </a:r>
                      <a:endParaRPr lang="da-DK" sz="1300" b="0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AI laver i praksis hele løsningen, og forslag accepteres ukritisk.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Ofte fungerende, men skrøbelig kode.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Manglende forståelse, selvstændighed og overblik.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778454"/>
                  </a:ext>
                </a:extLst>
              </a:tr>
              <a:tr h="5414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🟡 </a:t>
                      </a: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Unistrukturel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Eleven kan forklare enkelte dele eller begreber, men ikke sammenhængen mellem dem.</a:t>
                      </a:r>
                      <a:endParaRPr lang="da-DK" sz="1300" b="0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AI bruges som opslagsværk og til konkrete rettelser.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Fungerende kode med lokale rettelser.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Manglende systemforståelse og begrundelser.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479710"/>
                  </a:ext>
                </a:extLst>
              </a:tr>
              <a:tr h="7569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🟠 </a:t>
                      </a: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Multistrukturel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Eleven kan forklare mange dele af løsningen, men ikke hvordan de hænger sammen som et system.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AI strukturerer kode og forklaringer bredt.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Velfungerende og ofte pæn kode.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Hvorfor løsningen er opbygget, som den er.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15932"/>
                  </a:ext>
                </a:extLst>
              </a:tr>
              <a:tr h="5414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🔵 </a:t>
                      </a: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Relationel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Eleven forstår sammenhæng, arkitektur og konsekvenser af ændringer i koden.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AI bruges kritisk som sparringspartner.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Mere robust, konsistent og gennemtænkt kode.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Designrationale og elevens egne faglige valg.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151092"/>
                  </a:ext>
                </a:extLst>
              </a:tr>
              <a:tr h="7569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🟢 </a:t>
                      </a:r>
                      <a:r>
                        <a:rPr lang="da-DK" sz="1300" b="1" u="none" strike="noStrike">
                          <a:solidFill>
                            <a:schemeClr val="tx2"/>
                          </a:solidFill>
                          <a:effectLst/>
                        </a:rPr>
                        <a:t>Udvidet abstrakt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Eleven kan generalisere, abstrahere og overføre forståelsen til nye problemstillinger.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AI bruges strategisk og reflekteret.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>
                          <a:solidFill>
                            <a:schemeClr val="tx2"/>
                          </a:solidFill>
                          <a:effectLst/>
                        </a:rPr>
                        <a:t>Meget robust, fleksibel og genbrugelig kode.</a:t>
                      </a:r>
                      <a:endParaRPr lang="da-DK" sz="1300" b="0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Evnen til at generalisere og reflektere på tværs af opgaver.</a:t>
                      </a:r>
                      <a:endParaRPr lang="da-DK" sz="1300" b="0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64" marR="64064" marT="32032" marB="3203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612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687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74617-DCFB-E627-04F4-695EB7047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62AE2-D19C-8A9D-6F0F-6658E17E8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821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Forslag til didaktiske greb baseret på SOLO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E452C0-DFAE-BF1B-E4B3-EE274E38D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Herunder følger nogle forslag til bevidste handlinger og valg vi kan bruge for at fremme læring</a:t>
            </a: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Udover de nævnte har jeg lavet et dokument med eksempler på en lang række forskellige opgavetyper som illustrerer hvordan de forskellige niveauer kan trænes</a:t>
            </a: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457200" lvl="1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buNone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476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DC895-36B9-ACCC-935F-161A42A3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7" y="0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0 : 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Italesæt</a:t>
            </a:r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løbende</a:t>
            </a:r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hvornår</a:t>
            </a:r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/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hvordan</a:t>
            </a:r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 AI 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bruges</a:t>
            </a:r>
            <a:endParaRPr lang="en-US" sz="4000" dirty="0">
              <a:solidFill>
                <a:schemeClr val="tx2"/>
              </a:solidFill>
              <a:latin typeface="Aptos SemiBold" panose="020B0004020202020204" pitchFamily="34" charset="0"/>
            </a:endParaRPr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643372BC-3645-5AFD-AAA3-B6B976F11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379147"/>
              </p:ext>
            </p:extLst>
          </p:nvPr>
        </p:nvGraphicFramePr>
        <p:xfrm>
          <a:off x="639657" y="2677886"/>
          <a:ext cx="10909640" cy="3102866"/>
        </p:xfrm>
        <a:graphic>
          <a:graphicData uri="http://schemas.openxmlformats.org/drawingml/2006/table">
            <a:tbl>
              <a:tblPr/>
              <a:tblGrid>
                <a:gridCol w="3129770">
                  <a:extLst>
                    <a:ext uri="{9D8B030D-6E8A-4147-A177-3AD203B41FA5}">
                      <a16:colId xmlns:a16="http://schemas.microsoft.com/office/drawing/2014/main" val="3872463126"/>
                    </a:ext>
                  </a:extLst>
                </a:gridCol>
                <a:gridCol w="1571657">
                  <a:extLst>
                    <a:ext uri="{9D8B030D-6E8A-4147-A177-3AD203B41FA5}">
                      <a16:colId xmlns:a16="http://schemas.microsoft.com/office/drawing/2014/main" val="2464737808"/>
                    </a:ext>
                  </a:extLst>
                </a:gridCol>
                <a:gridCol w="1674471">
                  <a:extLst>
                    <a:ext uri="{9D8B030D-6E8A-4147-A177-3AD203B41FA5}">
                      <a16:colId xmlns:a16="http://schemas.microsoft.com/office/drawing/2014/main" val="996169801"/>
                    </a:ext>
                  </a:extLst>
                </a:gridCol>
                <a:gridCol w="1698949">
                  <a:extLst>
                    <a:ext uri="{9D8B030D-6E8A-4147-A177-3AD203B41FA5}">
                      <a16:colId xmlns:a16="http://schemas.microsoft.com/office/drawing/2014/main" val="592181346"/>
                    </a:ext>
                  </a:extLst>
                </a:gridCol>
                <a:gridCol w="2834793">
                  <a:extLst>
                    <a:ext uri="{9D8B030D-6E8A-4147-A177-3AD203B41FA5}">
                      <a16:colId xmlns:a16="http://schemas.microsoft.com/office/drawing/2014/main" val="1603448193"/>
                    </a:ext>
                  </a:extLst>
                </a:gridCol>
              </a:tblGrid>
              <a:tr h="453705">
                <a:tc>
                  <a:txBody>
                    <a:bodyPr/>
                    <a:lstStyle/>
                    <a:p>
                      <a:r>
                        <a:rPr lang="da-DK" sz="1300" b="1" dirty="0" err="1">
                          <a:solidFill>
                            <a:schemeClr val="tx2"/>
                          </a:solidFill>
                        </a:rPr>
                        <a:t>GenAI</a:t>
                      </a:r>
                      <a:r>
                        <a:rPr lang="da-DK" sz="1300" b="1" dirty="0">
                          <a:solidFill>
                            <a:schemeClr val="tx2"/>
                          </a:solidFill>
                        </a:rPr>
                        <a:t>-regel i opgaven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GenAI’s rolle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Typisk SOLO-fokus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Hvad trænes kognitivt?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Lærerens fokus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718439"/>
                  </a:ext>
                </a:extLst>
              </a:tr>
              <a:tr h="453705"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❌ Du må ikke bruge generativ AI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Ingen AI – beskyttet tænkning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Præstrukturel → Unistrukturel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Egen konstruktion af basal forståelse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Afsløre sort-boks-forståelse og sikre basal begrebsforståelse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596179"/>
                  </a:ext>
                </a:extLst>
              </a:tr>
              <a:tr h="644023"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🔍 Du må kun bruge AI til at finde fejl </a:t>
                      </a:r>
                      <a:r>
                        <a:rPr lang="da-DK" sz="1300" i="1" dirty="0">
                          <a:solidFill>
                            <a:schemeClr val="tx2"/>
                          </a:solidFill>
                        </a:rPr>
                        <a:t>Prompt: “Du skal finde fejlen, men må ikke foreslå løsninger”</a:t>
                      </a:r>
                      <a:endParaRPr lang="da-DK" sz="1300" dirty="0">
                        <a:solidFill>
                          <a:schemeClr val="tx2"/>
                        </a:solidFill>
                      </a:endParaRP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Diagnoseværktøj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Multistrukturel (på vej mod relationel)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Forbinde fejl og årsag – rette selv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Efterspørge årsagsforklaringer og sammenhæng mellem fejl og struktur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758990"/>
                  </a:ext>
                </a:extLst>
              </a:tr>
              <a:tr h="453705"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📘 Må bruges til at opnå forståelse af begreber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Begrebsforklarer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Unistrukturel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Forstå og forklare ét begreb korrekt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Sikre at begreber kan forklares med egne ord og kobles til koden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672619"/>
                  </a:ext>
                </a:extLst>
              </a:tr>
              <a:tr h="453705"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💬 Må bruges til at få feedback på kode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Kritisk spejl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Multistrukturel → Relationel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Vurdere og begrunde ændringer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Udfordre elevens begrundelser og få dem til at forklare designvalg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188679"/>
                  </a:ext>
                </a:extLst>
              </a:tr>
              <a:tr h="644023"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🎨 Må bruges til eks. at fremstille GUI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Produktionsværktøj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Ofte Multistrukturel (kan løftes til relationel)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Strukturforståelse – hvis design kan forklares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Flytte fokus fra udseende til arkitektur, datastrøm og event-håndtering</a:t>
                      </a:r>
                    </a:p>
                  </a:txBody>
                  <a:tcPr marL="44522" marR="44522" marT="22261" marB="22261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852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299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F84224-0A5C-AE09-8BC1-DB5D4D6D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 fontScale="90000"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1: Skift fokus fra produkt til forklaring/</a:t>
            </a:r>
            <a:r>
              <a:rPr lang="da-DK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process</a:t>
            </a:r>
            <a:br>
              <a:rPr lang="da-DK" sz="3600" dirty="0"/>
            </a:br>
            <a:endParaRPr lang="da-DK" sz="3600" dirty="0"/>
          </a:p>
        </p:txBody>
      </p:sp>
      <p:graphicFrame>
        <p:nvGraphicFramePr>
          <p:cNvPr id="8" name="Pladsholder til indhold 7">
            <a:extLst>
              <a:ext uri="{FF2B5EF4-FFF2-40B4-BE49-F238E27FC236}">
                <a16:creationId xmlns:a16="http://schemas.microsoft.com/office/drawing/2014/main" id="{E1246652-45F0-237B-BA3B-0C9DDAA8C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2374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82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06DD8-1ABF-9DFD-8C7D-A02AFC99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2: Håndkør kode (=&gt; prøver på papir)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7F84AC9-72FF-9671-98FF-8D6EAA4962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79520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7048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84C7D8-6A2C-D706-742B-C27CB711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3: Giv fungerende kode og bed eleverne: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342DA1A3-F21D-7ABD-EAD8-686F3F489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3874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kstfelt 5">
            <a:extLst>
              <a:ext uri="{FF2B5EF4-FFF2-40B4-BE49-F238E27FC236}">
                <a16:creationId xmlns:a16="http://schemas.microsoft.com/office/drawing/2014/main" id="{18E3282D-6B42-37FC-67D1-24F9E0DB43EE}"/>
              </a:ext>
            </a:extLst>
          </p:cNvPr>
          <p:cNvSpPr txBox="1"/>
          <p:nvPr/>
        </p:nvSpPr>
        <p:spPr>
          <a:xfrm>
            <a:off x="2978150" y="2844284"/>
            <a:ext cx="2686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>
                <a:solidFill>
                  <a:schemeClr val="tx2"/>
                </a:solidFill>
              </a:rPr>
              <a:t>🟠 </a:t>
            </a:r>
            <a:r>
              <a:rPr lang="da-DK" sz="1800" dirty="0" err="1">
                <a:solidFill>
                  <a:schemeClr val="tx2"/>
                </a:solidFill>
              </a:rPr>
              <a:t>Multi</a:t>
            </a:r>
            <a:r>
              <a:rPr lang="da-DK" sz="1800" dirty="0">
                <a:solidFill>
                  <a:schemeClr val="tx2"/>
                </a:solidFill>
              </a:rPr>
              <a:t> → 🔵 Relationel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3B2219F4-0F59-B5D7-2ADA-7ACE234E71D9}"/>
              </a:ext>
            </a:extLst>
          </p:cNvPr>
          <p:cNvSpPr txBox="1"/>
          <p:nvPr/>
        </p:nvSpPr>
        <p:spPr>
          <a:xfrm>
            <a:off x="2978150" y="4226441"/>
            <a:ext cx="280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>
                <a:solidFill>
                  <a:schemeClr val="tx2"/>
                </a:solidFill>
              </a:rPr>
              <a:t>🔵 Relationel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67B79E8F-83DC-5424-ED78-BEB8E4543E6A}"/>
              </a:ext>
            </a:extLst>
          </p:cNvPr>
          <p:cNvSpPr txBox="1"/>
          <p:nvPr/>
        </p:nvSpPr>
        <p:spPr>
          <a:xfrm>
            <a:off x="3046475" y="5689084"/>
            <a:ext cx="4224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b="1" dirty="0">
                <a:solidFill>
                  <a:schemeClr val="tx2"/>
                </a:solidFill>
              </a:rPr>
              <a:t>🟢 </a:t>
            </a:r>
            <a:r>
              <a:rPr lang="da-DK" sz="1800" dirty="0">
                <a:solidFill>
                  <a:schemeClr val="tx2"/>
                </a:solidFill>
              </a:rPr>
              <a:t>Udvidet abstrakt</a:t>
            </a:r>
          </a:p>
        </p:txBody>
      </p:sp>
    </p:spTree>
    <p:extLst>
      <p:ext uri="{BB962C8B-B14F-4D97-AF65-F5344CB8AC3E}">
        <p14:creationId xmlns:p14="http://schemas.microsoft.com/office/powerpoint/2010/main" val="2064983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A9229-77BA-FCCE-07B9-058EAAAF7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Greb 4: Brug </a:t>
            </a:r>
            <a:r>
              <a:rPr lang="en-US" sz="36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debuggeren</a:t>
            </a:r>
            <a:r>
              <a:rPr lang="en-US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til</a:t>
            </a:r>
            <a:r>
              <a:rPr lang="en-US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afklaring</a:t>
            </a:r>
            <a:r>
              <a:rPr lang="en-US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af</a:t>
            </a:r>
            <a:r>
              <a:rPr lang="en-US" sz="36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forståelse</a:t>
            </a:r>
            <a:endParaRPr lang="en-US" sz="3600" dirty="0">
              <a:solidFill>
                <a:schemeClr val="tx2"/>
              </a:solidFill>
              <a:latin typeface="Aptos SemiBold" panose="020B0004020202020204" pitchFamily="34" charset="0"/>
            </a:endParaRP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A9EC6F43-9EE1-6A58-EAAC-77F849F7F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606437"/>
              </p:ext>
            </p:extLst>
          </p:nvPr>
        </p:nvGraphicFramePr>
        <p:xfrm>
          <a:off x="1277787" y="2296014"/>
          <a:ext cx="9631828" cy="358635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06728">
                  <a:extLst>
                    <a:ext uri="{9D8B030D-6E8A-4147-A177-3AD203B41FA5}">
                      <a16:colId xmlns:a16="http://schemas.microsoft.com/office/drawing/2014/main" val="2531107919"/>
                    </a:ext>
                  </a:extLst>
                </a:gridCol>
                <a:gridCol w="2553946">
                  <a:extLst>
                    <a:ext uri="{9D8B030D-6E8A-4147-A177-3AD203B41FA5}">
                      <a16:colId xmlns:a16="http://schemas.microsoft.com/office/drawing/2014/main" val="1377405348"/>
                    </a:ext>
                  </a:extLst>
                </a:gridCol>
                <a:gridCol w="2652562">
                  <a:extLst>
                    <a:ext uri="{9D8B030D-6E8A-4147-A177-3AD203B41FA5}">
                      <a16:colId xmlns:a16="http://schemas.microsoft.com/office/drawing/2014/main" val="3097785828"/>
                    </a:ext>
                  </a:extLst>
                </a:gridCol>
                <a:gridCol w="2418592">
                  <a:extLst>
                    <a:ext uri="{9D8B030D-6E8A-4147-A177-3AD203B41FA5}">
                      <a16:colId xmlns:a16="http://schemas.microsoft.com/office/drawing/2014/main" val="2412705530"/>
                    </a:ext>
                  </a:extLst>
                </a:gridCol>
              </a:tblGrid>
              <a:tr h="634852">
                <a:tc>
                  <a:txBody>
                    <a:bodyPr/>
                    <a:lstStyle/>
                    <a:p>
                      <a:r>
                        <a:rPr lang="da-DK" sz="1500" b="1" cap="none" spc="0" dirty="0">
                          <a:solidFill>
                            <a:schemeClr val="tx2"/>
                          </a:solidFill>
                        </a:rPr>
                        <a:t>SOLO-niveau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b="1" cap="none" spc="0" dirty="0">
                          <a:solidFill>
                            <a:schemeClr val="tx2"/>
                          </a:solidFill>
                        </a:rPr>
                        <a:t>Brug af debugger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b="1" cap="none" spc="0">
                          <a:solidFill>
                            <a:schemeClr val="tx2"/>
                          </a:solidFill>
                        </a:rPr>
                        <a:t>Elevens typiske adfærd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b="1" cap="none" spc="0">
                          <a:solidFill>
                            <a:schemeClr val="tx2"/>
                          </a:solidFill>
                        </a:rPr>
                        <a:t>Hvad viser det om forståelsen?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239615"/>
                  </a:ext>
                </a:extLst>
              </a:tr>
              <a:tr h="634852">
                <a:tc>
                  <a:txBody>
                    <a:bodyPr/>
                    <a:lstStyle/>
                    <a:p>
                      <a:r>
                        <a:rPr lang="da-DK" sz="1500" cap="none" spc="0" dirty="0">
                          <a:solidFill>
                            <a:schemeClr val="tx2"/>
                          </a:solidFill>
                        </a:rPr>
                        <a:t>🔴 </a:t>
                      </a:r>
                      <a:r>
                        <a:rPr lang="da-DK" sz="1500" b="1" cap="none" spc="0" dirty="0">
                          <a:solidFill>
                            <a:schemeClr val="tx2"/>
                          </a:solidFill>
                        </a:rPr>
                        <a:t>Præstrukturel</a:t>
                      </a:r>
                      <a:endParaRPr lang="da-DK" sz="1500" cap="none" spc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 dirty="0">
                          <a:solidFill>
                            <a:schemeClr val="tx2"/>
                          </a:solidFill>
                        </a:rPr>
                        <a:t>Klikker “Step Over” tilfældigt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Leder efter fejl uden strategi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 dirty="0">
                          <a:solidFill>
                            <a:schemeClr val="tx2"/>
                          </a:solidFill>
                        </a:rPr>
                        <a:t>Ingen mental model for programmet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799060"/>
                  </a:ext>
                </a:extLst>
              </a:tr>
              <a:tr h="412097">
                <a:tc>
                  <a:txBody>
                    <a:bodyPr/>
                    <a:lstStyle/>
                    <a:p>
                      <a:r>
                        <a:rPr lang="da-DK" sz="1500" cap="none" spc="0" dirty="0">
                          <a:solidFill>
                            <a:schemeClr val="tx2"/>
                          </a:solidFill>
                        </a:rPr>
                        <a:t>🟡 </a:t>
                      </a:r>
                      <a:r>
                        <a:rPr lang="da-DK" sz="1500" b="1" cap="none" spc="0" dirty="0">
                          <a:solidFill>
                            <a:schemeClr val="tx2"/>
                          </a:solidFill>
                        </a:rPr>
                        <a:t>Unistrukturel</a:t>
                      </a:r>
                      <a:endParaRPr lang="da-DK" sz="1500" cap="none" spc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Følger linjer trin for trin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Kan forklare enkelte variabler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Lokal og lineær forståelse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30400"/>
                  </a:ext>
                </a:extLst>
              </a:tr>
              <a:tr h="634852"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🟠 </a:t>
                      </a:r>
                      <a:r>
                        <a:rPr lang="da-DK" sz="1500" b="1" cap="none" spc="0">
                          <a:solidFill>
                            <a:schemeClr val="tx2"/>
                          </a:solidFill>
                        </a:rPr>
                        <a:t>Multistrukturel</a:t>
                      </a:r>
                      <a:endParaRPr lang="da-DK" sz="1500" cap="none" spc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Sætter breakpoints bevidst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Sporer kontrolflow og finder fejl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Forstår flere dele og deres funktion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026104"/>
                  </a:ext>
                </a:extLst>
              </a:tr>
              <a:tr h="634852"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🔵 </a:t>
                      </a:r>
                      <a:r>
                        <a:rPr lang="da-DK" sz="1500" b="1" cap="none" spc="0">
                          <a:solidFill>
                            <a:schemeClr val="tx2"/>
                          </a:solidFill>
                        </a:rPr>
                        <a:t>Relationel</a:t>
                      </a:r>
                      <a:endParaRPr lang="da-DK" sz="1500" cap="none" spc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Tester hypoteser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Forudsiger værdier før 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Forstår årsag–virkning og sammenhæng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782608"/>
                  </a:ext>
                </a:extLst>
              </a:tr>
              <a:tr h="634852"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🟢 </a:t>
                      </a:r>
                      <a:r>
                        <a:rPr lang="da-DK" sz="1500" b="1" cap="none" spc="0">
                          <a:solidFill>
                            <a:schemeClr val="tx2"/>
                          </a:solidFill>
                        </a:rPr>
                        <a:t>Udvidet abstrakt</a:t>
                      </a:r>
                      <a:endParaRPr lang="da-DK" sz="1500" cap="none" spc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Reflekterer over strategi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>
                          <a:solidFill>
                            <a:schemeClr val="tx2"/>
                          </a:solidFill>
                        </a:rPr>
                        <a:t>Vælger debugging-metode bevidst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cap="none" spc="0" dirty="0">
                          <a:solidFill>
                            <a:schemeClr val="tx2"/>
                          </a:solidFill>
                        </a:rPr>
                        <a:t>Metaforståelse og generalisering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049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586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1224A-7D4D-C513-B5CD-D4305289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5: Lad 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elever</a:t>
            </a:r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inddrage</a:t>
            </a:r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deres</a:t>
            </a:r>
            <a: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 prompts</a:t>
            </a:r>
            <a:br>
              <a:rPr lang="en-US" sz="4000" dirty="0">
                <a:solidFill>
                  <a:schemeClr val="tx2"/>
                </a:solidFill>
                <a:latin typeface="Aptos SemiBold" panose="020B0004020202020204" pitchFamily="34" charset="0"/>
              </a:rPr>
            </a:br>
            <a:endParaRPr lang="en-US" sz="4000" dirty="0">
              <a:solidFill>
                <a:schemeClr val="tx2"/>
              </a:solidFill>
              <a:latin typeface="Aptos SemiBold" panose="020B0004020202020204" pitchFamily="34" charset="0"/>
            </a:endParaRP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8797A1A-04A9-B7A6-20DF-7AFB31FF5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44958"/>
              </p:ext>
            </p:extLst>
          </p:nvPr>
        </p:nvGraphicFramePr>
        <p:xfrm>
          <a:off x="638882" y="2582563"/>
          <a:ext cx="10909641" cy="3230973"/>
        </p:xfrm>
        <a:graphic>
          <a:graphicData uri="http://schemas.openxmlformats.org/drawingml/2006/table">
            <a:tbl>
              <a:tblPr/>
              <a:tblGrid>
                <a:gridCol w="2707735">
                  <a:extLst>
                    <a:ext uri="{9D8B030D-6E8A-4147-A177-3AD203B41FA5}">
                      <a16:colId xmlns:a16="http://schemas.microsoft.com/office/drawing/2014/main" val="428565851"/>
                    </a:ext>
                  </a:extLst>
                </a:gridCol>
                <a:gridCol w="2786436">
                  <a:extLst>
                    <a:ext uri="{9D8B030D-6E8A-4147-A177-3AD203B41FA5}">
                      <a16:colId xmlns:a16="http://schemas.microsoft.com/office/drawing/2014/main" val="909308421"/>
                    </a:ext>
                  </a:extLst>
                </a:gridCol>
                <a:gridCol w="2707735">
                  <a:extLst>
                    <a:ext uri="{9D8B030D-6E8A-4147-A177-3AD203B41FA5}">
                      <a16:colId xmlns:a16="http://schemas.microsoft.com/office/drawing/2014/main" val="2413337622"/>
                    </a:ext>
                  </a:extLst>
                </a:gridCol>
                <a:gridCol w="2707735">
                  <a:extLst>
                    <a:ext uri="{9D8B030D-6E8A-4147-A177-3AD203B41FA5}">
                      <a16:colId xmlns:a16="http://schemas.microsoft.com/office/drawing/2014/main" val="2591879251"/>
                    </a:ext>
                  </a:extLst>
                </a:gridCol>
              </a:tblGrid>
              <a:tr h="303901">
                <a:tc>
                  <a:txBody>
                    <a:bodyPr/>
                    <a:lstStyle/>
                    <a:p>
                      <a:r>
                        <a:rPr lang="da-DK" sz="1300" b="1" dirty="0">
                          <a:solidFill>
                            <a:schemeClr val="tx2"/>
                          </a:solidFill>
                        </a:rPr>
                        <a:t>SOLO-niveau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 dirty="0">
                          <a:solidFill>
                            <a:schemeClr val="tx2"/>
                          </a:solidFill>
                        </a:rPr>
                        <a:t>Eksempel på elevens prompt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Typisk elevrefleksion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1" dirty="0">
                          <a:solidFill>
                            <a:schemeClr val="tx2"/>
                          </a:solidFill>
                        </a:rPr>
                        <a:t>Hvad afslører det om forståelsen?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352125"/>
                  </a:ext>
                </a:extLst>
              </a:tr>
              <a:tr h="504982"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🔴 </a:t>
                      </a:r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Præstrukturel</a:t>
                      </a:r>
                      <a:endParaRPr lang="da-DK" sz="1300">
                        <a:solidFill>
                          <a:schemeClr val="tx2"/>
                        </a:solidFill>
                      </a:endParaRP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“Lav en Python-klasse til en elev med navn og karakter.”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“Jeg brugte bare det, den gav mig.”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AI tænker for eleven. Ingen designforståelse.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541855"/>
                  </a:ext>
                </a:extLst>
              </a:tr>
              <a:tr h="504982"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🟡 </a:t>
                      </a:r>
                      <a:r>
                        <a:rPr lang="da-DK" sz="1300" b="1" dirty="0">
                          <a:solidFill>
                            <a:schemeClr val="tx2"/>
                          </a:solidFill>
                        </a:rPr>
                        <a:t>Unistrukturel</a:t>
                      </a:r>
                      <a:endParaRPr lang="da-DK" sz="1300" dirty="0">
                        <a:solidFill>
                          <a:schemeClr val="tx2"/>
                        </a:solidFill>
                      </a:endParaRP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“Forklar hvad self betyder i en klasse.”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“self refererer til objektet.”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Forstår ét begreb, men ikke helheden.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78511"/>
                  </a:ext>
                </a:extLst>
              </a:tr>
              <a:tr h="504982"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🟠 </a:t>
                      </a:r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Multistrukturel</a:t>
                      </a:r>
                      <a:endParaRPr lang="da-DK" sz="1300">
                        <a:solidFill>
                          <a:schemeClr val="tx2"/>
                        </a:solidFill>
                      </a:endParaRP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“Find fejlen i min metode set_grade.”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“Den sagde, jeg manglede en betingelse.”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Ser flere elementer, men begrunder ikke designvalg.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732318"/>
                  </a:ext>
                </a:extLst>
              </a:tr>
              <a:tr h="706063"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🔵 </a:t>
                      </a:r>
                      <a:r>
                        <a:rPr lang="da-DK" sz="1300" b="1">
                          <a:solidFill>
                            <a:schemeClr val="tx2"/>
                          </a:solidFill>
                        </a:rPr>
                        <a:t>Relationel</a:t>
                      </a:r>
                      <a:endParaRPr lang="da-DK" sz="1300">
                        <a:solidFill>
                          <a:schemeClr val="tx2"/>
                        </a:solidFill>
                      </a:endParaRP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“Hvad er fordele og ulemper ved at validere input i konstruktøren vs. i en setter-metode?”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“Jeg valgte setter, fordi det giver fleksibilitet senere.”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Kan sammenligne alternativer og begrunde valg.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786288"/>
                  </a:ext>
                </a:extLst>
              </a:tr>
              <a:tr h="706063"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🟢 </a:t>
                      </a:r>
                      <a:r>
                        <a:rPr lang="da-DK" sz="1300" b="1" dirty="0">
                          <a:solidFill>
                            <a:schemeClr val="tx2"/>
                          </a:solidFill>
                        </a:rPr>
                        <a:t>Udvidet abstrakt</a:t>
                      </a:r>
                      <a:endParaRPr lang="da-DK" sz="1300" dirty="0">
                        <a:solidFill>
                          <a:schemeClr val="tx2"/>
                        </a:solidFill>
                      </a:endParaRP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“Hvordan kan denne elevklasse generaliseres til en person-klasse med arv?”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solidFill>
                            <a:schemeClr val="tx2"/>
                          </a:solidFill>
                        </a:rPr>
                        <a:t>“Jeg abstraherede fælles egenskaber og brugte arv.”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solidFill>
                            <a:schemeClr val="tx2"/>
                          </a:solidFill>
                        </a:rPr>
                        <a:t>Generaliserer, perspektiverer og taler i principper.</a:t>
                      </a:r>
                    </a:p>
                  </a:txBody>
                  <a:tcPr marL="68348" marR="68348" marT="34174" marB="34174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48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960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7B44D-75EA-92F6-B5DD-29FCA676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5 – Prompt først – præcision bagefter</a:t>
            </a:r>
          </a:p>
        </p:txBody>
      </p:sp>
      <p:graphicFrame>
        <p:nvGraphicFramePr>
          <p:cNvPr id="8" name="Pladsholder til indhold 7">
            <a:extLst>
              <a:ext uri="{FF2B5EF4-FFF2-40B4-BE49-F238E27FC236}">
                <a16:creationId xmlns:a16="http://schemas.microsoft.com/office/drawing/2014/main" id="{24BAAAD2-21C1-3435-F861-FE5D9530F9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2556797"/>
              </p:ext>
            </p:extLst>
          </p:nvPr>
        </p:nvGraphicFramePr>
        <p:xfrm>
          <a:off x="998693" y="1873617"/>
          <a:ext cx="10186758" cy="4032770"/>
        </p:xfrm>
        <a:graphic>
          <a:graphicData uri="http://schemas.openxmlformats.org/drawingml/2006/table">
            <a:tbl>
              <a:tblPr/>
              <a:tblGrid>
                <a:gridCol w="3395586">
                  <a:extLst>
                    <a:ext uri="{9D8B030D-6E8A-4147-A177-3AD203B41FA5}">
                      <a16:colId xmlns:a16="http://schemas.microsoft.com/office/drawing/2014/main" val="1789699208"/>
                    </a:ext>
                  </a:extLst>
                </a:gridCol>
                <a:gridCol w="3395586">
                  <a:extLst>
                    <a:ext uri="{9D8B030D-6E8A-4147-A177-3AD203B41FA5}">
                      <a16:colId xmlns:a16="http://schemas.microsoft.com/office/drawing/2014/main" val="2039892292"/>
                    </a:ext>
                  </a:extLst>
                </a:gridCol>
                <a:gridCol w="3395586">
                  <a:extLst>
                    <a:ext uri="{9D8B030D-6E8A-4147-A177-3AD203B41FA5}">
                      <a16:colId xmlns:a16="http://schemas.microsoft.com/office/drawing/2014/main" val="3584210147"/>
                    </a:ext>
                  </a:extLst>
                </a:gridCol>
              </a:tblGrid>
              <a:tr h="493399">
                <a:tc>
                  <a:txBody>
                    <a:bodyPr/>
                    <a:lstStyle/>
                    <a:p>
                      <a:r>
                        <a:rPr lang="da-DK" sz="1500" b="1" dirty="0">
                          <a:solidFill>
                            <a:schemeClr val="tx2"/>
                          </a:solidFill>
                        </a:rPr>
                        <a:t>Opgave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b="1" dirty="0">
                          <a:solidFill>
                            <a:schemeClr val="tx2"/>
                          </a:solidFill>
                        </a:rPr>
                        <a:t>Typisk SOLO-niveau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b="1" dirty="0">
                          <a:solidFill>
                            <a:schemeClr val="tx2"/>
                          </a:solidFill>
                        </a:rPr>
                        <a:t>Hvad kan læreren diagnosticere?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498118"/>
                  </a:ext>
                </a:extLst>
              </a:tr>
              <a:tr h="1130192">
                <a:tc>
                  <a:txBody>
                    <a:bodyPr/>
                    <a:lstStyle/>
                    <a:p>
                      <a:r>
                        <a:rPr lang="da-DK" sz="1500" b="1" dirty="0">
                          <a:solidFill>
                            <a:schemeClr val="tx2"/>
                          </a:solidFill>
                        </a:rPr>
                        <a:t>Opgave 1: Brugerhilsen</a:t>
                      </a:r>
                    </a:p>
                    <a:p>
                      <a:r>
                        <a:rPr lang="da-DK" sz="1500" b="0" u="sng" dirty="0">
                          <a:solidFill>
                            <a:schemeClr val="tx2"/>
                          </a:solidFill>
                        </a:rPr>
                        <a:t>Vis en hilsen og brugerens navn</a:t>
                      </a:r>
                    </a:p>
                    <a:p>
                      <a:r>
                        <a:rPr lang="da-DK" sz="1500" b="0" u="sng" dirty="0">
                          <a:solidFill>
                            <a:schemeClr val="tx2"/>
                          </a:solidFill>
                        </a:rPr>
                        <a:t>Input: Kaj. Output ”Hej Kaj”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>
                          <a:solidFill>
                            <a:schemeClr val="tx2"/>
                          </a:solidFill>
                        </a:rPr>
                        <a:t>🔴 Præ → 🟡 Uni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Forstår eleven input/output og variabler – eller kopieres løsningen blot? Kan eleven forklare, hvad der sker linje for linje?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432530"/>
                  </a:ext>
                </a:extLst>
              </a:tr>
              <a:tr h="1362713">
                <a:tc>
                  <a:txBody>
                    <a:bodyPr/>
                    <a:lstStyle/>
                    <a:p>
                      <a:r>
                        <a:rPr lang="da-DK" sz="1500" b="1" dirty="0">
                          <a:solidFill>
                            <a:schemeClr val="tx2"/>
                          </a:solidFill>
                        </a:rPr>
                        <a:t>Opgave 2: Aldersklassificering</a:t>
                      </a:r>
                    </a:p>
                    <a:p>
                      <a:r>
                        <a:rPr lang="da-DK" sz="1500" b="0" dirty="0">
                          <a:solidFill>
                            <a:schemeClr val="tx2"/>
                          </a:solidFill>
                        </a:rPr>
                        <a:t>Klassificer alder ud fra 4 kategorier</a:t>
                      </a:r>
                    </a:p>
                    <a:p>
                      <a:r>
                        <a:rPr lang="da-DK" sz="1500" b="0" dirty="0">
                          <a:solidFill>
                            <a:schemeClr val="tx2"/>
                          </a:solidFill>
                        </a:rPr>
                        <a:t>Input: 14. Output: Teenager.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🟡 Uni → 🟠 </a:t>
                      </a:r>
                      <a:r>
                        <a:rPr lang="da-DK" sz="1500" dirty="0" err="1">
                          <a:solidFill>
                            <a:schemeClr val="tx2"/>
                          </a:solidFill>
                        </a:rPr>
                        <a:t>Multi</a:t>
                      </a:r>
                      <a:endParaRPr lang="da-DK" sz="15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Forstår eleven betingelser og intervaller? Kan de forklare rækkefølge og dække alle cases? Ser de sammenhængen i strukturen?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15381"/>
                  </a:ext>
                </a:extLst>
              </a:tr>
              <a:tr h="1046466">
                <a:tc>
                  <a:txBody>
                    <a:bodyPr/>
                    <a:lstStyle/>
                    <a:p>
                      <a:r>
                        <a:rPr lang="da-DK" sz="1500" b="1" dirty="0">
                          <a:solidFill>
                            <a:schemeClr val="tx2"/>
                          </a:solidFill>
                        </a:rPr>
                        <a:t>Opgave 3: Trimmet gennemsnit</a:t>
                      </a:r>
                    </a:p>
                    <a:p>
                      <a:r>
                        <a:rPr lang="da-DK" sz="1500" b="0" dirty="0">
                          <a:solidFill>
                            <a:schemeClr val="tx2"/>
                          </a:solidFill>
                        </a:rPr>
                        <a:t>Beregn gennemsnit af de 3 </a:t>
                      </a:r>
                      <a:r>
                        <a:rPr lang="da-DK" sz="1500" b="0" dirty="0" err="1">
                          <a:solidFill>
                            <a:schemeClr val="tx2"/>
                          </a:solidFill>
                        </a:rPr>
                        <a:t>miderste</a:t>
                      </a:r>
                      <a:r>
                        <a:rPr lang="da-DK" sz="1500" b="0" dirty="0">
                          <a:solidFill>
                            <a:schemeClr val="tx2"/>
                          </a:solidFill>
                        </a:rPr>
                        <a:t> tal</a:t>
                      </a:r>
                    </a:p>
                    <a:p>
                      <a:r>
                        <a:rPr lang="da-DK" sz="1500" b="0" dirty="0">
                          <a:solidFill>
                            <a:schemeClr val="tx2"/>
                          </a:solidFill>
                        </a:rPr>
                        <a:t>Input: 8.0 9.5 7.5 6.0 9.0. Output: 8.17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🟠 </a:t>
                      </a:r>
                      <a:r>
                        <a:rPr lang="da-DK" sz="1500" dirty="0" err="1">
                          <a:solidFill>
                            <a:schemeClr val="tx2"/>
                          </a:solidFill>
                        </a:rPr>
                        <a:t>Multi</a:t>
                      </a:r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 → 🔵 Relationel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Kan eleven forklare algoritmens logik? Forstår de hvorfor min/max fjernes? Kan de håndtere </a:t>
                      </a:r>
                      <a:r>
                        <a:rPr lang="da-DK" sz="1500" dirty="0" err="1">
                          <a:solidFill>
                            <a:schemeClr val="tx2"/>
                          </a:solidFill>
                        </a:rPr>
                        <a:t>edge</a:t>
                      </a:r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 cases?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62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4882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9684-56AD-0228-9F9D-B359B867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CB316-DBF1-DD2D-5283-90AD25C0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5 – Prompt først – præcision bagefter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93862B7C-F9FF-117B-D849-5B623E8BF774}"/>
              </a:ext>
            </a:extLst>
          </p:cNvPr>
          <p:cNvSpPr/>
          <p:nvPr/>
        </p:nvSpPr>
        <p:spPr>
          <a:xfrm>
            <a:off x="838199" y="1828800"/>
            <a:ext cx="5421087" cy="4194543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67113F4-EFDA-6986-9EF5-D85DE3E7F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073" y="2163082"/>
            <a:ext cx="5009727" cy="3595462"/>
          </a:xfrm>
        </p:spPr>
        <p:txBody>
          <a:bodyPr>
            <a:normAutofit/>
          </a:bodyPr>
          <a:lstStyle/>
          <a:p>
            <a:r>
              <a:rPr lang="da-DK" sz="2000" dirty="0">
                <a:solidFill>
                  <a:schemeClr val="tx2"/>
                </a:solidFill>
              </a:rPr>
              <a:t>"Målet med denne opgave er, at du læser og forstår formålet med koden vist nedenfor. </a:t>
            </a:r>
          </a:p>
          <a:p>
            <a:r>
              <a:rPr lang="da-DK" sz="2000" dirty="0">
                <a:solidFill>
                  <a:schemeClr val="tx2"/>
                </a:solidFill>
              </a:rPr>
              <a:t>Beskriv kodens formål i et almindeligt sprog (</a:t>
            </a:r>
            <a:r>
              <a:rPr lang="da-DK" sz="2000" u="sng" dirty="0">
                <a:solidFill>
                  <a:schemeClr val="tx2"/>
                </a:solidFill>
              </a:rPr>
              <a:t>ikke</a:t>
            </a:r>
            <a:r>
              <a:rPr lang="da-DK" sz="2000" dirty="0">
                <a:solidFill>
                  <a:schemeClr val="tx2"/>
                </a:solidFill>
              </a:rPr>
              <a:t> linje for linje); din beskrivelse vil blive givet til en AI-sprogmodel, og modellen vil derefter generere kode, der matcher din beskrivelse. </a:t>
            </a:r>
          </a:p>
          <a:p>
            <a:r>
              <a:rPr lang="da-DK" sz="2000" dirty="0">
                <a:solidFill>
                  <a:schemeClr val="tx2"/>
                </a:solidFill>
              </a:rPr>
              <a:t>Du har løst opgaven, når den kode, som AI-modellen genererer, er funktionelt identisk med den kode, du har beskrevet. 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BAA72644-7EE9-5C93-AA93-4C35DF3CF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531" y="1828800"/>
            <a:ext cx="4510269" cy="198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68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31EE-3DFD-B39D-F898-A2FEDFB8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CBCC9-0EF9-A9CF-6ABD-A972C7A8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5 – Prompt først – præcision bagefter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2616BDEE-B633-4810-2201-E428BD2CB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108656"/>
              </p:ext>
            </p:extLst>
          </p:nvPr>
        </p:nvGraphicFramePr>
        <p:xfrm>
          <a:off x="762000" y="1592314"/>
          <a:ext cx="10668000" cy="4900561"/>
        </p:xfrm>
        <a:graphic>
          <a:graphicData uri="http://schemas.openxmlformats.org/drawingml/2006/table">
            <a:tbl>
              <a:tblPr/>
              <a:tblGrid>
                <a:gridCol w="2035629">
                  <a:extLst>
                    <a:ext uri="{9D8B030D-6E8A-4147-A177-3AD203B41FA5}">
                      <a16:colId xmlns:a16="http://schemas.microsoft.com/office/drawing/2014/main" val="3970135249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754089776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908991965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2217350885"/>
                    </a:ext>
                  </a:extLst>
                </a:gridCol>
              </a:tblGrid>
              <a:tr h="496112"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SOLO-niveau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Hvordan ser elevens beskrivelse ud?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Hvad viser det om </a:t>
                      </a:r>
                      <a:r>
                        <a:rPr lang="da-DK" sz="1400" b="1" dirty="0" err="1">
                          <a:solidFill>
                            <a:schemeClr val="tx2"/>
                          </a:solidFill>
                        </a:rPr>
                        <a:t>input→output-forståelse</a:t>
                      </a:r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Typisk AI-resultat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270710"/>
                  </a:ext>
                </a:extLst>
              </a:tr>
              <a:tr h="838607"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🔴 Præstrukturel</a:t>
                      </a:r>
                      <a:endParaRPr lang="da-DK" sz="14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>
                          <a:solidFill>
                            <a:schemeClr val="tx2"/>
                          </a:solidFill>
                        </a:rPr>
                        <a:t>Vag/uklar beskrivelse (“den gør noget med input og printer noget”) eller ren omskrivning af opgavetekst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>
                          <a:solidFill>
                            <a:schemeClr val="tx2"/>
                          </a:solidFill>
                        </a:rPr>
                        <a:t>Ingen stabil mental model; kan ikke forklare formål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AI laver noget andet / fejler ofte ækvivalens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406176"/>
                  </a:ext>
                </a:extLst>
              </a:tr>
              <a:tr h="649245"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🟡 Unistrukturel</a:t>
                      </a:r>
                      <a:endParaRPr lang="da-DK" sz="14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>
                          <a:solidFill>
                            <a:schemeClr val="tx2"/>
                          </a:solidFill>
                        </a:rPr>
                        <a:t>Nævner én central detalje (“den læser et navn og skriver ‘Hello’”)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>
                          <a:solidFill>
                            <a:schemeClr val="tx2"/>
                          </a:solidFill>
                        </a:rPr>
                        <a:t>Ser én relation, men mangler cases/betingelser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Delvist korrekt kode, mangler detaljer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764368"/>
                  </a:ext>
                </a:extLst>
              </a:tr>
              <a:tr h="838607"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🟠 Multistrukturel</a:t>
                      </a:r>
                      <a:endParaRPr lang="da-DK" sz="14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Oplister flere dele (inputtype, outputformat, trin) men uden at samle det til en regel (“først … så …”)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>
                          <a:solidFill>
                            <a:schemeClr val="tx2"/>
                          </a:solidFill>
                        </a:rPr>
                        <a:t>Kender komponenter, men ikke den samlede 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Ofte tæt på, men fejl i hjørnetilfælde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975978"/>
                  </a:ext>
                </a:extLst>
              </a:tr>
              <a:tr h="1027971"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🔵 Relationel</a:t>
                      </a:r>
                      <a:endParaRPr lang="da-DK" sz="14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Beskriver </a:t>
                      </a:r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transformationen</a:t>
                      </a:r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 som en sammenhængende regel + nødvendige betingelser (“output er … som funktion af input …; håndterer …”)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>
                          <a:solidFill>
                            <a:schemeClr val="tx2"/>
                          </a:solidFill>
                        </a:rPr>
                        <a:t>Forstår helhed: hvad der bevares/ændres fra input til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AI kan typisk genskabe funktionelt ækvivalent kode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88370"/>
                  </a:ext>
                </a:extLst>
              </a:tr>
              <a:tr h="1027971"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tx2"/>
                          </a:solidFill>
                        </a:rPr>
                        <a:t>🟢 Udvidet abstrakt</a:t>
                      </a:r>
                      <a:endParaRPr lang="da-DK" sz="14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Generaliserer (“det er en </a:t>
                      </a:r>
                      <a:r>
                        <a:rPr lang="da-DK" sz="1400" dirty="0" err="1">
                          <a:solidFill>
                            <a:schemeClr val="tx2"/>
                          </a:solidFill>
                        </a:rPr>
                        <a:t>input→output-transformation</a:t>
                      </a:r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 af typen …; kan udvides til …”) og nævner alternative implementeringer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Kan overføre reglen til nye situationer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AI genererer robust/</a:t>
                      </a:r>
                      <a:r>
                        <a:rPr lang="da-DK" sz="1400" dirty="0" err="1">
                          <a:solidFill>
                            <a:schemeClr val="tx2"/>
                          </a:solidFill>
                        </a:rPr>
                        <a:t>udvidbar</a:t>
                      </a:r>
                      <a:r>
                        <a:rPr lang="da-DK" sz="1400" dirty="0">
                          <a:solidFill>
                            <a:schemeClr val="tx2"/>
                          </a:solidFill>
                        </a:rPr>
                        <a:t> løsning + variationer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776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555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5E42B-961D-2729-6742-2C9BD7D1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6: Kontrastopgaver</a:t>
            </a: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11CF0A5D-20A8-5320-6A56-D1CDCEB71B02}"/>
              </a:ext>
            </a:extLst>
          </p:cNvPr>
          <p:cNvSpPr/>
          <p:nvPr/>
        </p:nvSpPr>
        <p:spPr>
          <a:xfrm>
            <a:off x="838199" y="1690688"/>
            <a:ext cx="10515599" cy="4490655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C47535C-D9FD-EB4F-E8D6-0EF049AF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192150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da-DK" sz="2000" b="1" dirty="0">
                <a:solidFill>
                  <a:schemeClr val="tx2"/>
                </a:solidFill>
              </a:rPr>
              <a:t>Giv to løsninger på en opgave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En AI-genereret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En elevgenereret</a:t>
            </a:r>
          </a:p>
          <a:p>
            <a:pPr>
              <a:buNone/>
            </a:pPr>
            <a:endParaRPr lang="da-DK" sz="20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da-DK" sz="2000" b="1" dirty="0">
                <a:solidFill>
                  <a:schemeClr val="tx2"/>
                </a:solidFill>
              </a:rPr>
              <a:t>Bed eleverne: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Sammenligne struktur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Identificere styrker og svagheder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Begrund valg</a:t>
            </a: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a-DK" sz="2000" b="1" dirty="0">
                <a:solidFill>
                  <a:schemeClr val="tx2"/>
                </a:solidFill>
              </a:rPr>
              <a:t>Det træner relationel og abstrakt forståelse.</a:t>
            </a:r>
          </a:p>
          <a:p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88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AFC5E-DF17-569D-A461-9F1D322C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7: Tænke højt og par programmering</a:t>
            </a: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61EE0FF9-6BE3-A536-3787-86768028E8E6}"/>
              </a:ext>
            </a:extLst>
          </p:cNvPr>
          <p:cNvSpPr/>
          <p:nvPr/>
        </p:nvSpPr>
        <p:spPr>
          <a:xfrm>
            <a:off x="838199" y="1690688"/>
            <a:ext cx="10515599" cy="4490655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DB827E3-707D-F09C-F1A1-2CE0113B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929383"/>
            <a:ext cx="10515600" cy="4251960"/>
          </a:xfrm>
        </p:spPr>
        <p:txBody>
          <a:bodyPr>
            <a:normAutofit/>
          </a:bodyPr>
          <a:lstStyle/>
          <a:p>
            <a:r>
              <a:rPr lang="da-DK" sz="2000" dirty="0">
                <a:solidFill>
                  <a:schemeClr val="tx2"/>
                </a:solidFill>
              </a:rPr>
              <a:t>En er Koder og en er Navigator som stiller spørgsmål</a:t>
            </a: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a-DK" sz="2000" b="1" dirty="0">
                <a:solidFill>
                  <a:schemeClr val="tx2"/>
                </a:solidFill>
              </a:rPr>
              <a:t>Centrale spørgsmål: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Hvorfor vælger vi denne løsning?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Hvad sker der, hvis vi ændrer her?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Findes der et alternativ?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000" dirty="0">
                <a:solidFill>
                  <a:schemeClr val="tx2"/>
                </a:solidFill>
              </a:rPr>
              <a:t>Hvad er ansvaret for denne del?</a:t>
            </a:r>
          </a:p>
          <a:p>
            <a:pPr>
              <a:buFont typeface="Arial" panose="020B0604020202020204" pitchFamily="34" charset="0"/>
              <a:buChar char="•"/>
            </a:pPr>
            <a:endParaRPr lang="da-DK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a-DK" sz="2000" b="1" dirty="0">
                <a:solidFill>
                  <a:schemeClr val="tx2"/>
                </a:solidFill>
              </a:rPr>
              <a:t>Viser </a:t>
            </a:r>
            <a:r>
              <a:rPr lang="da-DK" sz="2000" b="1" dirty="0" err="1">
                <a:solidFill>
                  <a:schemeClr val="tx2"/>
                </a:solidFill>
              </a:rPr>
              <a:t>forståelsedybde</a:t>
            </a:r>
            <a:endParaRPr lang="da-DK" sz="2000" b="1" dirty="0">
              <a:solidFill>
                <a:schemeClr val="tx2"/>
              </a:solidFill>
            </a:endParaRPr>
          </a:p>
          <a:p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54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10CB6-B932-F630-0D90-B6516E4F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8: AI Kamp</a:t>
            </a: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83C5BC1E-931E-91F5-0125-97F2FB98B379}"/>
              </a:ext>
            </a:extLst>
          </p:cNvPr>
          <p:cNvSpPr/>
          <p:nvPr/>
        </p:nvSpPr>
        <p:spPr>
          <a:xfrm>
            <a:off x="838199" y="1690688"/>
            <a:ext cx="10515599" cy="4490655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2BA6CC6-9FB0-5E4A-B626-7619D06D6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371" y="1929383"/>
            <a:ext cx="10515600" cy="4251960"/>
          </a:xfrm>
        </p:spPr>
        <p:txBody>
          <a:bodyPr>
            <a:normAutofit/>
          </a:bodyPr>
          <a:lstStyle/>
          <a:p>
            <a:r>
              <a:rPr lang="da-DK" sz="2000" dirty="0">
                <a:solidFill>
                  <a:schemeClr val="tx2"/>
                </a:solidFill>
              </a:rPr>
              <a:t>To hold løser samme programmeringsopgave:</a:t>
            </a:r>
          </a:p>
          <a:p>
            <a:pPr lvl="1"/>
            <a:r>
              <a:rPr lang="da-DK" sz="2000" b="1" dirty="0">
                <a:solidFill>
                  <a:schemeClr val="tx2"/>
                </a:solidFill>
              </a:rPr>
              <a:t>Team A bruger AI maksimalt</a:t>
            </a:r>
          </a:p>
          <a:p>
            <a:pPr lvl="1"/>
            <a:r>
              <a:rPr lang="da-DK" sz="2000" b="1" dirty="0">
                <a:solidFill>
                  <a:schemeClr val="tx2"/>
                </a:solidFill>
              </a:rPr>
              <a:t>Team B bruger AI minimalt</a:t>
            </a:r>
          </a:p>
          <a:p>
            <a:pPr marL="457200" lvl="1" indent="0"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r>
              <a:rPr lang="da-DK" sz="2000" dirty="0">
                <a:solidFill>
                  <a:schemeClr val="tx2"/>
                </a:solidFill>
              </a:rPr>
              <a:t>Sammenlign tid, kodekvalitet, begrebsforståelse og evne til at forklare, ændre løsning etc.</a:t>
            </a:r>
          </a:p>
          <a:p>
            <a:endParaRPr lang="da-DK" sz="2000" dirty="0">
              <a:solidFill>
                <a:schemeClr val="tx2"/>
              </a:solidFill>
            </a:endParaRPr>
          </a:p>
          <a:p>
            <a:r>
              <a:rPr lang="da-DK" sz="2000" b="1" dirty="0">
                <a:solidFill>
                  <a:schemeClr val="tx2"/>
                </a:solidFill>
              </a:rPr>
              <a:t>Diskussion: </a:t>
            </a:r>
          </a:p>
          <a:p>
            <a:pPr lvl="1"/>
            <a:r>
              <a:rPr lang="da-DK" sz="2000" dirty="0">
                <a:solidFill>
                  <a:schemeClr val="tx2"/>
                </a:solidFill>
              </a:rPr>
              <a:t>Hvem var hurtigst?</a:t>
            </a:r>
          </a:p>
          <a:p>
            <a:pPr lvl="1"/>
            <a:r>
              <a:rPr lang="da-DK" sz="2000" dirty="0">
                <a:solidFill>
                  <a:schemeClr val="tx2"/>
                </a:solidFill>
              </a:rPr>
              <a:t>Hvem kunne bedst forklare arkitekturen?</a:t>
            </a:r>
          </a:p>
          <a:p>
            <a:pPr lvl="1"/>
            <a:r>
              <a:rPr lang="da-DK" sz="2000" dirty="0">
                <a:solidFill>
                  <a:schemeClr val="tx2"/>
                </a:solidFill>
              </a:rPr>
              <a:t>Hvem kunne ændre løsningen mest fleksibelt?</a:t>
            </a:r>
          </a:p>
          <a:p>
            <a:pPr lvl="1"/>
            <a:r>
              <a:rPr lang="da-DK" sz="2000" dirty="0">
                <a:solidFill>
                  <a:schemeClr val="tx2"/>
                </a:solidFill>
              </a:rPr>
              <a:t>Hvem kunne generalisere princippet?</a:t>
            </a:r>
          </a:p>
        </p:txBody>
      </p:sp>
    </p:spTree>
    <p:extLst>
      <p:ext uri="{BB962C8B-B14F-4D97-AF65-F5344CB8AC3E}">
        <p14:creationId xmlns:p14="http://schemas.microsoft.com/office/powerpoint/2010/main" val="252008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35D086-6C71-8578-4F4D-A0342443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200" dirty="0">
                <a:solidFill>
                  <a:schemeClr val="tx2"/>
                </a:solidFill>
                <a:latin typeface="Aptos SemiBold" panose="020B0004020202020204" pitchFamily="34" charset="0"/>
              </a:rPr>
              <a:t>Greb 9: Prædefinerede AI-agenter som didaktisk stillads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FB26DBC9-5F1D-739A-3A8D-0CA49CE67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6672761"/>
              </p:ext>
            </p:extLst>
          </p:nvPr>
        </p:nvGraphicFramePr>
        <p:xfrm>
          <a:off x="838200" y="1792968"/>
          <a:ext cx="10212324" cy="4351338"/>
        </p:xfrm>
        <a:graphic>
          <a:graphicData uri="http://schemas.openxmlformats.org/drawingml/2006/table">
            <a:tbl>
              <a:tblPr/>
              <a:tblGrid>
                <a:gridCol w="3404108">
                  <a:extLst>
                    <a:ext uri="{9D8B030D-6E8A-4147-A177-3AD203B41FA5}">
                      <a16:colId xmlns:a16="http://schemas.microsoft.com/office/drawing/2014/main" val="3060577431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897573386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1256021879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r>
                        <a:rPr lang="da-DK" sz="1500" b="1">
                          <a:solidFill>
                            <a:schemeClr val="tx2"/>
                          </a:solidFill>
                        </a:rPr>
                        <a:t>AI-agentens rolle</a:t>
                      </a:r>
                      <a:endParaRPr lang="da-DK" sz="15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b="1">
                          <a:solidFill>
                            <a:schemeClr val="tx2"/>
                          </a:solidFill>
                        </a:rPr>
                        <a:t>Indhold</a:t>
                      </a:r>
                      <a:endParaRPr lang="da-DK" sz="15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b="1">
                          <a:solidFill>
                            <a:schemeClr val="tx2"/>
                          </a:solidFill>
                        </a:rPr>
                        <a:t>Didaktisk betydning</a:t>
                      </a:r>
                      <a:endParaRPr lang="da-DK" sz="15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531388"/>
                  </a:ext>
                </a:extLst>
              </a:tr>
              <a:tr h="1420845">
                <a:tc>
                  <a:txBody>
                    <a:bodyPr/>
                    <a:lstStyle/>
                    <a:p>
                      <a:r>
                        <a:rPr lang="da-DK" sz="1500" b="1" dirty="0">
                          <a:solidFill>
                            <a:schemeClr val="tx2"/>
                          </a:solidFill>
                        </a:rPr>
                        <a:t>Hvad AI må gøre</a:t>
                      </a:r>
                      <a:endParaRPr lang="da-DK" sz="15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Give hints og ledetråde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Identificere fejl i kode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Forklare enkeltbegreber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Foreslå alternative tilgange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>
                          <a:solidFill>
                            <a:schemeClr val="tx2"/>
                          </a:solidFill>
                        </a:rPr>
                        <a:t>Understøtter elevens egen problemløsning uden at overtage den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535569"/>
                  </a:ext>
                </a:extLst>
              </a:tr>
              <a:tr h="1154437">
                <a:tc>
                  <a:txBody>
                    <a:bodyPr/>
                    <a:lstStyle/>
                    <a:p>
                      <a:r>
                        <a:rPr lang="da-DK" sz="1500" b="1">
                          <a:solidFill>
                            <a:schemeClr val="tx2"/>
                          </a:solidFill>
                        </a:rPr>
                        <a:t>Hvad AI ikke må gøre</a:t>
                      </a:r>
                      <a:endParaRPr lang="da-DK" sz="15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Levere fulde løsninger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Træffe designbeslutninger for eleven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Fjerne den produktive kognitive kamp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>
                          <a:solidFill>
                            <a:schemeClr val="tx2"/>
                          </a:solidFill>
                        </a:rPr>
                        <a:t>Beskytter elevens aktive tænkning og begrebsdannelse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039358"/>
                  </a:ext>
                </a:extLst>
              </a:tr>
              <a:tr h="1420845">
                <a:tc>
                  <a:txBody>
                    <a:bodyPr/>
                    <a:lstStyle/>
                    <a:p>
                      <a:r>
                        <a:rPr lang="da-DK" sz="1500" b="1">
                          <a:solidFill>
                            <a:schemeClr val="tx2"/>
                          </a:solidFill>
                        </a:rPr>
                        <a:t>Didaktisk formål</a:t>
                      </a:r>
                      <a:endParaRPr lang="da-DK" sz="150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Opretholde kognitivt engagement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Understøtte metakognition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Styrke relationel forståelse</a:t>
                      </a:r>
                    </a:p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Forebygge kompetenceillusion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chemeClr val="tx2"/>
                          </a:solidFill>
                        </a:rPr>
                        <a:t>Flytter fokus fra produktion til forståelse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492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026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81B40-974A-448E-C3E7-7B75C296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10: Modeller først =&gt; Kode bagefter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B0A18F5F-4B24-5D6B-E37C-4EA18FE8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818348"/>
            <a:ext cx="8833395" cy="3823409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93C24ABE-3AC8-5863-F202-AF6E6D1FAA15}"/>
              </a:ext>
            </a:extLst>
          </p:cNvPr>
          <p:cNvSpPr txBox="1"/>
          <p:nvPr/>
        </p:nvSpPr>
        <p:spPr>
          <a:xfrm>
            <a:off x="7284743" y="4681948"/>
            <a:ext cx="3949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Uden AI : Definere problem, tegne datastruktur/klassediagram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64AAC11D-4927-1C66-DB4E-49CEBA456AC6}"/>
              </a:ext>
            </a:extLst>
          </p:cNvPr>
          <p:cNvSpPr txBox="1"/>
          <p:nvPr/>
        </p:nvSpPr>
        <p:spPr>
          <a:xfrm>
            <a:off x="7707330" y="3869304"/>
            <a:ext cx="3949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Med AI :Hvorfor denne datastruktur/klassediagram</a:t>
            </a:r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3909FBA6-052A-3422-755D-DA82A713C250}"/>
              </a:ext>
            </a:extLst>
          </p:cNvPr>
          <p:cNvSpPr txBox="1"/>
          <p:nvPr/>
        </p:nvSpPr>
        <p:spPr>
          <a:xfrm>
            <a:off x="8265898" y="3259723"/>
            <a:ext cx="3949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Med AI : Hjælp med </a:t>
            </a:r>
            <a:r>
              <a:rPr lang="da-DK" sz="1600" dirty="0" err="1"/>
              <a:t>syntax</a:t>
            </a:r>
            <a:r>
              <a:rPr lang="da-DK" sz="1600" dirty="0"/>
              <a:t>/fejl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28A9B689-3E0F-BD38-2E77-6033E44D1860}"/>
              </a:ext>
            </a:extLst>
          </p:cNvPr>
          <p:cNvSpPr txBox="1"/>
          <p:nvPr/>
        </p:nvSpPr>
        <p:spPr>
          <a:xfrm>
            <a:off x="8652165" y="2338605"/>
            <a:ext cx="3857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Med AI til at udfordre designvalg, alternative </a:t>
            </a:r>
            <a:r>
              <a:rPr lang="da-DK" sz="1600" dirty="0" err="1"/>
              <a:t>perpspektiver</a:t>
            </a:r>
            <a:r>
              <a:rPr lang="da-DK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907637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7B50-1BB6-7E7D-E5F7-0CF5FDC9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9E078-8CB3-7927-8C24-EAE50790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/>
                </a:solidFill>
                <a:latin typeface="Aptos SemiBold" panose="020B0004020202020204" pitchFamily="34" charset="0"/>
              </a:rPr>
              <a:t>Greb 10: Modeller først =&gt; Kode bagefter</a:t>
            </a: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58399A85-7430-A9E7-D914-9A5A72ACC0AC}"/>
              </a:ext>
            </a:extLst>
          </p:cNvPr>
          <p:cNvSpPr/>
          <p:nvPr/>
        </p:nvSpPr>
        <p:spPr>
          <a:xfrm>
            <a:off x="838200" y="1825625"/>
            <a:ext cx="10515599" cy="2434998"/>
          </a:xfrm>
          <a:prstGeom prst="roundRect">
            <a:avLst>
              <a:gd name="adj" fmla="val 575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7000706-47F7-2A56-866C-AF2AADE2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486" y="1825625"/>
            <a:ext cx="10145485" cy="4303032"/>
          </a:xfrm>
        </p:spPr>
        <p:txBody>
          <a:bodyPr>
            <a:normAutofit/>
          </a:bodyPr>
          <a:lstStyle/>
          <a:p>
            <a:pPr>
              <a:buNone/>
            </a:pPr>
            <a:endParaRPr lang="da-DK" sz="2000" b="1" dirty="0">
              <a:solidFill>
                <a:schemeClr val="tx2"/>
              </a:solidFill>
            </a:endParaRPr>
          </a:p>
          <a:p>
            <a:r>
              <a:rPr lang="da-DK" sz="2000" dirty="0">
                <a:solidFill>
                  <a:schemeClr val="tx2"/>
                </a:solidFill>
              </a:rPr>
              <a:t>Mental model opbygges og sikrer kognitiv friktion (forudsigelse, hypotese, afprøvning og fejl)</a:t>
            </a:r>
          </a:p>
          <a:p>
            <a:r>
              <a:rPr lang="da-DK" sz="2000" dirty="0">
                <a:solidFill>
                  <a:schemeClr val="tx2"/>
                </a:solidFill>
              </a:rPr>
              <a:t>Reducerer risikoen for </a:t>
            </a:r>
            <a:r>
              <a:rPr lang="da-DK" sz="2000" dirty="0" err="1">
                <a:solidFill>
                  <a:schemeClr val="tx2"/>
                </a:solidFill>
              </a:rPr>
              <a:t>komptenceillusion</a:t>
            </a:r>
            <a:r>
              <a:rPr lang="da-DK" sz="2000" dirty="0">
                <a:solidFill>
                  <a:schemeClr val="tx2"/>
                </a:solidFill>
              </a:rPr>
              <a:t> for AI I højere grad skal udfordre elevens begrundelser og perspektivere men ikke levere løsninger</a:t>
            </a:r>
          </a:p>
          <a:p>
            <a:r>
              <a:rPr lang="da-DK" sz="2000" dirty="0">
                <a:solidFill>
                  <a:schemeClr val="tx2"/>
                </a:solidFill>
              </a:rPr>
              <a:t>Eleven skal kunne vurdere og forklare </a:t>
            </a:r>
            <a:r>
              <a:rPr lang="da-DK" sz="2000" dirty="0" err="1">
                <a:solidFill>
                  <a:schemeClr val="tx2"/>
                </a:solidFill>
              </a:rPr>
              <a:t>Ai’s</a:t>
            </a:r>
            <a:r>
              <a:rPr lang="da-DK" sz="2000" dirty="0">
                <a:solidFill>
                  <a:schemeClr val="tx2"/>
                </a:solidFill>
              </a:rPr>
              <a:t> bidrag</a:t>
            </a:r>
          </a:p>
        </p:txBody>
      </p:sp>
      <p:pic>
        <p:nvPicPr>
          <p:cNvPr id="7" name="Billede 6" descr="Et billede, der indeholder tekst, skærmbillede, Font/skrifttype, nummer/tal&#10;&#10;Indhold genereret af kunstig intelligens kan være forkert.">
            <a:extLst>
              <a:ext uri="{FF2B5EF4-FFF2-40B4-BE49-F238E27FC236}">
                <a16:creationId xmlns:a16="http://schemas.microsoft.com/office/drawing/2014/main" id="{64E866CA-B3C6-EC22-E698-209741B0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12"/>
          <a:stretch/>
        </p:blipFill>
        <p:spPr>
          <a:xfrm>
            <a:off x="5755481" y="4260623"/>
            <a:ext cx="4475556" cy="2494022"/>
          </a:xfrm>
          <a:prstGeom prst="rect">
            <a:avLst/>
          </a:prstGeom>
        </p:spPr>
      </p:pic>
      <p:pic>
        <p:nvPicPr>
          <p:cNvPr id="9" name="Billede 8" descr="Et billede, der indeholder tekst, skærmbillede, Font/skrifttype, nummer/tal&#10;&#10;Indhold genereret af kunstig intelligens kan være forkert.">
            <a:extLst>
              <a:ext uri="{FF2B5EF4-FFF2-40B4-BE49-F238E27FC236}">
                <a16:creationId xmlns:a16="http://schemas.microsoft.com/office/drawing/2014/main" id="{5E251B69-CDD8-1654-A2E7-AFC0DEF0E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802" y="4260623"/>
            <a:ext cx="3864010" cy="257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335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14D7D9-40C1-D155-04A3-68BDF30D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Aptos SemiBold" panose="020B0004020202020204" pitchFamily="34" charset="0"/>
              </a:rPr>
              <a:t>Diskussionsspørgsmål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8D14D4-1435-03B8-4FC5-94EEC1653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da-DK" sz="20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Hvilke konkrete tegn på forståelse kan vi stadig stole på i en AI-tid – og hvilke kan vi ikke?</a:t>
            </a:r>
          </a:p>
          <a:p>
            <a:pPr marL="457200" indent="-457200">
              <a:buFont typeface="+mj-lt"/>
              <a:buAutoNum type="arabicPeriod"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Hvad kan vi ændre i vores opgaver og vurderingsformer for bedre at afdække elevernes forståelsesdybde?</a:t>
            </a:r>
          </a:p>
          <a:p>
            <a:pPr marL="457200" indent="-457200">
              <a:buFont typeface="+mj-lt"/>
              <a:buAutoNum type="arabicPeriod"/>
            </a:pPr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Hvilke konkrete greb har I indført i undervisningen for at håndtere AI og stadig kunne vurdere forståelse?</a:t>
            </a:r>
          </a:p>
          <a:p>
            <a:endParaRPr lang="da-DK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020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tekst, skærmbillede, Font/skrifttype, linje/række&#10;&#10;Indhold genereret af kunstig intelligens kan være forkert.">
            <a:extLst>
              <a:ext uri="{FF2B5EF4-FFF2-40B4-BE49-F238E27FC236}">
                <a16:creationId xmlns:a16="http://schemas.microsoft.com/office/drawing/2014/main" id="{50FB41A1-0BEA-9E13-6659-E3FE70F6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5"/>
          <a:stretch/>
        </p:blipFill>
        <p:spPr>
          <a:xfrm>
            <a:off x="6096000" y="2006600"/>
            <a:ext cx="6084521" cy="396607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E80F903-C180-8D9A-C723-64B9F2E2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941"/>
            <a:ext cx="5915140" cy="1325563"/>
          </a:xfrm>
        </p:spPr>
        <p:txBody>
          <a:bodyPr>
            <a:noAutofit/>
          </a:bodyPr>
          <a:lstStyle/>
          <a:p>
            <a:r>
              <a:rPr lang="da-DK" sz="3200" dirty="0">
                <a:solidFill>
                  <a:schemeClr val="tx2"/>
                </a:solidFill>
                <a:latin typeface="Aptos SemiBold" panose="020B0004020202020204" pitchFamily="34" charset="0"/>
              </a:rPr>
              <a:t>Workshop</a:t>
            </a:r>
            <a:br>
              <a:rPr lang="da-DK" sz="3200" dirty="0">
                <a:solidFill>
                  <a:schemeClr val="tx2"/>
                </a:solidFill>
                <a:latin typeface="Aptos SemiBold" panose="020B0004020202020204" pitchFamily="34" charset="0"/>
              </a:rPr>
            </a:br>
            <a:r>
              <a:rPr lang="da-DK" sz="3200" dirty="0" err="1">
                <a:solidFill>
                  <a:schemeClr val="tx2"/>
                </a:solidFill>
                <a:latin typeface="Aptos SemiBold" panose="020B0004020202020204" pitchFamily="34" charset="0"/>
              </a:rPr>
              <a:t>Webscraping</a:t>
            </a:r>
            <a:r>
              <a:rPr lang="da-DK" sz="3200" dirty="0">
                <a:solidFill>
                  <a:schemeClr val="tx2"/>
                </a:solidFill>
                <a:latin typeface="Aptos SemiBold" panose="020B0004020202020204" pitchFamily="34" charset="0"/>
              </a:rPr>
              <a:t>: Dataindsamling og visualisering med SOLO</a:t>
            </a:r>
            <a:endParaRPr lang="da-DK" sz="32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0F54F10-3B78-DBE9-67D2-7DD40E663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0"/>
            <a:ext cx="59151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dirty="0">
                <a:solidFill>
                  <a:schemeClr val="tx2"/>
                </a:solidFill>
              </a:rPr>
              <a:t>1. Citater (🟡 Uni → 🟠 </a:t>
            </a:r>
            <a:r>
              <a:rPr lang="da-DK" sz="2000" dirty="0" err="1">
                <a:solidFill>
                  <a:schemeClr val="tx2"/>
                </a:solidFill>
              </a:rPr>
              <a:t>Multi</a:t>
            </a:r>
            <a:r>
              <a:rPr lang="da-DK" sz="2000" dirty="0">
                <a:solidFill>
                  <a:schemeClr val="tx2"/>
                </a:solidFill>
              </a:rPr>
              <a:t>): HTML-struktur, </a:t>
            </a:r>
            <a:r>
              <a:rPr lang="da-DK" sz="2000" dirty="0" err="1">
                <a:solidFill>
                  <a:schemeClr val="tx2"/>
                </a:solidFill>
              </a:rPr>
              <a:t>selektorer</a:t>
            </a:r>
            <a:r>
              <a:rPr lang="da-DK" sz="2000" dirty="0">
                <a:solidFill>
                  <a:schemeClr val="tx2"/>
                </a:solidFill>
              </a:rPr>
              <a:t>, udtræk</a:t>
            </a:r>
          </a:p>
          <a:p>
            <a:pPr marL="0" indent="0">
              <a:buNone/>
            </a:pPr>
            <a:r>
              <a:rPr lang="da-DK" sz="2000" dirty="0">
                <a:solidFill>
                  <a:schemeClr val="tx2"/>
                </a:solidFill>
              </a:rPr>
              <a:t>2. Bogshop (🟠 </a:t>
            </a:r>
            <a:r>
              <a:rPr lang="da-DK" sz="2000" dirty="0" err="1">
                <a:solidFill>
                  <a:schemeClr val="tx2"/>
                </a:solidFill>
              </a:rPr>
              <a:t>Multi</a:t>
            </a:r>
            <a:r>
              <a:rPr lang="da-DK" sz="2000" dirty="0">
                <a:solidFill>
                  <a:schemeClr val="tx2"/>
                </a:solidFill>
              </a:rPr>
              <a:t> → 🔵 </a:t>
            </a:r>
            <a:r>
              <a:rPr lang="da-DK" sz="2000" dirty="0" err="1">
                <a:solidFill>
                  <a:schemeClr val="tx2"/>
                </a:solidFill>
              </a:rPr>
              <a:t>Rel</a:t>
            </a:r>
            <a:r>
              <a:rPr lang="da-DK" sz="2000" dirty="0">
                <a:solidFill>
                  <a:schemeClr val="tx2"/>
                </a:solidFill>
              </a:rPr>
              <a:t>): </a:t>
            </a:r>
            <a:r>
              <a:rPr lang="da-DK" sz="2000" dirty="0" err="1">
                <a:solidFill>
                  <a:schemeClr val="tx2"/>
                </a:solidFill>
              </a:rPr>
              <a:t>Pagination</a:t>
            </a:r>
            <a:r>
              <a:rPr lang="da-DK" sz="2000" dirty="0">
                <a:solidFill>
                  <a:schemeClr val="tx2"/>
                </a:solidFill>
              </a:rPr>
              <a:t>, dynamisk indhold</a:t>
            </a:r>
          </a:p>
          <a:p>
            <a:pPr marL="0" indent="0">
              <a:buNone/>
            </a:pPr>
            <a:r>
              <a:rPr lang="da-DK" sz="2000" dirty="0">
                <a:solidFill>
                  <a:schemeClr val="tx2"/>
                </a:solidFill>
              </a:rPr>
              <a:t>3. DR RSS (🔵 Relationel): Datastruktur, analyse, </a:t>
            </a:r>
            <a:r>
              <a:rPr lang="da-DK" sz="2000" dirty="0" err="1">
                <a:solidFill>
                  <a:schemeClr val="tx2"/>
                </a:solidFill>
              </a:rPr>
              <a:t>sentiment</a:t>
            </a:r>
            <a:r>
              <a:rPr lang="da-DK" sz="2000" dirty="0">
                <a:solidFill>
                  <a:schemeClr val="tx2"/>
                </a:solidFill>
              </a:rPr>
              <a:t> (Trump og Grønland)</a:t>
            </a:r>
          </a:p>
          <a:p>
            <a:pPr marL="0" indent="0">
              <a:buNone/>
            </a:pPr>
            <a:r>
              <a:rPr lang="da-DK" sz="2000" dirty="0">
                <a:solidFill>
                  <a:schemeClr val="tx2"/>
                </a:solidFill>
              </a:rPr>
              <a:t>4. DST API (🔵 Relationel): API-struktur, JSON, </a:t>
            </a:r>
            <a:r>
              <a:rPr lang="da-DK" sz="2000" dirty="0" err="1">
                <a:solidFill>
                  <a:schemeClr val="tx2"/>
                </a:solidFill>
              </a:rPr>
              <a:t>dataflow</a:t>
            </a:r>
            <a:r>
              <a:rPr lang="da-DK" sz="2000" dirty="0">
                <a:solidFill>
                  <a:schemeClr val="tx2"/>
                </a:solidFill>
              </a:rPr>
              <a:t> (unges uddannelsesvalg)</a:t>
            </a:r>
          </a:p>
          <a:p>
            <a:pPr marL="0" indent="0">
              <a:buNone/>
            </a:pPr>
            <a:r>
              <a:rPr lang="da-DK" sz="2000" dirty="0">
                <a:solidFill>
                  <a:schemeClr val="tx2"/>
                </a:solidFill>
              </a:rPr>
              <a:t>5. Aktiekurser (🔵 → 🟢 Udvidet): Datamodellering, analyse og modellering vi </a:t>
            </a:r>
            <a:r>
              <a:rPr lang="da-DK" sz="2000" dirty="0" err="1">
                <a:solidFill>
                  <a:schemeClr val="tx2"/>
                </a:solidFill>
              </a:rPr>
              <a:t>api</a:t>
            </a:r>
            <a:endParaRPr lang="da-DK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a-DK" sz="2000" dirty="0">
                <a:solidFill>
                  <a:schemeClr val="tx2"/>
                </a:solidFill>
              </a:rPr>
              <a:t>6. Tekstanalyse (🟢 Udvidet abstrakt): Generalisering, metodekritik, kvantitativ litteræranalyse af tekster fra projekt Gutenberg</a:t>
            </a:r>
          </a:p>
          <a:p>
            <a:pPr marL="0" indent="0">
              <a:buNone/>
            </a:pPr>
            <a:endParaRPr lang="da-DK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9165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A9805A-2267-84F1-0ACD-639A0869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tx2"/>
                </a:solidFill>
              </a:rPr>
              <a:t>Tak for jeres tid </a:t>
            </a:r>
            <a:r>
              <a:rPr lang="da-DK" dirty="0">
                <a:solidFill>
                  <a:schemeClr val="tx2"/>
                </a:solidFill>
                <a:sym typeface="Wingdings" panose="05000000000000000000" pitchFamily="2" charset="2"/>
              </a:rPr>
              <a:t></a:t>
            </a:r>
            <a:endParaRPr lang="da-DK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267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24143</TotalTime>
  <Words>4104</Words>
  <Application>Microsoft Office PowerPoint</Application>
  <PresentationFormat>Widescreen</PresentationFormat>
  <Paragraphs>679</Paragraphs>
  <Slides>53</Slides>
  <Notes>3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53</vt:i4>
      </vt:variant>
    </vt:vector>
  </HeadingPairs>
  <TitlesOfParts>
    <vt:vector size="60" baseType="lpstr">
      <vt:lpstr>Aptos</vt:lpstr>
      <vt:lpstr>Aptos Display</vt:lpstr>
      <vt:lpstr>Aptos SemiBold</vt:lpstr>
      <vt:lpstr>Arial</vt:lpstr>
      <vt:lpstr>rival-sans</vt:lpstr>
      <vt:lpstr>Wingdings</vt:lpstr>
      <vt:lpstr>Office-tema</vt:lpstr>
      <vt:lpstr>Fra kode til forståelse –  SOLO-taksonomien i en AI-tid</vt:lpstr>
      <vt:lpstr>PowerPoint-præsentation</vt:lpstr>
      <vt:lpstr>PowerPoint-præsentation</vt:lpstr>
      <vt:lpstr>Metastudier: Den sorte boks i elevens kode</vt:lpstr>
      <vt:lpstr>Forskningen peger på at vi skal…</vt:lpstr>
      <vt:lpstr>Dunning-Kruger effekt: Personer med lav kompetence overvurderer ofte deres evner, fordi de mangler den indsigt, der skal til for at vurdere deres egen kunnen.</vt:lpstr>
      <vt:lpstr>Målet med oplægget er at bidrage til en mere kvalificeret samtale med elever og med hinanden</vt:lpstr>
      <vt:lpstr>Læreplanen er åben for fortolkning </vt:lpstr>
      <vt:lpstr>Helhedsbedømmelse</vt:lpstr>
      <vt:lpstr>Fleksible mål bliver sværere at operationalisere</vt:lpstr>
      <vt:lpstr>Hvorfor en fleksibel læreplan både er en styrke og et problem?</vt:lpstr>
      <vt:lpstr>Hvorfor kan en fleksibel læreplan blive et problem i AI-tider?</vt:lpstr>
      <vt:lpstr>I en generativ AI-tid… </vt:lpstr>
      <vt:lpstr>Men er AI ikke bare avanceret google? </vt:lpstr>
      <vt:lpstr>Men er AI ikke bare en avanceret stackoverflow? </vt:lpstr>
      <vt:lpstr>Google var passiv – AI er dialogisk </vt:lpstr>
      <vt:lpstr>Google afslørede svagheder – AI kan skjule dem </vt:lpstr>
      <vt:lpstr>AI forstærker forskelle – fleksibilitet gør dem usynlige</vt:lpstr>
      <vt:lpstr>Vi mangler et fælles sprog for faglighed og vurdering for at reducere fortolkningsrummet</vt:lpstr>
      <vt:lpstr>Hvad vi har brug for</vt:lpstr>
      <vt:lpstr>SOLO-taksonomien – et fælles sprog for faglighed</vt:lpstr>
      <vt:lpstr>PowerPoint-præsentation</vt:lpstr>
      <vt:lpstr>På de næste slides følger gennemgang af de 5 niveauer. For hvert niveau angives:</vt:lpstr>
      <vt:lpstr>Præstrukturel – AI overtager elevens tænkning</vt:lpstr>
      <vt:lpstr>Præstrukturel – AI overtager elevens tænkning</vt:lpstr>
      <vt:lpstr>Unistrukturel – AI bruges til enkeltdele</vt:lpstr>
      <vt:lpstr>Unistrukturel – AI bruges til enkeltdele</vt:lpstr>
      <vt:lpstr>Multistrukturel - AI giver overblik – men forståelsen er fragmenteret</vt:lpstr>
      <vt:lpstr>Multistrukturel - AI giver overblik</vt:lpstr>
      <vt:lpstr>Relationel – AI som sparringspartner</vt:lpstr>
      <vt:lpstr>Relationel – AI som sparringspartner</vt:lpstr>
      <vt:lpstr>Udvidet Abstrakt – AI understøtter generalisering og refleksion</vt:lpstr>
      <vt:lpstr>Udvidet Abstrakt – AI understøtter generalisering og refleksion</vt:lpstr>
      <vt:lpstr>Opsummering</vt:lpstr>
      <vt:lpstr>Forslag til didaktiske greb baseret på SOLO</vt:lpstr>
      <vt:lpstr>Greb 0 : Italesæt løbende hvornår/hvordan AI bruges</vt:lpstr>
      <vt:lpstr>Greb 1: Skift fokus fra produkt til forklaring/process </vt:lpstr>
      <vt:lpstr>Greb 2: Håndkør kode (=&gt; prøver på papir)</vt:lpstr>
      <vt:lpstr>Greb 3: Giv fungerende kode og bed eleverne:</vt:lpstr>
      <vt:lpstr>Greb 4: Brug debuggeren til afklaring af forståelse</vt:lpstr>
      <vt:lpstr>Greb 5: Lad elever inddrage deres prompts </vt:lpstr>
      <vt:lpstr>Greb 5 – Prompt først – præcision bagefter</vt:lpstr>
      <vt:lpstr>Greb 5 – Prompt først – præcision bagefter</vt:lpstr>
      <vt:lpstr>Greb 5 – Prompt først – præcision bagefter</vt:lpstr>
      <vt:lpstr>Greb 6: Kontrastopgaver</vt:lpstr>
      <vt:lpstr>Greb 7: Tænke højt og par programmering</vt:lpstr>
      <vt:lpstr>Greb 8: AI Kamp</vt:lpstr>
      <vt:lpstr>Greb 9: Prædefinerede AI-agenter som didaktisk stillads</vt:lpstr>
      <vt:lpstr>Greb 10: Modeller først =&gt; Kode bagefter</vt:lpstr>
      <vt:lpstr>Greb 10: Modeller først =&gt; Kode bagefter</vt:lpstr>
      <vt:lpstr>Diskussionsspørgsmål</vt:lpstr>
      <vt:lpstr>Workshop Webscraping: Dataindsamling og visualisering med SOLO</vt:lpstr>
      <vt:lpstr>Tak for jeres tid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Henrik van Bedaf Sterner</dc:creator>
  <cp:lastModifiedBy>Henrik van Bedaf Sterner</cp:lastModifiedBy>
  <cp:revision>91</cp:revision>
  <dcterms:created xsi:type="dcterms:W3CDTF">2025-12-19T15:34:39Z</dcterms:created>
  <dcterms:modified xsi:type="dcterms:W3CDTF">2026-02-28T10:58:14Z</dcterms:modified>
</cp:coreProperties>
</file>